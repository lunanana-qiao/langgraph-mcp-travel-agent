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9" r:id="rId3"/>
    <p:sldId id="257" r:id="rId4"/>
    <p:sldId id="320" r:id="rId5"/>
    <p:sldId id="321" r:id="rId6"/>
    <p:sldId id="332" r:id="rId7"/>
    <p:sldId id="310" r:id="rId8"/>
    <p:sldId id="322" r:id="rId9"/>
    <p:sldId id="323" r:id="rId10"/>
    <p:sldId id="324" r:id="rId11"/>
    <p:sldId id="325" r:id="rId12"/>
    <p:sldId id="333" r:id="rId13"/>
    <p:sldId id="326" r:id="rId14"/>
    <p:sldId id="334" r:id="rId15"/>
    <p:sldId id="327" r:id="rId16"/>
    <p:sldId id="330" r:id="rId17"/>
    <p:sldId id="329" r:id="rId18"/>
    <p:sldId id="301" r:id="rId19"/>
    <p:sldId id="331" r:id="rId20"/>
    <p:sldId id="312" r:id="rId21"/>
  </p:sldIdLst>
  <p:sldSz cx="12192000" cy="6858000"/>
  <p:notesSz cx="6858000" cy="9144000"/>
  <p:embeddedFontLst>
    <p:embeddedFont>
      <p:font typeface="OPPOSans M" panose="02010600030101010101" charset="-122"/>
      <p:regular r:id="rId24"/>
    </p:embeddedFon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微软雅黑" panose="020B0503020204020204" pitchFamily="34" charset="-122"/>
      <p:regular r:id="rId29"/>
      <p:bold r:id="rId30"/>
    </p:embeddedFont>
    <p:embeddedFont>
      <p:font typeface="微软雅黑" panose="020B0503020204020204" pitchFamily="34" charset="-122"/>
      <p:regular r:id="rId29"/>
      <p:bold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598"/>
    <a:srgbClr val="E1F7FF"/>
    <a:srgbClr val="FFF7DD"/>
    <a:srgbClr val="FFC9DF"/>
    <a:srgbClr val="FFEBF3"/>
    <a:srgbClr val="FFE89F"/>
    <a:srgbClr val="FFEAD5"/>
    <a:srgbClr val="EAEEF4"/>
    <a:srgbClr val="E1E7F2"/>
    <a:srgbClr val="D5E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8" autoAdjust="0"/>
    <p:restoredTop sz="79706" autoAdjust="0"/>
  </p:normalViewPr>
  <p:slideViewPr>
    <p:cSldViewPr snapToGrid="0">
      <p:cViewPr varScale="1">
        <p:scale>
          <a:sx n="128" d="100"/>
          <a:sy n="128" d="100"/>
        </p:scale>
        <p:origin x="3792" y="126"/>
      </p:cViewPr>
      <p:guideLst/>
    </p:cSldViewPr>
  </p:slideViewPr>
  <p:outlineViewPr>
    <p:cViewPr>
      <p:scale>
        <a:sx n="33" d="100"/>
        <a:sy n="33" d="100"/>
      </p:scale>
      <p:origin x="0" y="-1177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240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8A42A-32CC-4EEC-971C-41D5CA596FD3}" type="datetimeFigureOut">
              <a:rPr lang="zh-CN" altLang="en-US" smtClean="0">
                <a:latin typeface="OPPOSans M" panose="00020600040101010101" charset="-122"/>
                <a:ea typeface="OPPOSans M" panose="00020600040101010101" charset="-122"/>
              </a:rPr>
              <a:t>2026/10/1</a:t>
            </a:fld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51991-D984-4130-85F7-7CB850A4A9BC}" type="slidenum">
              <a:rPr lang="zh-CN" altLang="en-US" smtClean="0">
                <a:latin typeface="OPPOSans M" panose="00020600040101010101" charset="-122"/>
                <a:ea typeface="OPPOSans M" panose="00020600040101010101" charset="-122"/>
              </a:rPr>
              <a:t>‹#›</a:t>
            </a:fld>
            <a:endParaRPr lang="zh-CN" altLang="en-US">
              <a:latin typeface="OPPOSans M" panose="00020600040101010101" charset="-122"/>
              <a:ea typeface="OPPOSans M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fld id="{29D53345-01A4-40A9-B65B-C5A09B0028E3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M" panose="00020600040101010101" charset="-122"/>
                <a:ea typeface="OPPOSans M" panose="00020600040101010101" charset="-122"/>
              </a:defRPr>
            </a:lvl1pPr>
          </a:lstStyle>
          <a:p>
            <a:fld id="{0BB052F4-5819-4C47-A4F9-DA60415519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M" panose="00020600040101010101" charset="-122"/>
        <a:ea typeface="OPPOSans M" panose="0002060004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各位老师好！我是交通工程专业的王书萌，我的指导老师是汤君友老师。</a:t>
            </a:r>
            <a:r>
              <a:rPr lang="zh-CN" altLang="en-US" dirty="0"/>
              <a:t> 我毕业设计的题目是</a:t>
            </a:r>
            <a:r>
              <a:rPr lang="en-US" altLang="zh-CN" dirty="0"/>
              <a:t>《</a:t>
            </a:r>
            <a:r>
              <a:rPr lang="zh-CN" altLang="en-US" dirty="0"/>
              <a:t>基于 </a:t>
            </a:r>
            <a:r>
              <a:rPr lang="en-US" altLang="zh-CN" dirty="0" err="1"/>
              <a:t>LangGraph</a:t>
            </a:r>
            <a:r>
              <a:rPr lang="en-US" altLang="zh-CN" dirty="0"/>
              <a:t> </a:t>
            </a:r>
            <a:r>
              <a:rPr lang="zh-CN" altLang="en-US" dirty="0"/>
              <a:t>与 </a:t>
            </a:r>
            <a:r>
              <a:rPr lang="en-US" altLang="zh-CN" dirty="0"/>
              <a:t>Web </a:t>
            </a:r>
            <a:r>
              <a:rPr lang="zh-CN" altLang="en-US" dirty="0"/>
              <a:t>地图 </a:t>
            </a:r>
            <a:r>
              <a:rPr lang="en-US" altLang="zh-CN" dirty="0"/>
              <a:t>MCP </a:t>
            </a:r>
            <a:r>
              <a:rPr lang="zh-CN" altLang="en-US" dirty="0"/>
              <a:t>服务的旅行规划智能体设计</a:t>
            </a:r>
            <a:r>
              <a:rPr lang="en-US" altLang="zh-CN" dirty="0"/>
              <a:t>》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99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552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近年来随着文旅消费持续升级，用户的出行需求已经从标准化的单项产品预订，转向追求深度体验和高度定制的完整行程。</a:t>
            </a:r>
            <a:endParaRPr lang="en-US" altLang="zh-CN" sz="1200" kern="1200" dirty="0">
              <a:solidFill>
                <a:schemeClr val="tx1"/>
              </a:solidFill>
              <a:effectLst/>
              <a:latin typeface="OPPOSans M" panose="00020600040101010101" charset="-122"/>
              <a:ea typeface="OPPOSans M" panose="00020600040101010101" charset="-122"/>
              <a:cs typeface="+mn-cs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OPPOSans M" panose="00020600040101010101" charset="-122"/>
              <a:ea typeface="OPPOSans M" panose="00020600040101010101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然而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OTA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平台只能提供分类推荐与预订，也无法给出端到端的个性解决方案。大语言模型具备较强的语义理解与意图识别能力，为复杂规划提供了新思路，但单纯依赖大模型仍存在明显局限：缺乏实时数据获取、空间推理和长期记忆能力，容易产生幻觉，行程的可执行性和真实性都难以保证。</a:t>
            </a:r>
            <a:endParaRPr lang="en-US" altLang="zh-CN" sz="1200" kern="1200" dirty="0">
              <a:solidFill>
                <a:schemeClr val="tx1"/>
              </a:solidFill>
              <a:effectLst/>
              <a:latin typeface="OPPOSans M" panose="00020600040101010101" charset="-122"/>
              <a:ea typeface="OPPOSans M" panose="00020600040101010101" charset="-122"/>
              <a:cs typeface="+mn-cs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OPPOSans M" panose="00020600040101010101" charset="-122"/>
              <a:ea typeface="OPPOSans M" panose="00020600040101010101" charset="-122"/>
              <a:cs typeface="+mn-cs"/>
            </a:endParaRP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因此，本文研究构建一个具备时空感知与动态推理能力的旅行规划智能体，探索可落地的智慧出行服务新模式。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541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3EC57-37D6-38A0-1467-C691B342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771F73-5D80-C9F8-BD05-CE2E73721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73502B-D6C7-00E1-86FA-AC225F643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围绕这一目标，本文梳理了三方面研究现状。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一是智能体编排框架，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LangChain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、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AutoGen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等各有侧重，但它们大多采用链式调用，缺乏显式的状态管理。相比之下，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LangGraph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以状态图建模流程，原生支持并行与容错，更适合本研究的长链路规划任务。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第二条是大模型的推理与规划能力，从思维链、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ReAct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，到计划求解和反思机制，逐步增强了模型的显式推理与自我修正能力；</a:t>
            </a:r>
          </a:p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三是模型上下文协议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MCP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，它解决了大模型与外部工具的适配难题。综合来看，现有研究在显式状态管理、空间组合推理、异构工具统一接入、旅游领域知识注入以及跨会话个性化这几个方面仍存在不足，这也构成了本文的切入点。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EE6DC-4999-1202-711E-416025BAA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966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4B6-F0DE-A903-DD48-DEF837FC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A8B352-217E-591C-68CF-1BA1E2AE3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3B6932-A09C-84B9-49FF-CA904B270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基于以上分析，本文的关键技术基础包括四个部分：以大模型为认知核心的智能体架构、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LangGraph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工作流编排框架、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MCP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工具调用协议，以及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RAG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知识增强技术。具体内容已在论文中详述，这里不再展开。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58A9D4-F9FC-CBF9-2459-61C2F749F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711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在系统设计上，本文首先进行了需求分析。功能性需求以一条核心交互闭环为主：用户用自然语言描述需求，系统在单次会话内依次完成意图识别、约束校验、行程编排、餐饮住宿匹配、预算核算与响应渲染，输出包含逐日景点、交通、住宿、餐饮与预算的完整方案；同时支持偏好更新、记忆查询等四类辅助意图。非功能性需求则关注响应延迟、服务可用性、可扩展性与数据持久化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944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第三部分是研究内容。这张图是系统的整体技术路线，整个系统自上而下分为五层。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566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0FCE9-600D-F4A8-6975-BDA9BFBD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EAE4B1-FBA0-8BD1-8045-98E14C497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35922A-0491-0D14-87EC-CE84CD7AA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交互层基于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FastAPI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SSE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提供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Web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接口，负责收发请求和流式渲染；编排层是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LangGraph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状态图，负责节点装配、路由、重试和检查点管理；智能体层包含交通、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POI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、住宿等领域智能体，按需动态调用；工具层通过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MCP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统一封装高德、途牛和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12306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，并叠加熔断与退避机制；数据层则由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SQLite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检查点、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JSON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偏好文件和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ChromaDB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向量库构成。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C3EED7-14CB-E9BF-32DD-BB7A6D8D5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5494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699ED-9C58-7F4B-E9F8-49976D8C5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6AACE0-22B0-59B9-6F83-CECDE2D1B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926056-75D1-7CBD-B648-6125DB53F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核心工作流被建模为一张有向回环状态图，划分为五个阶段：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P1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意图识别与约束抽取，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P2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并行数据获取，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P3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行程编排与审查，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P4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餐饮住宿与预算自检，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P5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响应渲染。其中，并行扇出用于降低时延，局部重试用于隔离失败，预算降档用于自适应约束，在保证流程清晰的同时兼顾效率、容错与可控性。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D1B61C-C59B-D302-190D-E69BD2B55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599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BF6EA-9332-0988-06C0-E8550A479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ADCD2E-B054-ECDD-BA92-1B1EED2D6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11B55D-7FA2-E2F1-2CB0-803CEE115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下面介绍几个核心模块。第一是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MCP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协议集成。本文将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SSE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长连接与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STDIO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进程通信两种传输方式收敛到统一的客户端抽象基类，把高德地图、途牛、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12306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三路异构数据源封装为一致的异步接口，并叠加请求重试、熔断保护与字段裁剪。引入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MCP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之后，交通住宿信息的真实性从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16%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提升到了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96%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9F9B55-3B44-A2E1-6BE7-1C5182167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87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890C-D6FA-931D-29C4-AD70819A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314BF3-345B-8226-0FCD-42548C4C81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C0AA3A-E633-B86D-061B-CA0B2A0CE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第二是双层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RAG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知识增强。结构化城市知识库承载高确定性的种子景点与经典路线，向量知识库承载长尾攻略文本，二者协同复用；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BB403E-FCE7-402D-6528-65E85E97B8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4559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检索环节引入假设文档嵌入做多路查询扩展，并用交叉编码器对候选片段精排；同时以结构化库召回的景点为锚点，桥接向量库补全未收录城市的内容。消融实验显示，关闭双层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RAG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后，景点幻觉数从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0.1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上升到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1.9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个。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761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A5F5-3E6C-011D-B7F0-B88FB2F5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3768A1-4FFE-4815-7B73-F0C5B750F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E282A7-1EB0-4232-F798-68FC8A0E4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第三是混合启发式行程编排算法。行程编排要在多约束下生成逐日可执行方案，其结构类似带容量和时间窗的车辆路径问题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CVRPTW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，属于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NP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难问题。考虑到交互式时延要求，本文采用簇优先、路由其次的策略，把问题分解为分日聚类和日内排序两个子问题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CFF703-6240-C906-F6D5-3F7BA3388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600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584B3-1E97-F78C-ABD8-BC365B9F4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1D3B0B-9952-8796-F098-1AE524888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6BD894-D438-F262-D285-BA64432A3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先用带容量约束的均衡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K-Means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，将候选景点划分为与天数对应的日簇；再按上午、弹性、夜间三个时段分桶，桶内用贪心最近邻加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2-opt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优化访问顺序。这一分解既从结构上保证了时段合法，又把求解控制在毫秒级。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C38191-2B6C-7A85-AAA6-AFC3A5199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194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188F9-C94C-DC7D-D0E1-84D58F0D0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B1801A-F9E8-1AE1-D629-13CACAB83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924901-FA89-244B-9CB4-0383134A8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第四是长短期分离的记忆系统。短期记忆由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LangGraph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的检查点机制承载，支持中断恢复与跨会话续接；长期偏好以用户为单位独立持久化为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JSON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文件，与短期状态物理隔离。值得一提的是，偏好抽取被合并到意图识别的同一次大模型推理中，不引入额外的调用开销。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58BD85-7624-3FA8-DDC9-87D5FD9F8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3926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281A-4109-334A-63A3-33AB4ABAC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FE6FB8-39B7-4BD0-E1A8-1804C4BEE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E4CA51-26C0-E513-022A-FDF2B6D6C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系统实现方面，前端采用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React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Vite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的双区域对话式布局，后端采用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FastAPI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SSE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流式响应，并调用高德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JS API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对逐日景点序列进行可视化。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A15841-AC90-4A48-0B95-176045A4F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4527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90462-0684-F049-AB53-DB7BAB90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CA042F-E8F9-B0AA-A6EE-4A0D12C41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71D4AD-3F9A-F770-26AB-311C130A9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实验部分，本文设计了对比实验与消融实验。在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12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条评测集上，相比纯大模型基线，本系统的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POI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幻觉数从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1.6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降到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0.1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，时段违规数从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1.3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降到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0.05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，日均移动耗时从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156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分钟降到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98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分钟。代价是端到端时延从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16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秒上升到约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88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秒，这是为换取实时数据准确性与方案可执行性而做出的主动权衡。消融实验进一步验证了各核心模块的独立贡献。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F15DA2-8301-7DC9-19A4-2F2EE4533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271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最后是总结与展望。本文以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LangGraph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为编排核心，用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MCP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统一接入异构工具，结合双层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 RAG 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与混合启发式算法，实现了端到端可执行的行程生成，关键质量指标相比纯大模型基线呈数量级提升，并支持跨会话个性化。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296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OPPOSans M" panose="00020600040101010101" charset="-122"/>
                <a:ea typeface="OPPOSans M" panose="00020600040101010101" charset="-122"/>
                <a:cs typeface="+mn-cs"/>
              </a:rPr>
              <a:t>当然，系统仍存在不足，例如数据源以国内为主、交互方式以文本为主、评测规模有限、单机原型的时延仍有压缩空间，这些都是后续工作的方向。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292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以上就是我的开题汇报。 恳请各位老师批评指正，谢谢！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B052F4-5819-4C47-A4F9-DA60415519D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32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+结尾">
    <p:bg>
      <p:bgPr>
        <a:gradFill flip="none" rotWithShape="1">
          <a:gsLst>
            <a:gs pos="0">
              <a:schemeClr val="accent1">
                <a:alpha val="19000"/>
              </a:schemeClr>
            </a:gs>
            <a:gs pos="100000">
              <a:schemeClr val="accent1">
                <a:alpha val="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21497" y="6464884"/>
            <a:ext cx="749938" cy="36512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E8C9A92-4EDF-46AE-8BC5-DFCEA23344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4D38DCB-003A-3237-E991-A52B56FE98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0" b="27440"/>
          <a:stretch/>
        </p:blipFill>
        <p:spPr>
          <a:xfrm>
            <a:off x="7887860" y="1"/>
            <a:ext cx="4303259" cy="750447"/>
          </a:xfrm>
          <a:prstGeom prst="rect">
            <a:avLst/>
          </a:prstGeom>
        </p:spPr>
      </p:pic>
      <p:sp>
        <p:nvSpPr>
          <p:cNvPr id="46" name="矩形 45"/>
          <p:cNvSpPr/>
          <p:nvPr userDrawn="1"/>
        </p:nvSpPr>
        <p:spPr>
          <a:xfrm>
            <a:off x="0" y="526863"/>
            <a:ext cx="12192000" cy="7560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OPPOSans M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84" y="-5554"/>
            <a:ext cx="12192000" cy="756000"/>
          </a:xfrm>
          <a:prstGeom prst="rect">
            <a:avLst/>
          </a:prstGeom>
          <a:gradFill>
            <a:gsLst>
              <a:gs pos="67000">
                <a:schemeClr val="accent1"/>
              </a:gs>
              <a:gs pos="25000">
                <a:schemeClr val="accent1"/>
              </a:gs>
              <a:gs pos="0">
                <a:schemeClr val="accent1">
                  <a:alpha val="42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5820000" sx="101000" sy="101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OPPOSans M" panose="00020600040101010101" charset="-122"/>
            </a:endParaRPr>
          </a:p>
        </p:txBody>
      </p:sp>
      <p:sp>
        <p:nvSpPr>
          <p:cNvPr id="13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92177" y="145486"/>
            <a:ext cx="4669900" cy="49903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5635432" y="228799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5" hasCustomPrompt="1"/>
          </p:nvPr>
        </p:nvSpPr>
        <p:spPr>
          <a:xfrm>
            <a:off x="6904045" y="228799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8172660" y="228799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7" hasCustomPrompt="1"/>
          </p:nvPr>
        </p:nvSpPr>
        <p:spPr>
          <a:xfrm>
            <a:off x="9441274" y="228799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8" hasCustomPrompt="1"/>
          </p:nvPr>
        </p:nvSpPr>
        <p:spPr>
          <a:xfrm>
            <a:off x="10709889" y="228799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6" name="任意多边形: 形状 25"/>
          <p:cNvSpPr/>
          <p:nvPr userDrawn="1"/>
        </p:nvSpPr>
        <p:spPr>
          <a:xfrm>
            <a:off x="5645021" y="513184"/>
            <a:ext cx="1203650" cy="0"/>
          </a:xfrm>
          <a:custGeom>
            <a:avLst/>
            <a:gdLst>
              <a:gd name="connsiteX0" fmla="*/ 0 w 1203649"/>
              <a:gd name="connsiteY0" fmla="*/ 0 h 0"/>
              <a:gd name="connsiteX1" fmla="*/ 1203649 w 120364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649">
                <a:moveTo>
                  <a:pt x="0" y="0"/>
                </a:moveTo>
                <a:lnTo>
                  <a:pt x="1203649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47" name="文本占位符 13"/>
          <p:cNvSpPr>
            <a:spLocks noGrp="1"/>
          </p:cNvSpPr>
          <p:nvPr>
            <p:ph type="body" sz="quarter" idx="19" hasCustomPrompt="1"/>
          </p:nvPr>
        </p:nvSpPr>
        <p:spPr>
          <a:xfrm>
            <a:off x="416690" y="812115"/>
            <a:ext cx="11775310" cy="457070"/>
          </a:xfrm>
        </p:spPr>
        <p:txBody>
          <a:bodyPr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latin typeface="+mn-ea"/>
                <a:ea typeface="+mn-ea"/>
              </a:defRPr>
            </a:lvl2pPr>
            <a:lvl3pPr marL="914400" indent="0">
              <a:buNone/>
              <a:defRPr>
                <a:latin typeface="+mn-ea"/>
                <a:ea typeface="+mn-ea"/>
              </a:defRPr>
            </a:lvl3pPr>
            <a:lvl4pPr marL="1371600" indent="0">
              <a:buNone/>
              <a:defRPr>
                <a:latin typeface="+mn-ea"/>
                <a:ea typeface="+mn-ea"/>
              </a:defRPr>
            </a:lvl4pPr>
            <a:lvl5pPr marL="1828800" indent="0">
              <a:buNone/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单击此处编辑文本样式</a:t>
            </a:r>
          </a:p>
        </p:txBody>
      </p:sp>
      <p:sp>
        <p:nvSpPr>
          <p:cNvPr id="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21497" y="6464884"/>
            <a:ext cx="749938" cy="36512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E8C9A92-4EDF-46AE-8BC5-DFCEA23344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BB4658AD-08AE-43BC-AEDB-FDD7B5D50A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0" b="27440"/>
          <a:stretch/>
        </p:blipFill>
        <p:spPr>
          <a:xfrm>
            <a:off x="7887860" y="1"/>
            <a:ext cx="4303259" cy="750447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526863"/>
            <a:ext cx="12192000" cy="7560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OPPOSans M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84" y="-5554"/>
            <a:ext cx="12192000" cy="756000"/>
          </a:xfrm>
          <a:prstGeom prst="rect">
            <a:avLst/>
          </a:prstGeom>
          <a:gradFill>
            <a:gsLst>
              <a:gs pos="67000">
                <a:schemeClr val="accent1"/>
              </a:gs>
              <a:gs pos="25000">
                <a:schemeClr val="accent1"/>
              </a:gs>
              <a:gs pos="0">
                <a:schemeClr val="accent1">
                  <a:alpha val="42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5820000" sx="101000" sy="101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OPPOSans M" panose="00020600040101010101" charset="-122"/>
            </a:endParaRPr>
          </a:p>
        </p:txBody>
      </p:sp>
      <p:sp>
        <p:nvSpPr>
          <p:cNvPr id="13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92177" y="145486"/>
            <a:ext cx="4669900" cy="49903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5635432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5" hasCustomPrompt="1"/>
          </p:nvPr>
        </p:nvSpPr>
        <p:spPr>
          <a:xfrm>
            <a:off x="6904045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8172660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7" hasCustomPrompt="1"/>
          </p:nvPr>
        </p:nvSpPr>
        <p:spPr>
          <a:xfrm>
            <a:off x="9441274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8" hasCustomPrompt="1"/>
          </p:nvPr>
        </p:nvSpPr>
        <p:spPr>
          <a:xfrm>
            <a:off x="10709889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" name="任意多边形: 形状 1"/>
          <p:cNvSpPr/>
          <p:nvPr userDrawn="1"/>
        </p:nvSpPr>
        <p:spPr>
          <a:xfrm>
            <a:off x="6895169" y="513184"/>
            <a:ext cx="1203650" cy="0"/>
          </a:xfrm>
          <a:custGeom>
            <a:avLst/>
            <a:gdLst>
              <a:gd name="connsiteX0" fmla="*/ 0 w 1203649"/>
              <a:gd name="connsiteY0" fmla="*/ 0 h 0"/>
              <a:gd name="connsiteX1" fmla="*/ 1203649 w 120364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649">
                <a:moveTo>
                  <a:pt x="0" y="0"/>
                </a:moveTo>
                <a:lnTo>
                  <a:pt x="1203649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9" hasCustomPrompt="1"/>
          </p:nvPr>
        </p:nvSpPr>
        <p:spPr>
          <a:xfrm>
            <a:off x="416690" y="812115"/>
            <a:ext cx="11775310" cy="457070"/>
          </a:xfrm>
        </p:spPr>
        <p:txBody>
          <a:bodyPr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latin typeface="+mn-ea"/>
                <a:ea typeface="+mn-ea"/>
              </a:defRPr>
            </a:lvl2pPr>
            <a:lvl3pPr marL="914400" indent="0">
              <a:buNone/>
              <a:defRPr>
                <a:latin typeface="+mn-ea"/>
                <a:ea typeface="+mn-ea"/>
              </a:defRPr>
            </a:lvl3pPr>
            <a:lvl4pPr marL="1371600" indent="0">
              <a:buNone/>
              <a:defRPr>
                <a:latin typeface="+mn-ea"/>
                <a:ea typeface="+mn-ea"/>
              </a:defRPr>
            </a:lvl4pPr>
            <a:lvl5pPr marL="1828800" indent="0">
              <a:buNone/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单击此处编辑文本样式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21497" y="6464884"/>
            <a:ext cx="749938" cy="36512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E8C9A92-4EDF-46AE-8BC5-DFCEA23344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771FF045-19FF-472F-B24D-925526BB0C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0" b="27440"/>
          <a:stretch/>
        </p:blipFill>
        <p:spPr>
          <a:xfrm>
            <a:off x="7887860" y="1"/>
            <a:ext cx="4303259" cy="750447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526863"/>
            <a:ext cx="12192000" cy="7560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OPPOSans M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84" y="-5554"/>
            <a:ext cx="12192000" cy="756000"/>
          </a:xfrm>
          <a:prstGeom prst="rect">
            <a:avLst/>
          </a:prstGeom>
          <a:gradFill>
            <a:gsLst>
              <a:gs pos="67000">
                <a:schemeClr val="accent1"/>
              </a:gs>
              <a:gs pos="25000">
                <a:schemeClr val="accent1"/>
              </a:gs>
              <a:gs pos="0">
                <a:schemeClr val="accent1">
                  <a:alpha val="42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5820000" sx="101000" sy="101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OPPOSans M" panose="00020600040101010101" charset="-122"/>
            </a:endParaRPr>
          </a:p>
        </p:txBody>
      </p:sp>
      <p:sp>
        <p:nvSpPr>
          <p:cNvPr id="13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92177" y="145486"/>
            <a:ext cx="4669900" cy="49903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5635432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5" hasCustomPrompt="1"/>
          </p:nvPr>
        </p:nvSpPr>
        <p:spPr>
          <a:xfrm>
            <a:off x="6904045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8172660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7" hasCustomPrompt="1"/>
          </p:nvPr>
        </p:nvSpPr>
        <p:spPr>
          <a:xfrm>
            <a:off x="9441274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8" hasCustomPrompt="1"/>
          </p:nvPr>
        </p:nvSpPr>
        <p:spPr>
          <a:xfrm>
            <a:off x="10709889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" name="任意多边形: 形状 1"/>
          <p:cNvSpPr/>
          <p:nvPr userDrawn="1"/>
        </p:nvSpPr>
        <p:spPr>
          <a:xfrm>
            <a:off x="8163782" y="513184"/>
            <a:ext cx="1203650" cy="0"/>
          </a:xfrm>
          <a:custGeom>
            <a:avLst/>
            <a:gdLst>
              <a:gd name="connsiteX0" fmla="*/ 0 w 1203649"/>
              <a:gd name="connsiteY0" fmla="*/ 0 h 0"/>
              <a:gd name="connsiteX1" fmla="*/ 1203649 w 120364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649">
                <a:moveTo>
                  <a:pt x="0" y="0"/>
                </a:moveTo>
                <a:lnTo>
                  <a:pt x="1203649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9" hasCustomPrompt="1"/>
          </p:nvPr>
        </p:nvSpPr>
        <p:spPr>
          <a:xfrm>
            <a:off x="416690" y="812115"/>
            <a:ext cx="11775310" cy="457070"/>
          </a:xfrm>
        </p:spPr>
        <p:txBody>
          <a:bodyPr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latin typeface="+mn-ea"/>
                <a:ea typeface="+mn-ea"/>
              </a:defRPr>
            </a:lvl2pPr>
            <a:lvl3pPr marL="914400" indent="0">
              <a:buNone/>
              <a:defRPr>
                <a:latin typeface="+mn-ea"/>
                <a:ea typeface="+mn-ea"/>
              </a:defRPr>
            </a:lvl3pPr>
            <a:lvl4pPr marL="1371600" indent="0">
              <a:buNone/>
              <a:defRPr>
                <a:latin typeface="+mn-ea"/>
                <a:ea typeface="+mn-ea"/>
              </a:defRPr>
            </a:lvl4pPr>
            <a:lvl5pPr marL="1828800" indent="0">
              <a:buNone/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单击此处编辑文本样式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21497" y="6464884"/>
            <a:ext cx="749938" cy="36512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E8C9A92-4EDF-46AE-8BC5-DFCEA23344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D4A396F5-9EB9-40BC-A86B-65C45E9715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0" b="27440"/>
          <a:stretch/>
        </p:blipFill>
        <p:spPr>
          <a:xfrm>
            <a:off x="7887860" y="1"/>
            <a:ext cx="4303259" cy="750447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526863"/>
            <a:ext cx="12192000" cy="7560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OPPOSans M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84" y="-5554"/>
            <a:ext cx="12192000" cy="756000"/>
          </a:xfrm>
          <a:prstGeom prst="rect">
            <a:avLst/>
          </a:prstGeom>
          <a:gradFill>
            <a:gsLst>
              <a:gs pos="67000">
                <a:schemeClr val="accent1"/>
              </a:gs>
              <a:gs pos="25000">
                <a:schemeClr val="accent1"/>
              </a:gs>
              <a:gs pos="0">
                <a:schemeClr val="accent1">
                  <a:alpha val="42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5820000" sx="101000" sy="101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OPPOSans M" panose="00020600040101010101" charset="-122"/>
            </a:endParaRPr>
          </a:p>
        </p:txBody>
      </p:sp>
      <p:sp>
        <p:nvSpPr>
          <p:cNvPr id="13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92177" y="145486"/>
            <a:ext cx="4669900" cy="49903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5635432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5" hasCustomPrompt="1"/>
          </p:nvPr>
        </p:nvSpPr>
        <p:spPr>
          <a:xfrm>
            <a:off x="6904045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8172660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7" hasCustomPrompt="1"/>
          </p:nvPr>
        </p:nvSpPr>
        <p:spPr>
          <a:xfrm>
            <a:off x="9441274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8" hasCustomPrompt="1"/>
          </p:nvPr>
        </p:nvSpPr>
        <p:spPr>
          <a:xfrm>
            <a:off x="10709889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" name="任意多边形: 形状 1"/>
          <p:cNvSpPr/>
          <p:nvPr userDrawn="1"/>
        </p:nvSpPr>
        <p:spPr>
          <a:xfrm>
            <a:off x="9432397" y="513184"/>
            <a:ext cx="1203650" cy="0"/>
          </a:xfrm>
          <a:custGeom>
            <a:avLst/>
            <a:gdLst>
              <a:gd name="connsiteX0" fmla="*/ 0 w 1203649"/>
              <a:gd name="connsiteY0" fmla="*/ 0 h 0"/>
              <a:gd name="connsiteX1" fmla="*/ 1203649 w 120364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649">
                <a:moveTo>
                  <a:pt x="0" y="0"/>
                </a:moveTo>
                <a:lnTo>
                  <a:pt x="1203649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9" hasCustomPrompt="1"/>
          </p:nvPr>
        </p:nvSpPr>
        <p:spPr>
          <a:xfrm>
            <a:off x="416690" y="812115"/>
            <a:ext cx="11775310" cy="457070"/>
          </a:xfrm>
        </p:spPr>
        <p:txBody>
          <a:bodyPr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latin typeface="+mn-ea"/>
                <a:ea typeface="+mn-ea"/>
              </a:defRPr>
            </a:lvl2pPr>
            <a:lvl3pPr marL="914400" indent="0">
              <a:buNone/>
              <a:defRPr>
                <a:latin typeface="+mn-ea"/>
                <a:ea typeface="+mn-ea"/>
              </a:defRPr>
            </a:lvl3pPr>
            <a:lvl4pPr marL="1371600" indent="0">
              <a:buNone/>
              <a:defRPr>
                <a:latin typeface="+mn-ea"/>
                <a:ea typeface="+mn-ea"/>
              </a:defRPr>
            </a:lvl4pPr>
            <a:lvl5pPr marL="1828800" indent="0">
              <a:buNone/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单击此处编辑文本样式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21497" y="6464884"/>
            <a:ext cx="749938" cy="36512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E8C9A92-4EDF-46AE-8BC5-DFCEA23344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9AEA2673-73D5-43D4-8485-1708679B53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40" b="27440"/>
          <a:stretch/>
        </p:blipFill>
        <p:spPr>
          <a:xfrm>
            <a:off x="7887860" y="1"/>
            <a:ext cx="4303259" cy="750447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526863"/>
            <a:ext cx="12192000" cy="7560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OPPOSans M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84" y="-5554"/>
            <a:ext cx="12192000" cy="756000"/>
          </a:xfrm>
          <a:prstGeom prst="rect">
            <a:avLst/>
          </a:prstGeom>
          <a:gradFill>
            <a:gsLst>
              <a:gs pos="67000">
                <a:schemeClr val="accent1"/>
              </a:gs>
              <a:gs pos="25000">
                <a:schemeClr val="accent1"/>
              </a:gs>
              <a:gs pos="0">
                <a:schemeClr val="accent1">
                  <a:alpha val="42000"/>
                </a:schemeClr>
              </a:gs>
            </a:gsLst>
            <a:lin ang="10800000" scaled="0"/>
          </a:gradFill>
          <a:ln>
            <a:noFill/>
          </a:ln>
          <a:effectLst>
            <a:outerShdw blurRad="203200" dist="76200" dir="5820000" sx="101000" sy="101000" algn="t" rotWithShape="0">
              <a:schemeClr val="accent2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ea typeface="+mn-ea"/>
              <a:cs typeface="OPPOSans M" panose="00020600040101010101" charset="-122"/>
            </a:endParaRPr>
          </a:p>
        </p:txBody>
      </p:sp>
      <p:sp>
        <p:nvSpPr>
          <p:cNvPr id="13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92177" y="145486"/>
            <a:ext cx="4669900" cy="49903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altLang="en-US" sz="28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5635432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5" hasCustomPrompt="1"/>
          </p:nvPr>
        </p:nvSpPr>
        <p:spPr>
          <a:xfrm>
            <a:off x="6904045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6" hasCustomPrompt="1"/>
          </p:nvPr>
        </p:nvSpPr>
        <p:spPr>
          <a:xfrm>
            <a:off x="8172660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7" hasCustomPrompt="1"/>
          </p:nvPr>
        </p:nvSpPr>
        <p:spPr>
          <a:xfrm>
            <a:off x="9441274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8" hasCustomPrompt="1"/>
          </p:nvPr>
        </p:nvSpPr>
        <p:spPr>
          <a:xfrm>
            <a:off x="10709889" y="224735"/>
            <a:ext cx="1194772" cy="3569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zh-CN" altLang="en-US"/>
              <a:t>输入主标题</a:t>
            </a:r>
          </a:p>
        </p:txBody>
      </p:sp>
      <p:sp>
        <p:nvSpPr>
          <p:cNvPr id="2" name="任意多边形: 形状 1"/>
          <p:cNvSpPr/>
          <p:nvPr userDrawn="1"/>
        </p:nvSpPr>
        <p:spPr>
          <a:xfrm>
            <a:off x="10701011" y="513184"/>
            <a:ext cx="1203650" cy="0"/>
          </a:xfrm>
          <a:custGeom>
            <a:avLst/>
            <a:gdLst>
              <a:gd name="connsiteX0" fmla="*/ 0 w 1203649"/>
              <a:gd name="connsiteY0" fmla="*/ 0 h 0"/>
              <a:gd name="connsiteX1" fmla="*/ 1203649 w 120364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649">
                <a:moveTo>
                  <a:pt x="0" y="0"/>
                </a:moveTo>
                <a:lnTo>
                  <a:pt x="1203649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15" name="文本占位符 13"/>
          <p:cNvSpPr>
            <a:spLocks noGrp="1"/>
          </p:cNvSpPr>
          <p:nvPr>
            <p:ph type="body" sz="quarter" idx="19" hasCustomPrompt="1"/>
          </p:nvPr>
        </p:nvSpPr>
        <p:spPr>
          <a:xfrm>
            <a:off x="416690" y="812115"/>
            <a:ext cx="11775310" cy="457070"/>
          </a:xfrm>
        </p:spPr>
        <p:txBody>
          <a:bodyPr/>
          <a:lstStyle>
            <a:lvl1pPr marL="457200" indent="-4572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latin typeface="+mn-ea"/>
                <a:ea typeface="+mn-ea"/>
              </a:defRPr>
            </a:lvl2pPr>
            <a:lvl3pPr marL="914400" indent="0">
              <a:buNone/>
              <a:defRPr>
                <a:latin typeface="+mn-ea"/>
                <a:ea typeface="+mn-ea"/>
              </a:defRPr>
            </a:lvl3pPr>
            <a:lvl4pPr marL="1371600" indent="0">
              <a:buNone/>
              <a:defRPr>
                <a:latin typeface="+mn-ea"/>
                <a:ea typeface="+mn-ea"/>
              </a:defRPr>
            </a:lvl4pPr>
            <a:lvl5pPr marL="1828800" indent="0">
              <a:buNone/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/>
              <a:t>单击此处编辑文本样式</a:t>
            </a: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321497" y="6464884"/>
            <a:ext cx="749938" cy="365125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fld id="{9E8C9A92-4EDF-46AE-8BC5-DFCEA23344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2" name="组合 1061"/>
          <p:cNvGrpSpPr/>
          <p:nvPr/>
        </p:nvGrpSpPr>
        <p:grpSpPr>
          <a:xfrm flipV="1">
            <a:off x="102201" y="136525"/>
            <a:ext cx="1471998" cy="850963"/>
            <a:chOff x="1261" y="1606"/>
            <a:chExt cx="2103" cy="1215"/>
          </a:xfrm>
          <a:solidFill>
            <a:schemeClr val="accent2">
              <a:lumMod val="20000"/>
              <a:lumOff val="80000"/>
              <a:alpha val="40000"/>
            </a:schemeClr>
          </a:solidFill>
        </p:grpSpPr>
        <p:sp>
          <p:nvSpPr>
            <p:cNvPr id="1063" name="矩形 1062"/>
            <p:cNvSpPr/>
            <p:nvPr userDrawn="1"/>
          </p:nvSpPr>
          <p:spPr>
            <a:xfrm flipH="1" flipV="1">
              <a:off x="1699" y="2470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64" name="矩形 1063"/>
            <p:cNvSpPr/>
            <p:nvPr userDrawn="1"/>
          </p:nvSpPr>
          <p:spPr>
            <a:xfrm flipH="1" flipV="1">
              <a:off x="1261" y="2470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65" name="矩形 1064"/>
            <p:cNvSpPr/>
            <p:nvPr userDrawn="1"/>
          </p:nvSpPr>
          <p:spPr>
            <a:xfrm flipH="1" flipV="1">
              <a:off x="1699" y="2042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66" name="矩形 1065"/>
            <p:cNvSpPr/>
            <p:nvPr userDrawn="1"/>
          </p:nvSpPr>
          <p:spPr>
            <a:xfrm flipH="1" flipV="1">
              <a:off x="1261" y="2042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67" name="矩形 1066"/>
            <p:cNvSpPr/>
            <p:nvPr userDrawn="1"/>
          </p:nvSpPr>
          <p:spPr>
            <a:xfrm flipH="1" flipV="1">
              <a:off x="3015" y="2470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68" name="矩形 1067"/>
            <p:cNvSpPr/>
            <p:nvPr userDrawn="1"/>
          </p:nvSpPr>
          <p:spPr>
            <a:xfrm flipH="1" flipV="1">
              <a:off x="2578" y="2470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69" name="矩形 1068"/>
            <p:cNvSpPr/>
            <p:nvPr userDrawn="1"/>
          </p:nvSpPr>
          <p:spPr>
            <a:xfrm flipH="1" flipV="1">
              <a:off x="2140" y="2470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70" name="矩形 1069"/>
            <p:cNvSpPr/>
            <p:nvPr userDrawn="1"/>
          </p:nvSpPr>
          <p:spPr>
            <a:xfrm flipH="1" flipV="1">
              <a:off x="2578" y="2042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73" name="矩形 1072"/>
            <p:cNvSpPr/>
            <p:nvPr userDrawn="1"/>
          </p:nvSpPr>
          <p:spPr>
            <a:xfrm flipH="1" flipV="1">
              <a:off x="2140" y="2042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74" name="矩形 1073"/>
            <p:cNvSpPr/>
            <p:nvPr userDrawn="1"/>
          </p:nvSpPr>
          <p:spPr>
            <a:xfrm flipH="1" flipV="1">
              <a:off x="1261" y="1606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75" name="矩形 1074"/>
            <p:cNvSpPr/>
            <p:nvPr userDrawn="1"/>
          </p:nvSpPr>
          <p:spPr>
            <a:xfrm flipH="1" flipV="1">
              <a:off x="2140" y="1606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076" name="矩形 1075"/>
            <p:cNvSpPr/>
            <p:nvPr userDrawn="1"/>
          </p:nvSpPr>
          <p:spPr>
            <a:xfrm flipH="1" flipV="1">
              <a:off x="1702" y="1606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1077" name="组合 1076"/>
          <p:cNvGrpSpPr/>
          <p:nvPr/>
        </p:nvGrpSpPr>
        <p:grpSpPr>
          <a:xfrm>
            <a:off x="9980265" y="1718118"/>
            <a:ext cx="1861918" cy="638390"/>
            <a:chOff x="1892307" y="-1206499"/>
            <a:chExt cx="1274197" cy="436880"/>
          </a:xfr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</p:grpSpPr>
        <p:grpSp>
          <p:nvGrpSpPr>
            <p:cNvPr id="1078" name="组合 1077"/>
            <p:cNvGrpSpPr/>
            <p:nvPr/>
          </p:nvGrpSpPr>
          <p:grpSpPr>
            <a:xfrm>
              <a:off x="1892307" y="-1206499"/>
              <a:ext cx="598336" cy="436880"/>
              <a:chOff x="1892300" y="-1206500"/>
              <a:chExt cx="1320800" cy="964399"/>
            </a:xfrm>
            <a:grpFill/>
          </p:grpSpPr>
          <p:grpSp>
            <p:nvGrpSpPr>
              <p:cNvPr id="1110" name="组合 1109"/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36" name="椭圆 1135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37" name="椭圆 1136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38" name="椭圆 1137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39" name="椭圆 1138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111" name="组合 1110"/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32" name="椭圆 1131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33" name="椭圆 1132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34" name="椭圆 1133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35" name="椭圆 1134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112" name="组合 1111"/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28" name="椭圆 1127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29" name="椭圆 1128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30" name="椭圆 1129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31" name="椭圆 1130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113" name="组合 1112"/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24" name="椭圆 1123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25" name="椭圆 1124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26" name="椭圆 1125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27" name="椭圆 1126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114" name="组合 1113"/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20" name="椭圆 1119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21" name="椭圆 1120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22" name="椭圆 1121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23" name="椭圆 1122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115" name="组合 1114"/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16" name="椭圆 1115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17" name="椭圆 1116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18" name="椭圆 1117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19" name="椭圆 1118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</p:grpSp>
        <p:grpSp>
          <p:nvGrpSpPr>
            <p:cNvPr id="1079" name="组合 1078"/>
            <p:cNvGrpSpPr/>
            <p:nvPr/>
          </p:nvGrpSpPr>
          <p:grpSpPr>
            <a:xfrm>
              <a:off x="2568168" y="-1206499"/>
              <a:ext cx="598336" cy="436880"/>
              <a:chOff x="1892300" y="-1206500"/>
              <a:chExt cx="1320800" cy="964399"/>
            </a:xfrm>
            <a:grpFill/>
          </p:grpSpPr>
          <p:grpSp>
            <p:nvGrpSpPr>
              <p:cNvPr id="1080" name="组合 1079"/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06" name="椭圆 1105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07" name="椭圆 1106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08" name="椭圆 1107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09" name="椭圆 1108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081" name="组合 1080"/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02" name="椭圆 1101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03" name="椭圆 1102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04" name="椭圆 1103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05" name="椭圆 1104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082" name="组合 1081"/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98" name="椭圆 1097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99" name="椭圆 1098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00" name="椭圆 1099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101" name="椭圆 1100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083" name="组合 1082"/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94" name="椭圆 1093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95" name="椭圆 1094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96" name="椭圆 1095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97" name="椭圆 1096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084" name="组合 1083"/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90" name="椭圆 1089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91" name="椭圆 1090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92" name="椭圆 1091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93" name="椭圆 1092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085" name="组合 1084"/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86" name="椭圆 1085"/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87" name="椭圆 1086"/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88" name="椭圆 1087"/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089" name="椭圆 1088"/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</p:grpSp>
      </p:grpSp>
      <p:sp>
        <p:nvSpPr>
          <p:cNvPr id="1140" name="矩形 1139"/>
          <p:cNvSpPr/>
          <p:nvPr/>
        </p:nvSpPr>
        <p:spPr>
          <a:xfrm>
            <a:off x="0" y="6333725"/>
            <a:ext cx="12192000" cy="5242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  <a:cs typeface="Arial" panose="020B0604020202020204" pitchFamily="34" charset="0"/>
            </a:endParaRPr>
          </a:p>
        </p:txBody>
      </p:sp>
      <p:sp>
        <p:nvSpPr>
          <p:cNvPr id="1144" name="任意多边形: 形状 1143"/>
          <p:cNvSpPr/>
          <p:nvPr/>
        </p:nvSpPr>
        <p:spPr>
          <a:xfrm>
            <a:off x="-15433" y="1307940"/>
            <a:ext cx="12222866" cy="0"/>
          </a:xfrm>
          <a:custGeom>
            <a:avLst/>
            <a:gdLst>
              <a:gd name="connsiteX0" fmla="*/ 0 w 12222866"/>
              <a:gd name="connsiteY0" fmla="*/ 0 h 0"/>
              <a:gd name="connsiteX1" fmla="*/ 12222866 w 1222286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222866">
                <a:moveTo>
                  <a:pt x="0" y="0"/>
                </a:moveTo>
                <a:lnTo>
                  <a:pt x="12222866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5" name="任意多边形: 形状 1144"/>
          <p:cNvSpPr/>
          <p:nvPr/>
        </p:nvSpPr>
        <p:spPr>
          <a:xfrm>
            <a:off x="-30868" y="5399507"/>
            <a:ext cx="12222866" cy="0"/>
          </a:xfrm>
          <a:custGeom>
            <a:avLst/>
            <a:gdLst>
              <a:gd name="connsiteX0" fmla="*/ 0 w 12222866"/>
              <a:gd name="connsiteY0" fmla="*/ 0 h 0"/>
              <a:gd name="connsiteX1" fmla="*/ 12222866 w 1222286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222866">
                <a:moveTo>
                  <a:pt x="0" y="0"/>
                </a:moveTo>
                <a:lnTo>
                  <a:pt x="12222866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6" name="文本框 1145"/>
          <p:cNvSpPr txBox="1"/>
          <p:nvPr/>
        </p:nvSpPr>
        <p:spPr>
          <a:xfrm>
            <a:off x="387334" y="1632566"/>
            <a:ext cx="100205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基于</a:t>
            </a:r>
            <a:r>
              <a:rPr lang="fr-FR" altLang="zh-CN" sz="5400" b="1" dirty="0"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LangGraph</a:t>
            </a:r>
            <a:r>
              <a:rPr lang="zh-CN" altLang="en-US" sz="5400" b="1" dirty="0"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与</a:t>
            </a:r>
            <a:r>
              <a:rPr lang="fr-FR" altLang="zh-CN" sz="5400" b="1" dirty="0"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Web</a:t>
            </a:r>
            <a:r>
              <a:rPr lang="zh-CN" altLang="en-US" sz="5400" b="1" dirty="0"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地图</a:t>
            </a:r>
            <a:r>
              <a:rPr lang="fr-FR" altLang="zh-CN" sz="5400" b="1" dirty="0"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MCP</a:t>
            </a:r>
            <a:r>
              <a:rPr lang="zh-CN" altLang="en-US" sz="5400" b="1" dirty="0"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服务的旅行规划智能体设计</a:t>
            </a:r>
          </a:p>
        </p:txBody>
      </p:sp>
      <p:sp>
        <p:nvSpPr>
          <p:cNvPr id="1147" name="文本框 1146"/>
          <p:cNvSpPr txBox="1"/>
          <p:nvPr/>
        </p:nvSpPr>
        <p:spPr>
          <a:xfrm>
            <a:off x="530921" y="3452774"/>
            <a:ext cx="87300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OPENING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11367509" y="349838"/>
            <a:ext cx="252303" cy="180000"/>
            <a:chOff x="17652" y="759"/>
            <a:chExt cx="411" cy="249"/>
          </a:xfrm>
        </p:grpSpPr>
        <p:cxnSp>
          <p:nvCxnSpPr>
            <p:cNvPr id="33" name="直接连接符 32"/>
            <p:cNvCxnSpPr/>
            <p:nvPr userDrawn="1"/>
          </p:nvCxnSpPr>
          <p:spPr>
            <a:xfrm>
              <a:off x="17652" y="759"/>
              <a:ext cx="411" cy="0"/>
            </a:xfrm>
            <a:prstGeom prst="line">
              <a:avLst/>
            </a:prstGeom>
            <a:ln w="34925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 userDrawn="1"/>
          </p:nvCxnSpPr>
          <p:spPr>
            <a:xfrm>
              <a:off x="17652" y="883"/>
              <a:ext cx="411" cy="0"/>
            </a:xfrm>
            <a:prstGeom prst="line">
              <a:avLst/>
            </a:prstGeom>
            <a:ln w="34925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 userDrawn="1"/>
          </p:nvCxnSpPr>
          <p:spPr>
            <a:xfrm>
              <a:off x="17652" y="1008"/>
              <a:ext cx="411" cy="0"/>
            </a:xfrm>
            <a:prstGeom prst="line">
              <a:avLst/>
            </a:prstGeom>
            <a:ln w="34925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/>
          <p:cNvGrpSpPr/>
          <p:nvPr/>
        </p:nvGrpSpPr>
        <p:grpSpPr>
          <a:xfrm rot="10800000" flipV="1">
            <a:off x="11332460" y="6306800"/>
            <a:ext cx="859540" cy="551200"/>
            <a:chOff x="1699" y="1606"/>
            <a:chExt cx="1228" cy="787"/>
          </a:xfrm>
          <a:solidFill>
            <a:schemeClr val="accent2">
              <a:lumMod val="20000"/>
              <a:lumOff val="80000"/>
              <a:alpha val="40000"/>
            </a:schemeClr>
          </a:solidFill>
        </p:grpSpPr>
        <p:sp>
          <p:nvSpPr>
            <p:cNvPr id="67" name="矩形 66"/>
            <p:cNvSpPr/>
            <p:nvPr userDrawn="1"/>
          </p:nvSpPr>
          <p:spPr>
            <a:xfrm flipH="1" flipV="1">
              <a:off x="1699" y="2042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8" name="矩形 67"/>
            <p:cNvSpPr/>
            <p:nvPr userDrawn="1"/>
          </p:nvSpPr>
          <p:spPr>
            <a:xfrm flipH="1" flipV="1">
              <a:off x="2578" y="2042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9" name="矩形 68"/>
            <p:cNvSpPr/>
            <p:nvPr userDrawn="1"/>
          </p:nvSpPr>
          <p:spPr>
            <a:xfrm flipH="1" flipV="1">
              <a:off x="2140" y="2042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0" name="矩形 69"/>
            <p:cNvSpPr/>
            <p:nvPr userDrawn="1"/>
          </p:nvSpPr>
          <p:spPr>
            <a:xfrm flipH="1" flipV="1">
              <a:off x="2140" y="1606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1" name="矩形 70"/>
            <p:cNvSpPr/>
            <p:nvPr userDrawn="1"/>
          </p:nvSpPr>
          <p:spPr>
            <a:xfrm flipH="1" flipV="1">
              <a:off x="1702" y="1606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</p:grpSp>
      <p:sp>
        <p:nvSpPr>
          <p:cNvPr id="20" name="任意多边形: 形状 19"/>
          <p:cNvSpPr/>
          <p:nvPr/>
        </p:nvSpPr>
        <p:spPr>
          <a:xfrm>
            <a:off x="2064536" y="4130144"/>
            <a:ext cx="1203649" cy="0"/>
          </a:xfrm>
          <a:custGeom>
            <a:avLst/>
            <a:gdLst>
              <a:gd name="connsiteX0" fmla="*/ 0 w 1203649"/>
              <a:gd name="connsiteY0" fmla="*/ 0 h 0"/>
              <a:gd name="connsiteX1" fmla="*/ 1203649 w 120364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03649">
                <a:moveTo>
                  <a:pt x="0" y="0"/>
                </a:moveTo>
                <a:lnTo>
                  <a:pt x="1203649" y="0"/>
                </a:ln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5451676" y="2"/>
            <a:ext cx="0" cy="6863787"/>
          </a:xfrm>
          <a:custGeom>
            <a:avLst/>
            <a:gdLst>
              <a:gd name="connsiteX0" fmla="*/ 0 w 0"/>
              <a:gd name="connsiteY0" fmla="*/ 0 h 6863787"/>
              <a:gd name="connsiteX1" fmla="*/ 0 w 0"/>
              <a:gd name="connsiteY1" fmla="*/ 6863787 h 6863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863787">
                <a:moveTo>
                  <a:pt x="0" y="0"/>
                </a:moveTo>
                <a:lnTo>
                  <a:pt x="0" y="6863787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+mn-ea"/>
            </a:endParaRPr>
          </a:p>
        </p:txBody>
      </p:sp>
      <p:grpSp>
        <p:nvGrpSpPr>
          <p:cNvPr id="37" name="组合 36"/>
          <p:cNvGrpSpPr/>
          <p:nvPr/>
        </p:nvGrpSpPr>
        <p:grpSpPr>
          <a:xfrm rot="5400000">
            <a:off x="3946683" y="3064866"/>
            <a:ext cx="558170" cy="688340"/>
            <a:chOff x="7116" y="-2074"/>
            <a:chExt cx="1800" cy="2218"/>
          </a:xfr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6200000" scaled="0"/>
          </a:gradFill>
        </p:grpSpPr>
        <p:grpSp>
          <p:nvGrpSpPr>
            <p:cNvPr id="79" name="组合 78"/>
            <p:cNvGrpSpPr/>
            <p:nvPr/>
          </p:nvGrpSpPr>
          <p:grpSpPr>
            <a:xfrm>
              <a:off x="7116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125" name="椭圆 124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26" name="椭圆 125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27" name="椭圆 126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29" name="椭圆 128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30" name="椭圆 129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31" name="椭圆 130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32" name="椭圆 131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7444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117" name="椭圆 116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19" name="椭圆 118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20" name="椭圆 119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21" name="椭圆 120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22" name="椭圆 121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23" name="椭圆 122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24" name="椭圆 123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7772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109" name="椭圆 108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11" name="椭圆 110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12" name="椭圆 111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13" name="椭圆 112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14" name="椭圆 113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15" name="椭圆 114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16" name="椭圆 115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82" name="组合 81"/>
            <p:cNvGrpSpPr/>
            <p:nvPr/>
          </p:nvGrpSpPr>
          <p:grpSpPr>
            <a:xfrm>
              <a:off x="8100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101" name="椭圆 100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06" name="椭圆 105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07" name="椭圆 106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08" name="椭圆 107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428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93" name="椭圆 92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8756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85" name="椭圆 84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91" name="椭圆 90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</p:grpSp>
      <p:grpSp>
        <p:nvGrpSpPr>
          <p:cNvPr id="133" name="组合 132"/>
          <p:cNvGrpSpPr/>
          <p:nvPr/>
        </p:nvGrpSpPr>
        <p:grpSpPr>
          <a:xfrm rot="16200000">
            <a:off x="881637" y="3129272"/>
            <a:ext cx="453717" cy="559527"/>
            <a:chOff x="7116" y="-2074"/>
            <a:chExt cx="1800" cy="2218"/>
          </a:xfr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6200000" scaled="0"/>
          </a:gradFill>
        </p:grpSpPr>
        <p:grpSp>
          <p:nvGrpSpPr>
            <p:cNvPr id="134" name="组合 133"/>
            <p:cNvGrpSpPr/>
            <p:nvPr/>
          </p:nvGrpSpPr>
          <p:grpSpPr>
            <a:xfrm>
              <a:off x="7116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180" name="椭圆 179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81" name="椭圆 180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82" name="椭圆 181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83" name="椭圆 182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84" name="椭圆 183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85" name="椭圆 184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86" name="椭圆 185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87" name="椭圆 186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135" name="组合 134"/>
            <p:cNvGrpSpPr/>
            <p:nvPr/>
          </p:nvGrpSpPr>
          <p:grpSpPr>
            <a:xfrm>
              <a:off x="7444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172" name="椭圆 171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73" name="椭圆 172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74" name="椭圆 173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75" name="椭圆 174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76" name="椭圆 175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77" name="椭圆 176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78" name="椭圆 177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79" name="椭圆 178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136" name="组合 135"/>
            <p:cNvGrpSpPr/>
            <p:nvPr/>
          </p:nvGrpSpPr>
          <p:grpSpPr>
            <a:xfrm>
              <a:off x="7772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164" name="椭圆 163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65" name="椭圆 164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66" name="椭圆 165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67" name="椭圆 166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68" name="椭圆 167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69" name="椭圆 168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70" name="椭圆 169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71" name="椭圆 170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137" name="组合 136"/>
            <p:cNvGrpSpPr/>
            <p:nvPr/>
          </p:nvGrpSpPr>
          <p:grpSpPr>
            <a:xfrm>
              <a:off x="8100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156" name="椭圆 155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57" name="椭圆 156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58" name="椭圆 157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59" name="椭圆 158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60" name="椭圆 159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61" name="椭圆 160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62" name="椭圆 161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63" name="椭圆 162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138" name="组合 137"/>
            <p:cNvGrpSpPr/>
            <p:nvPr/>
          </p:nvGrpSpPr>
          <p:grpSpPr>
            <a:xfrm>
              <a:off x="8428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148" name="椭圆 147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49" name="椭圆 148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50" name="椭圆 149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51" name="椭圆 150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52" name="椭圆 151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53" name="椭圆 152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54" name="椭圆 153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55" name="椭圆 154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139" name="组合 138"/>
            <p:cNvGrpSpPr/>
            <p:nvPr/>
          </p:nvGrpSpPr>
          <p:grpSpPr>
            <a:xfrm>
              <a:off x="8756" y="-2074"/>
              <a:ext cx="160" cy="2218"/>
              <a:chOff x="7116" y="-2074"/>
              <a:chExt cx="160" cy="2218"/>
            </a:xfrm>
            <a:grpFill/>
          </p:grpSpPr>
          <p:sp>
            <p:nvSpPr>
              <p:cNvPr id="140" name="椭圆 139"/>
              <p:cNvSpPr/>
              <p:nvPr/>
            </p:nvSpPr>
            <p:spPr>
              <a:xfrm>
                <a:off x="7116" y="-207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41" name="椭圆 140"/>
              <p:cNvSpPr/>
              <p:nvPr/>
            </p:nvSpPr>
            <p:spPr>
              <a:xfrm>
                <a:off x="7116" y="-178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42" name="椭圆 141"/>
              <p:cNvSpPr/>
              <p:nvPr/>
            </p:nvSpPr>
            <p:spPr>
              <a:xfrm>
                <a:off x="7116" y="-148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43" name="椭圆 142"/>
              <p:cNvSpPr/>
              <p:nvPr/>
            </p:nvSpPr>
            <p:spPr>
              <a:xfrm>
                <a:off x="7116" y="-1192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44" name="椭圆 143"/>
              <p:cNvSpPr/>
              <p:nvPr/>
            </p:nvSpPr>
            <p:spPr>
              <a:xfrm>
                <a:off x="7116" y="-898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45" name="椭圆 144"/>
              <p:cNvSpPr/>
              <p:nvPr/>
            </p:nvSpPr>
            <p:spPr>
              <a:xfrm>
                <a:off x="7116" y="-604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46" name="椭圆 145"/>
              <p:cNvSpPr/>
              <p:nvPr/>
            </p:nvSpPr>
            <p:spPr>
              <a:xfrm>
                <a:off x="7116" y="-310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47" name="椭圆 146"/>
              <p:cNvSpPr/>
              <p:nvPr/>
            </p:nvSpPr>
            <p:spPr>
              <a:xfrm>
                <a:off x="7116" y="-16"/>
                <a:ext cx="160" cy="16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</p:grpSp>
      <p:sp>
        <p:nvSpPr>
          <p:cNvPr id="12" name="文本框 11"/>
          <p:cNvSpPr txBox="1"/>
          <p:nvPr/>
        </p:nvSpPr>
        <p:spPr>
          <a:xfrm>
            <a:off x="1683888" y="2931423"/>
            <a:ext cx="1902082" cy="11079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/>
            <a:r>
              <a:rPr lang="zh-CN" altLang="en-US" sz="6600" b="1" dirty="0"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目录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774796" y="4313608"/>
            <a:ext cx="1902082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dist"/>
            <a:r>
              <a:rPr lang="en-US" altLang="zh-CN" sz="2000" dirty="0">
                <a:solidFill>
                  <a:schemeClr val="accent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CONTENTS</a:t>
            </a:r>
            <a:endParaRPr lang="zh-CN" altLang="en-US" sz="2000" dirty="0">
              <a:solidFill>
                <a:schemeClr val="accent3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anose="00020600040101010101" charset="-122"/>
            </a:endParaRPr>
          </a:p>
        </p:txBody>
      </p:sp>
      <p:sp>
        <p:nvSpPr>
          <p:cNvPr id="188" name="灯片编号占位符 187"/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2B10EF-354F-41F7-7D0F-3B466820300D}"/>
              </a:ext>
            </a:extLst>
          </p:cNvPr>
          <p:cNvSpPr txBox="1"/>
          <p:nvPr/>
        </p:nvSpPr>
        <p:spPr>
          <a:xfrm>
            <a:off x="7682516" y="1097755"/>
            <a:ext cx="2794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+mn-ea"/>
                <a:cs typeface="OPPOSans M" panose="00020600040101010101" charset="-122"/>
              </a:rPr>
              <a:t>选题背景和意义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A2AB6A-A969-E1DE-4F26-545E950CE8F8}"/>
              </a:ext>
            </a:extLst>
          </p:cNvPr>
          <p:cNvSpPr txBox="1"/>
          <p:nvPr/>
        </p:nvSpPr>
        <p:spPr>
          <a:xfrm>
            <a:off x="7682516" y="1519706"/>
            <a:ext cx="2794165" cy="277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200" b="1" dirty="0">
                <a:solidFill>
                  <a:schemeClr val="accent1"/>
                </a:solidFill>
                <a:latin typeface="+mn-ea"/>
                <a:cs typeface="OPPOSans M" panose="00020600040101010101" charset="-122"/>
              </a:rPr>
              <a:t>Background and significance</a:t>
            </a:r>
            <a:endParaRPr lang="zh-CN" altLang="en-US" sz="1200" b="1" dirty="0">
              <a:solidFill>
                <a:schemeClr val="accent1"/>
              </a:solidFill>
              <a:latin typeface="+mn-ea"/>
              <a:cs typeface="OPPOSans M" panose="00020600040101010101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7F07798-75DD-8643-084F-1429E446C6A2}"/>
              </a:ext>
            </a:extLst>
          </p:cNvPr>
          <p:cNvSpPr>
            <a:spLocks noChangeAspect="1"/>
          </p:cNvSpPr>
          <p:nvPr/>
        </p:nvSpPr>
        <p:spPr>
          <a:xfrm>
            <a:off x="7058100" y="1192681"/>
            <a:ext cx="576000" cy="5760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393700" sx="99000" sy="99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+mn-ea"/>
                <a:cs typeface="OPPOSans M" panose="00020600040101010101" charset="-122"/>
              </a:rPr>
              <a:t>1</a:t>
            </a:r>
            <a:endParaRPr lang="zh-CN" altLang="en-US" sz="2000" b="1">
              <a:latin typeface="+mn-ea"/>
              <a:cs typeface="OPPOSans M" panose="00020600040101010101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297A594-A3DB-8B66-AE77-BF144D56584E}"/>
              </a:ext>
            </a:extLst>
          </p:cNvPr>
          <p:cNvSpPr txBox="1"/>
          <p:nvPr/>
        </p:nvSpPr>
        <p:spPr>
          <a:xfrm>
            <a:off x="7682516" y="2140262"/>
            <a:ext cx="2794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+mn-ea"/>
                <a:cs typeface="OPPOSans M" panose="00020600040101010101" charset="-122"/>
              </a:rPr>
              <a:t>关键技术基础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658E99-B4BE-6948-BD49-14E9BF94D003}"/>
              </a:ext>
            </a:extLst>
          </p:cNvPr>
          <p:cNvSpPr txBox="1"/>
          <p:nvPr/>
        </p:nvSpPr>
        <p:spPr>
          <a:xfrm>
            <a:off x="7682516" y="2574655"/>
            <a:ext cx="2794165" cy="277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200" b="1">
                <a:solidFill>
                  <a:schemeClr val="accent1"/>
                </a:solidFill>
                <a:latin typeface="+mn-ea"/>
                <a:cs typeface="OPPOSans M" panose="00020600040101010101" charset="-122"/>
              </a:rPr>
              <a:t>Literature review and review</a:t>
            </a:r>
            <a:endParaRPr lang="zh-CN" altLang="en-US" sz="1200" b="1">
              <a:solidFill>
                <a:schemeClr val="accent1"/>
              </a:solidFill>
              <a:latin typeface="+mn-ea"/>
              <a:cs typeface="OPPOSans M" panose="00020600040101010101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88A394F-B119-DF1C-3BB5-D212ECEA6A67}"/>
              </a:ext>
            </a:extLst>
          </p:cNvPr>
          <p:cNvSpPr>
            <a:spLocks noChangeAspect="1"/>
          </p:cNvSpPr>
          <p:nvPr/>
        </p:nvSpPr>
        <p:spPr>
          <a:xfrm>
            <a:off x="7058100" y="2226734"/>
            <a:ext cx="576000" cy="5760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393700" sx="99000" sy="99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+mn-ea"/>
                <a:cs typeface="OPPOSans M" panose="00020600040101010101" charset="-122"/>
              </a:rPr>
              <a:t>2</a:t>
            </a:r>
            <a:endParaRPr lang="zh-CN" altLang="en-US" sz="2000" b="1">
              <a:latin typeface="+mn-ea"/>
              <a:cs typeface="OPPOSans M" panose="00020600040101010101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A58B45-D3DF-9867-61DF-6DC1EC0D40E9}"/>
              </a:ext>
            </a:extLst>
          </p:cNvPr>
          <p:cNvSpPr txBox="1"/>
          <p:nvPr/>
        </p:nvSpPr>
        <p:spPr>
          <a:xfrm>
            <a:off x="7682516" y="3182769"/>
            <a:ext cx="2794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+mn-ea"/>
                <a:cs typeface="OPPOSans M" panose="00020600040101010101" charset="-122"/>
              </a:rPr>
              <a:t>研究思路和内容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E6B95A9-7B46-AB4D-8CB8-35A602087B99}"/>
              </a:ext>
            </a:extLst>
          </p:cNvPr>
          <p:cNvSpPr txBox="1"/>
          <p:nvPr/>
        </p:nvSpPr>
        <p:spPr>
          <a:xfrm>
            <a:off x="7682516" y="3629604"/>
            <a:ext cx="2794165" cy="277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200" b="1">
                <a:solidFill>
                  <a:schemeClr val="accent1"/>
                </a:solidFill>
                <a:latin typeface="+mn-ea"/>
                <a:cs typeface="OPPOSans M" panose="00020600040101010101" charset="-122"/>
              </a:rPr>
              <a:t>Research ideas and contents</a:t>
            </a:r>
            <a:endParaRPr lang="zh-CN" altLang="en-US" sz="1200" b="1">
              <a:solidFill>
                <a:schemeClr val="accent1"/>
              </a:solidFill>
              <a:latin typeface="+mn-ea"/>
              <a:cs typeface="OPPOSans M" panose="00020600040101010101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019355F-6D2E-0F08-05C9-829087DFA251}"/>
              </a:ext>
            </a:extLst>
          </p:cNvPr>
          <p:cNvSpPr>
            <a:spLocks noChangeAspect="1"/>
          </p:cNvSpPr>
          <p:nvPr/>
        </p:nvSpPr>
        <p:spPr>
          <a:xfrm>
            <a:off x="7058100" y="3260787"/>
            <a:ext cx="576000" cy="5760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393700" sx="99000" sy="99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+mn-ea"/>
                <a:cs typeface="OPPOSans M" panose="00020600040101010101" charset="-122"/>
              </a:rPr>
              <a:t>3</a:t>
            </a:r>
            <a:endParaRPr lang="zh-CN" altLang="en-US" sz="2000" b="1">
              <a:latin typeface="+mn-ea"/>
              <a:cs typeface="OPPOSans M" panose="00020600040101010101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18FEF9B-ECE8-518D-5825-12C3673AD90B}"/>
              </a:ext>
            </a:extLst>
          </p:cNvPr>
          <p:cNvSpPr txBox="1"/>
          <p:nvPr/>
        </p:nvSpPr>
        <p:spPr>
          <a:xfrm>
            <a:off x="7682516" y="4225276"/>
            <a:ext cx="2794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+mn-ea"/>
                <a:cs typeface="OPPOSans M" panose="00020600040101010101" charset="-122"/>
              </a:rPr>
              <a:t>实验结果与分析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038C7C-954A-7189-37B6-82D113FBDC36}"/>
              </a:ext>
            </a:extLst>
          </p:cNvPr>
          <p:cNvSpPr txBox="1"/>
          <p:nvPr/>
        </p:nvSpPr>
        <p:spPr>
          <a:xfrm>
            <a:off x="7682516" y="4684553"/>
            <a:ext cx="2794165" cy="277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200" b="1">
                <a:solidFill>
                  <a:schemeClr val="accent1"/>
                </a:solidFill>
                <a:latin typeface="+mn-ea"/>
                <a:cs typeface="OPPOSans M" panose="00020600040101010101" charset="-122"/>
              </a:rPr>
              <a:t>Research process and method</a:t>
            </a:r>
            <a:endParaRPr lang="zh-CN" altLang="en-US" sz="1200" b="1">
              <a:solidFill>
                <a:schemeClr val="accent1"/>
              </a:solidFill>
              <a:latin typeface="+mn-ea"/>
              <a:cs typeface="OPPOSans M" panose="00020600040101010101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63998D8-D3BE-60DD-CA21-8B50C0B117C0}"/>
              </a:ext>
            </a:extLst>
          </p:cNvPr>
          <p:cNvSpPr>
            <a:spLocks noChangeAspect="1"/>
          </p:cNvSpPr>
          <p:nvPr/>
        </p:nvSpPr>
        <p:spPr>
          <a:xfrm>
            <a:off x="7058100" y="4294840"/>
            <a:ext cx="576000" cy="5760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393700" sx="99000" sy="99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+mn-ea"/>
                <a:cs typeface="OPPOSans M" panose="00020600040101010101" charset="-122"/>
              </a:rPr>
              <a:t>4</a:t>
            </a:r>
            <a:endParaRPr lang="zh-CN" altLang="en-US" sz="2000" b="1">
              <a:latin typeface="+mn-ea"/>
              <a:cs typeface="OPPOSans M" panose="00020600040101010101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18F23EB-01BD-F2BE-0DCF-B2E441A0EBB6}"/>
              </a:ext>
            </a:extLst>
          </p:cNvPr>
          <p:cNvSpPr txBox="1"/>
          <p:nvPr/>
        </p:nvSpPr>
        <p:spPr>
          <a:xfrm>
            <a:off x="7682516" y="5267782"/>
            <a:ext cx="2794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+mn-ea"/>
                <a:cs typeface="OPPOSans M" panose="00020600040101010101" charset="-122"/>
              </a:rPr>
              <a:t>研究成果与展望</a:t>
            </a:r>
            <a:endParaRPr lang="en-US" altLang="zh-CN" sz="2800" b="1" dirty="0">
              <a:latin typeface="+mn-ea"/>
              <a:cs typeface="OPPOSans M" panose="00020600040101010101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E98209F-F321-961B-BC35-F65820D818A6}"/>
              </a:ext>
            </a:extLst>
          </p:cNvPr>
          <p:cNvSpPr txBox="1"/>
          <p:nvPr/>
        </p:nvSpPr>
        <p:spPr>
          <a:xfrm>
            <a:off x="7682516" y="5739503"/>
            <a:ext cx="2794165" cy="277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1200" b="1">
                <a:solidFill>
                  <a:schemeClr val="accent1"/>
                </a:solidFill>
                <a:latin typeface="+mn-ea"/>
                <a:cs typeface="OPPOSans M" panose="00020600040101010101" charset="-122"/>
              </a:rPr>
              <a:t>Research results and Prospects</a:t>
            </a:r>
            <a:endParaRPr lang="zh-CN" altLang="en-US" sz="1200" b="1">
              <a:solidFill>
                <a:schemeClr val="accent1"/>
              </a:solidFill>
              <a:latin typeface="+mn-ea"/>
              <a:cs typeface="OPPOSans M" panose="00020600040101010101" charset="-122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A2F0B68-D21A-F407-1548-7B6E8B5245A3}"/>
              </a:ext>
            </a:extLst>
          </p:cNvPr>
          <p:cNvSpPr>
            <a:spLocks noChangeAspect="1"/>
          </p:cNvSpPr>
          <p:nvPr/>
        </p:nvSpPr>
        <p:spPr>
          <a:xfrm>
            <a:off x="7058100" y="5328894"/>
            <a:ext cx="576000" cy="576000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outerShdw blurRad="393700" sx="99000" sy="99000" algn="ctr" rotWithShape="0">
              <a:schemeClr val="tx1">
                <a:alpha val="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>
                <a:latin typeface="+mn-ea"/>
                <a:cs typeface="OPPOSans M" panose="00020600040101010101" charset="-122"/>
              </a:rPr>
              <a:t>5</a:t>
            </a:r>
            <a:endParaRPr lang="zh-CN" altLang="en-US" sz="2000" b="1">
              <a:latin typeface="+mn-ea"/>
              <a:cs typeface="OPPOSans M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图片 61">
            <a:extLst>
              <a:ext uri="{FF2B5EF4-FFF2-40B4-BE49-F238E27FC236}">
                <a16:creationId xmlns:a16="http://schemas.microsoft.com/office/drawing/2014/main" id="{CEE86212-95D3-8246-651A-092270B20A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979" y="3045490"/>
            <a:ext cx="5551724" cy="3328834"/>
          </a:xfrm>
          <a:prstGeom prst="rect">
            <a:avLst/>
          </a:prstGeom>
        </p:spPr>
      </p:pic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>
          <a:xfrm>
            <a:off x="792175" y="145486"/>
            <a:ext cx="4669901" cy="499034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研究背景与现状</a:t>
            </a:r>
          </a:p>
        </p:txBody>
      </p:sp>
      <p:sp>
        <p:nvSpPr>
          <p:cNvPr id="150" name="文本占位符 149"/>
          <p:cNvSpPr>
            <a:spLocks noGrp="1"/>
          </p:cNvSpPr>
          <p:nvPr>
            <p:ph type="body" sz="quarter" idx="19"/>
          </p:nvPr>
        </p:nvSpPr>
        <p:spPr>
          <a:xfrm>
            <a:off x="0" y="841320"/>
            <a:ext cx="11775311" cy="45707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背景：文旅消费升级与个性化规划的挑战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3" name="矩形: 圆角 172"/>
          <p:cNvSpPr>
            <a:spLocks noChangeAspect="1"/>
          </p:cNvSpPr>
          <p:nvPr/>
        </p:nvSpPr>
        <p:spPr>
          <a:xfrm>
            <a:off x="312990" y="1439033"/>
            <a:ext cx="380989" cy="380989"/>
          </a:xfrm>
          <a:prstGeom prst="roundRect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sz="28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2" name="灯片编号占位符 181"/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8FDED876-805F-08A9-A131-09F5AAC127A6}"/>
              </a:ext>
            </a:extLst>
          </p:cNvPr>
          <p:cNvSpPr/>
          <p:nvPr/>
        </p:nvSpPr>
        <p:spPr>
          <a:xfrm rot="5400000">
            <a:off x="3700286" y="3791148"/>
            <a:ext cx="4735290" cy="45719"/>
          </a:xfrm>
          <a:custGeom>
            <a:avLst/>
            <a:gdLst>
              <a:gd name="connsiteX0" fmla="*/ 0 w 10871200"/>
              <a:gd name="connsiteY0" fmla="*/ 0 h 0"/>
              <a:gd name="connsiteX1" fmla="*/ 10871200 w 108712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871200">
                <a:moveTo>
                  <a:pt x="0" y="0"/>
                </a:moveTo>
                <a:lnTo>
                  <a:pt x="10871200" y="0"/>
                </a:lnTo>
              </a:path>
            </a:pathLst>
          </a:custGeom>
          <a:noFill/>
          <a:ln w="6350" cap="rnd">
            <a:solidFill>
              <a:schemeClr val="tx1">
                <a:alpha val="62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D5BEFCD-7834-51B3-662F-2F0BE0818357}"/>
              </a:ext>
            </a:extLst>
          </p:cNvPr>
          <p:cNvSpPr txBox="1"/>
          <p:nvPr/>
        </p:nvSpPr>
        <p:spPr>
          <a:xfrm>
            <a:off x="705223" y="1429473"/>
            <a:ext cx="3067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需求转变与现有工具局限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DBA850-8847-3C2F-1D15-C0C11B0A5066}"/>
              </a:ext>
            </a:extLst>
          </p:cNvPr>
          <p:cNvSpPr txBox="1"/>
          <p:nvPr/>
        </p:nvSpPr>
        <p:spPr>
          <a:xfrm>
            <a:off x="374643" y="1789138"/>
            <a:ext cx="5721357" cy="1333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用户需求已超越标准化单项产品预订功能， 追求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深度体验、高度定制化的行程。</a:t>
            </a:r>
            <a:endParaRPr lang="en-US" altLang="zh-CN" sz="16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传统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OTA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平台仅提供分类推荐和预订服务，难以处理多维度的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自然语言需求，提供端到端解决方案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C6FD08A-B275-456C-D4A3-1F582AEF7AF5}"/>
              </a:ext>
            </a:extLst>
          </p:cNvPr>
          <p:cNvGrpSpPr/>
          <p:nvPr/>
        </p:nvGrpSpPr>
        <p:grpSpPr>
          <a:xfrm>
            <a:off x="336443" y="3236289"/>
            <a:ext cx="3436176" cy="400110"/>
            <a:chOff x="497584" y="3072138"/>
            <a:chExt cx="3436176" cy="400110"/>
          </a:xfrm>
        </p:grpSpPr>
        <p:sp>
          <p:nvSpPr>
            <p:cNvPr id="180" name="矩形: 圆角 179"/>
            <p:cNvSpPr>
              <a:spLocks noChangeAspect="1"/>
            </p:cNvSpPr>
            <p:nvPr/>
          </p:nvSpPr>
          <p:spPr>
            <a:xfrm>
              <a:off x="497584" y="3081699"/>
              <a:ext cx="380989" cy="380989"/>
            </a:xfrm>
            <a:prstGeom prst="roundRect">
              <a:avLst/>
            </a:prstGeom>
            <a:solidFill>
              <a:schemeClr val="accent1"/>
            </a:solidFill>
            <a:ln w="28575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2800" dirty="0">
                  <a:latin typeface="Arial" panose="020B0604020202020204" pitchFamily="34" charset="0"/>
                  <a:ea typeface="微软雅黑" panose="020B0503020204020204" pitchFamily="34" charset="-122"/>
                </a:rPr>
                <a:t>2</a:t>
              </a:r>
              <a:endParaRPr lang="zh-CN" altLang="en-US" sz="2800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2CEF768-17D7-EF1F-7279-550A362F25BA}"/>
                </a:ext>
              </a:extLst>
            </p:cNvPr>
            <p:cNvSpPr txBox="1"/>
            <p:nvPr/>
          </p:nvSpPr>
          <p:spPr>
            <a:xfrm>
              <a:off x="866364" y="3072138"/>
              <a:ext cx="30673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tx2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大语言模型的崛起与局限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B2F5F26-CC75-7722-39A3-F4A6C9A617EF}"/>
              </a:ext>
            </a:extLst>
          </p:cNvPr>
          <p:cNvSpPr>
            <a:spLocks noChangeAspect="1"/>
          </p:cNvSpPr>
          <p:nvPr/>
        </p:nvSpPr>
        <p:spPr>
          <a:xfrm>
            <a:off x="6258425" y="1408151"/>
            <a:ext cx="380989" cy="380989"/>
          </a:xfrm>
          <a:prstGeom prst="roundRect">
            <a:avLst/>
          </a:prstGeom>
          <a:solidFill>
            <a:schemeClr val="accent1"/>
          </a:solidFill>
          <a:ln w="28575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800" dirty="0"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endParaRPr lang="zh-CN" altLang="en-US" sz="28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ED6F8D2-427A-C60B-A58E-DE66091BFEB3}"/>
              </a:ext>
            </a:extLst>
          </p:cNvPr>
          <p:cNvSpPr txBox="1"/>
          <p:nvPr/>
        </p:nvSpPr>
        <p:spPr>
          <a:xfrm>
            <a:off x="6639412" y="1388003"/>
            <a:ext cx="3067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基于大语言模型的智能体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608C07A-61A8-2E53-D55C-82DC26FD5516}"/>
              </a:ext>
            </a:extLst>
          </p:cNvPr>
          <p:cNvSpPr txBox="1"/>
          <p:nvPr/>
        </p:nvSpPr>
        <p:spPr>
          <a:xfrm>
            <a:off x="374644" y="3645960"/>
            <a:ext cx="5636846" cy="953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大语言模型</a:t>
            </a:r>
            <a:r>
              <a:rPr lang="zh-CN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Large Language Models, LLMs</a:t>
            </a:r>
            <a:r>
              <a:rPr lang="zh-CN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具备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强大的语义分析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意图识别能力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，为解决复杂规划问题提供了新思路。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2F8AAE8-B004-8994-E26D-9EB140AFC7E6}"/>
              </a:ext>
            </a:extLst>
          </p:cNvPr>
          <p:cNvSpPr txBox="1"/>
          <p:nvPr/>
        </p:nvSpPr>
        <p:spPr>
          <a:xfrm>
            <a:off x="905718" y="6378776"/>
            <a:ext cx="1065419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研究意义：构建具备时空感知与动态推理能力的旅行规划智能体，探索可落地的智慧出行服务新模式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B3BFC0C-46C5-B73F-C53E-1A98D6A4B375}"/>
              </a:ext>
            </a:extLst>
          </p:cNvPr>
          <p:cNvSpPr/>
          <p:nvPr/>
        </p:nvSpPr>
        <p:spPr>
          <a:xfrm>
            <a:off x="792175" y="6365909"/>
            <a:ext cx="10419590" cy="380989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17461711-A76F-5463-2F8D-5457DAFB1689}"/>
              </a:ext>
            </a:extLst>
          </p:cNvPr>
          <p:cNvGrpSpPr/>
          <p:nvPr/>
        </p:nvGrpSpPr>
        <p:grpSpPr>
          <a:xfrm>
            <a:off x="662875" y="4602904"/>
            <a:ext cx="5865242" cy="1756571"/>
            <a:chOff x="6652639" y="1790870"/>
            <a:chExt cx="5865242" cy="175657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2BD17BF-5293-413F-2484-39F2A2676D8A}"/>
                </a:ext>
              </a:extLst>
            </p:cNvPr>
            <p:cNvSpPr txBox="1"/>
            <p:nvPr/>
          </p:nvSpPr>
          <p:spPr>
            <a:xfrm>
              <a:off x="6652639" y="1790870"/>
              <a:ext cx="5721357" cy="17565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300"/>
                </a:spcAft>
              </a:pPr>
              <a:r>
                <a:rPr lang="zh-CN" altLang="en-US" sz="1600" b="1" dirty="0"/>
                <a:t>缺乏</a:t>
              </a:r>
              <a:r>
                <a:rPr lang="zh-CN" altLang="zh-CN" sz="1600" b="1" dirty="0"/>
                <a:t>复杂工作流的编排能力</a:t>
              </a:r>
              <a:endParaRPr lang="en-US" altLang="zh-CN" sz="1600" b="1" dirty="0"/>
            </a:p>
            <a:p>
              <a:pPr>
                <a:lnSpc>
                  <a:spcPct val="125000"/>
                </a:lnSpc>
                <a:spcAft>
                  <a:spcPts val="300"/>
                </a:spcAft>
              </a:pPr>
              <a:r>
                <a:rPr lang="zh-CN" altLang="en-US" sz="1600" b="1" dirty="0"/>
                <a:t>缺乏</a:t>
              </a:r>
              <a:r>
                <a:rPr lang="zh-CN" altLang="zh-CN" sz="1600" b="1" dirty="0"/>
                <a:t>空间与组合推理能力</a:t>
              </a:r>
              <a:endParaRPr lang="en-US" altLang="zh-CN" sz="1600" b="1" dirty="0"/>
            </a:p>
            <a:p>
              <a:pPr>
                <a:lnSpc>
                  <a:spcPct val="125000"/>
                </a:lnSpc>
                <a:spcAft>
                  <a:spcPts val="300"/>
                </a:spcAft>
              </a:pPr>
              <a:r>
                <a:rPr lang="zh-CN" altLang="en-US" sz="1600" b="1" dirty="0"/>
                <a:t>缺乏</a:t>
              </a:r>
              <a:r>
                <a:rPr lang="zh-CN" altLang="zh-CN" sz="1600" b="1" dirty="0"/>
                <a:t>实时数据获取能力</a:t>
              </a:r>
              <a:endParaRPr lang="en-US" altLang="zh-CN" sz="1600" b="1" dirty="0"/>
            </a:p>
            <a:p>
              <a:pPr>
                <a:lnSpc>
                  <a:spcPct val="125000"/>
                </a:lnSpc>
                <a:spcAft>
                  <a:spcPts val="300"/>
                </a:spcAft>
              </a:pPr>
              <a:r>
                <a:rPr lang="zh-CN" altLang="en-US" sz="1600" b="1" dirty="0"/>
                <a:t>缺乏</a:t>
              </a:r>
              <a:r>
                <a:rPr lang="zh-CN" altLang="zh-CN" sz="1600" b="1" dirty="0"/>
                <a:t>领域知识深度</a:t>
              </a:r>
              <a:r>
                <a:rPr lang="zh-CN" altLang="en-US" sz="1600" b="1" dirty="0"/>
                <a:t>不足</a:t>
              </a:r>
              <a:endParaRPr lang="en-US" altLang="zh-CN" sz="1600" b="1" dirty="0"/>
            </a:p>
            <a:p>
              <a:pPr>
                <a:lnSpc>
                  <a:spcPct val="125000"/>
                </a:lnSpc>
                <a:spcAft>
                  <a:spcPts val="300"/>
                </a:spcAft>
              </a:pPr>
              <a:r>
                <a:rPr lang="zh-CN" altLang="en-US" sz="1600" b="1" dirty="0"/>
                <a:t>缺乏</a:t>
              </a:r>
              <a:r>
                <a:rPr lang="zh-CN" altLang="zh-CN" sz="1600" b="1" dirty="0"/>
                <a:t>长期记忆</a:t>
              </a:r>
              <a:r>
                <a:rPr lang="zh-CN" altLang="en-US" sz="1600" b="1" dirty="0"/>
                <a:t>与个性化记忆</a:t>
              </a:r>
              <a:endParaRPr lang="en-US" altLang="zh-CN" sz="1600" b="1" dirty="0"/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E28E5592-C325-58A6-92BB-F71D8A24269D}"/>
                </a:ext>
              </a:extLst>
            </p:cNvPr>
            <p:cNvCxnSpPr>
              <a:cxnSpLocks/>
            </p:cNvCxnSpPr>
            <p:nvPr/>
          </p:nvCxnSpPr>
          <p:spPr>
            <a:xfrm>
              <a:off x="9283977" y="1988717"/>
              <a:ext cx="4151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3040B61-8C2F-54D5-FC0C-FC8F820D3C4D}"/>
                </a:ext>
              </a:extLst>
            </p:cNvPr>
            <p:cNvSpPr txBox="1"/>
            <p:nvPr/>
          </p:nvSpPr>
          <p:spPr>
            <a:xfrm>
              <a:off x="9706357" y="1800289"/>
              <a:ext cx="281152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C00000"/>
                  </a:solidFill>
                </a:rPr>
                <a:t>规划稳定性和成功率低</a:t>
              </a: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41572DBF-FFE4-F125-F571-982198B4CDB2}"/>
                </a:ext>
              </a:extLst>
            </p:cNvPr>
            <p:cNvCxnSpPr>
              <a:cxnSpLocks/>
            </p:cNvCxnSpPr>
            <p:nvPr/>
          </p:nvCxnSpPr>
          <p:spPr>
            <a:xfrm>
              <a:off x="9037443" y="2309956"/>
              <a:ext cx="3752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2F0800D6-C657-FA43-EBA2-59B7AB54CC41}"/>
                </a:ext>
              </a:extLst>
            </p:cNvPr>
            <p:cNvSpPr txBox="1"/>
            <p:nvPr/>
          </p:nvSpPr>
          <p:spPr>
            <a:xfrm>
              <a:off x="9408025" y="2130889"/>
              <a:ext cx="2583709" cy="338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C00000"/>
                  </a:solidFill>
                </a:rPr>
                <a:t>行程结构合理性低</a:t>
              </a:r>
            </a:p>
          </p:txBody>
        </p:sp>
        <p:sp>
          <p:nvSpPr>
            <p:cNvPr id="50" name="右中括号 49">
              <a:extLst>
                <a:ext uri="{FF2B5EF4-FFF2-40B4-BE49-F238E27FC236}">
                  <a16:creationId xmlns:a16="http://schemas.microsoft.com/office/drawing/2014/main" id="{8432A6FD-A0B3-1542-1DD4-E0B77A857E33}"/>
                </a:ext>
              </a:extLst>
            </p:cNvPr>
            <p:cNvSpPr/>
            <p:nvPr/>
          </p:nvSpPr>
          <p:spPr>
            <a:xfrm>
              <a:off x="8849045" y="2611967"/>
              <a:ext cx="45719" cy="421572"/>
            </a:xfrm>
            <a:prstGeom prst="righ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B6AC6D9B-CAAE-C409-BB9C-C2F413B1AE6D}"/>
                </a:ext>
              </a:extLst>
            </p:cNvPr>
            <p:cNvCxnSpPr>
              <a:cxnSpLocks/>
            </p:cNvCxnSpPr>
            <p:nvPr/>
          </p:nvCxnSpPr>
          <p:spPr>
            <a:xfrm>
              <a:off x="8894764" y="2817741"/>
              <a:ext cx="2300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AE5E573-D69A-E6DF-8751-309C82578022}"/>
                </a:ext>
              </a:extLst>
            </p:cNvPr>
            <p:cNvSpPr txBox="1"/>
            <p:nvPr/>
          </p:nvSpPr>
          <p:spPr>
            <a:xfrm>
              <a:off x="9159093" y="2648506"/>
              <a:ext cx="272311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C00000"/>
                  </a:solidFill>
                </a:rPr>
                <a:t>模型幻觉导致结果真实性低</a:t>
              </a: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14187F8C-E701-B85B-8C3A-FD9339E39600}"/>
                </a:ext>
              </a:extLst>
            </p:cNvPr>
            <p:cNvCxnSpPr>
              <a:cxnSpLocks/>
            </p:cNvCxnSpPr>
            <p:nvPr/>
          </p:nvCxnSpPr>
          <p:spPr>
            <a:xfrm>
              <a:off x="9225084" y="3352360"/>
              <a:ext cx="3752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67228C2A-C815-8A4E-ADBA-3E635145C9CB}"/>
                </a:ext>
              </a:extLst>
            </p:cNvPr>
            <p:cNvSpPr txBox="1"/>
            <p:nvPr/>
          </p:nvSpPr>
          <p:spPr>
            <a:xfrm>
              <a:off x="9600367" y="3179041"/>
              <a:ext cx="2583709" cy="338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C00000"/>
                  </a:solidFill>
                </a:rPr>
                <a:t>用户体验感差</a:t>
              </a:r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21BCE264-3899-4EC0-4F79-29958D4ED6D0}"/>
              </a:ext>
            </a:extLst>
          </p:cNvPr>
          <p:cNvSpPr txBox="1"/>
          <p:nvPr/>
        </p:nvSpPr>
        <p:spPr>
          <a:xfrm>
            <a:off x="6324857" y="1797672"/>
            <a:ext cx="5636846" cy="12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以大语言模型为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推理核心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，通过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规划、记忆与工具调用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三大模块与外部环境交互。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涵盖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流程编排、工具接入、知识增强与个性化记忆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的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智能体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系统为新的解决方案。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文本占位符 33">
            <a:extLst>
              <a:ext uri="{FF2B5EF4-FFF2-40B4-BE49-F238E27FC236}">
                <a16:creationId xmlns:a16="http://schemas.microsoft.com/office/drawing/2014/main" id="{16935A76-5403-8618-BABA-5FE1BA888A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39" name="文本占位符 34">
            <a:extLst>
              <a:ext uri="{FF2B5EF4-FFF2-40B4-BE49-F238E27FC236}">
                <a16:creationId xmlns:a16="http://schemas.microsoft.com/office/drawing/2014/main" id="{67FF8C4D-E7A0-D6B8-4064-7F91143B20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0" name="文本占位符 35">
            <a:extLst>
              <a:ext uri="{FF2B5EF4-FFF2-40B4-BE49-F238E27FC236}">
                <a16:creationId xmlns:a16="http://schemas.microsoft.com/office/drawing/2014/main" id="{09A683DE-1F0D-9F5F-2A45-2141A6EE29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1" name="文本占位符 36">
            <a:extLst>
              <a:ext uri="{FF2B5EF4-FFF2-40B4-BE49-F238E27FC236}">
                <a16:creationId xmlns:a16="http://schemas.microsoft.com/office/drawing/2014/main" id="{8EC0659F-1F58-A132-7F97-71ACE5A78C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2" name="文本占位符 37">
            <a:extLst>
              <a:ext uri="{FF2B5EF4-FFF2-40B4-BE49-F238E27FC236}">
                <a16:creationId xmlns:a16="http://schemas.microsoft.com/office/drawing/2014/main" id="{E1F113C4-8578-8BD1-5411-CF970FB5B5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76F05-D5D0-C066-65DD-39609E5F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B7302D0F-A719-5B5D-7909-068698298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2175" y="145486"/>
            <a:ext cx="4669901" cy="499034"/>
          </a:xfrm>
        </p:spPr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1.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研究背景与现状</a:t>
            </a:r>
          </a:p>
        </p:txBody>
      </p:sp>
      <p:sp>
        <p:nvSpPr>
          <p:cNvPr id="150" name="文本占位符 149">
            <a:extLst>
              <a:ext uri="{FF2B5EF4-FFF2-40B4-BE49-F238E27FC236}">
                <a16:creationId xmlns:a16="http://schemas.microsoft.com/office/drawing/2014/main" id="{E338790C-B495-1440-9EC9-4630849118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0" y="841320"/>
            <a:ext cx="11775311" cy="457070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研究现状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灯片编号占位符 15">
            <a:extLst>
              <a:ext uri="{FF2B5EF4-FFF2-40B4-BE49-F238E27FC236}">
                <a16:creationId xmlns:a16="http://schemas.microsoft.com/office/drawing/2014/main" id="{F6788017-5E4F-1262-6FA1-6349C60C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1496" y="6464883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fld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9D3B033-7D2C-C8E4-BA26-FD3E3F54182E}"/>
              </a:ext>
            </a:extLst>
          </p:cNvPr>
          <p:cNvSpPr/>
          <p:nvPr/>
        </p:nvSpPr>
        <p:spPr>
          <a:xfrm>
            <a:off x="248539" y="1762513"/>
            <a:ext cx="5470295" cy="2928907"/>
          </a:xfrm>
          <a:prstGeom prst="roundRect">
            <a:avLst>
              <a:gd name="adj" fmla="val 6651"/>
            </a:avLst>
          </a:prstGeom>
          <a:solidFill>
            <a:schemeClr val="accent1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B6C6CE5-C2C1-9249-8F3B-ED49762807CC}"/>
              </a:ext>
            </a:extLst>
          </p:cNvPr>
          <p:cNvSpPr txBox="1"/>
          <p:nvPr/>
        </p:nvSpPr>
        <p:spPr>
          <a:xfrm>
            <a:off x="6096000" y="1376214"/>
            <a:ext cx="5568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智能体编排框架演进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BCE2CCE-6B67-2FF1-297C-D37BE6E6509D}"/>
              </a:ext>
            </a:extLst>
          </p:cNvPr>
          <p:cNvSpPr txBox="1"/>
          <p:nvPr/>
        </p:nvSpPr>
        <p:spPr>
          <a:xfrm>
            <a:off x="269567" y="1400772"/>
            <a:ext cx="5568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大模型推理与规划</a:t>
            </a:r>
            <a:r>
              <a:rPr lang="zh-CN" altLang="en-US" sz="20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能力</a:t>
            </a:r>
            <a:endParaRPr lang="zh-CN" altLang="en-US" sz="2000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anose="00020600040101010101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35B6DF-6862-4A8B-06C7-F36CFBBA68E0}"/>
              </a:ext>
            </a:extLst>
          </p:cNvPr>
          <p:cNvSpPr txBox="1"/>
          <p:nvPr/>
        </p:nvSpPr>
        <p:spPr>
          <a:xfrm>
            <a:off x="1386351" y="4813870"/>
            <a:ext cx="32465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20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模型上下文协议</a:t>
            </a:r>
            <a:r>
              <a:rPr lang="en-US" altLang="zh-CN" sz="2000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 (MCP)</a:t>
            </a:r>
            <a:endParaRPr lang="zh-CN" altLang="en-US" sz="2000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anose="00020600040101010101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7D24911-F875-5ACD-0990-1FCBF60BF4F0}"/>
              </a:ext>
            </a:extLst>
          </p:cNvPr>
          <p:cNvSpPr/>
          <p:nvPr/>
        </p:nvSpPr>
        <p:spPr>
          <a:xfrm>
            <a:off x="248539" y="5164165"/>
            <a:ext cx="5470294" cy="1619525"/>
          </a:xfrm>
          <a:prstGeom prst="roundRect">
            <a:avLst>
              <a:gd name="adj" fmla="val 14423"/>
            </a:avLst>
          </a:prstGeom>
          <a:solidFill>
            <a:schemeClr val="accent1">
              <a:lumMod val="20000"/>
              <a:lumOff val="8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498033A-7881-5CA1-8AAD-DC676AFD166B}"/>
              </a:ext>
            </a:extLst>
          </p:cNvPr>
          <p:cNvSpPr txBox="1"/>
          <p:nvPr/>
        </p:nvSpPr>
        <p:spPr>
          <a:xfrm>
            <a:off x="259053" y="5213980"/>
            <a:ext cx="5470295" cy="1582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MCP 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协议解决了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大模型与外部工具的适配难题 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(2024)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，无需编写大量复用代码即可通用接入。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just">
              <a:lnSpc>
                <a:spcPct val="12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提供通用的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“客户端服务器”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架构，使得智能体可以像插拔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USB 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设备一样，无缝挂载地图服务，获取实时 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</a:rPr>
              <a:t>POI 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</a:rPr>
              <a:t>查询、路径规划和地理编码能力。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A27FED6-C855-7795-016C-EA6B567EE88B}"/>
              </a:ext>
            </a:extLst>
          </p:cNvPr>
          <p:cNvSpPr txBox="1"/>
          <p:nvPr/>
        </p:nvSpPr>
        <p:spPr>
          <a:xfrm>
            <a:off x="383787" y="1769943"/>
            <a:ext cx="5251644" cy="3132781"/>
          </a:xfrm>
          <a:prstGeom prst="rect">
            <a:avLst/>
          </a:prstGeom>
          <a:noFill/>
        </p:spPr>
        <p:txBody>
          <a:bodyPr wrap="square" lIns="45720" tIns="45720" rIns="45720" bIns="45720" rtlCol="0">
            <a:spAutoFit/>
          </a:bodyPr>
          <a:lstStyle/>
          <a:p>
            <a:pPr indent="-180000" algn="di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思维链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fr-FR" altLang="zh-CN" sz="1600" b="1" dirty="0">
                <a:latin typeface="+mn-ea"/>
              </a:rPr>
              <a:t>Chain-of-Thought, CoT)	</a:t>
            </a:r>
            <a:r>
              <a:rPr lang="fr-FR" altLang="zh-CN" sz="1600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Wei, 2022)</a:t>
            </a:r>
            <a:endParaRPr lang="fr-FR" altLang="zh-CN" sz="1600" b="1" dirty="0">
              <a:latin typeface="+mn-ea"/>
            </a:endParaRPr>
          </a:p>
          <a:p>
            <a:pPr indent="-180000">
              <a:lnSpc>
                <a:spcPct val="120000"/>
              </a:lnSpc>
            </a:pPr>
            <a:r>
              <a:rPr lang="zh-CN" altLang="en-US" sz="1400" dirty="0"/>
              <a:t>突破黑盒预测局限，通过提示诱导模型生成显式中间推理步骤</a:t>
            </a:r>
            <a:r>
              <a:rPr lang="zh-CN" altLang="en-US" sz="1400" dirty="0">
                <a:latin typeface="+mn-ea"/>
              </a:rPr>
              <a:t>。</a:t>
            </a:r>
            <a:endParaRPr lang="en-US" altLang="zh-CN" sz="1400" dirty="0">
              <a:latin typeface="+mn-ea"/>
            </a:endParaRPr>
          </a:p>
          <a:p>
            <a:pPr indent="-180000" algn="di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fr-FR" altLang="zh-CN" sz="1600" b="1" dirty="0">
                <a:latin typeface="+mn-ea"/>
              </a:rPr>
              <a:t>ReAct </a:t>
            </a:r>
            <a:r>
              <a:rPr lang="zh-CN" altLang="en-US" sz="1600" b="1" dirty="0">
                <a:latin typeface="+mn-ea"/>
              </a:rPr>
              <a:t>框架                                             </a:t>
            </a:r>
            <a:r>
              <a:rPr lang="en-US" altLang="zh-CN" sz="1600" b="1" dirty="0">
                <a:latin typeface="+mn-ea"/>
              </a:rPr>
              <a:t>(Yao, 2023)</a:t>
            </a:r>
            <a:endParaRPr lang="zh-CN" altLang="en-US" sz="1600" b="1" dirty="0">
              <a:latin typeface="+mn-ea"/>
            </a:endParaRPr>
          </a:p>
          <a:p>
            <a:pPr indent="-180000">
              <a:lnSpc>
                <a:spcPct val="120000"/>
              </a:lnSpc>
            </a:pPr>
            <a:r>
              <a:rPr lang="zh-CN" altLang="en-US" sz="1400" dirty="0"/>
              <a:t>融合推理与行动，让模型交替思考、调用工具，并基于结果迭代推理</a:t>
            </a:r>
            <a:r>
              <a:rPr lang="zh-CN" altLang="en-US" sz="1400" dirty="0">
                <a:latin typeface="+mn-ea"/>
              </a:rPr>
              <a:t>。</a:t>
            </a:r>
            <a:endParaRPr lang="en-US" altLang="zh-CN" sz="1400" dirty="0">
              <a:latin typeface="+mn-ea"/>
            </a:endParaRPr>
          </a:p>
          <a:p>
            <a:pPr indent="-180000" algn="di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计划与求解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fr-FR" altLang="zh-CN" sz="1600" b="1" dirty="0">
                <a:latin typeface="+mn-ea"/>
              </a:rPr>
              <a:t>Plan-and-Solve)             (Wang, 2023)</a:t>
            </a:r>
          </a:p>
          <a:p>
            <a:pPr indent="-180000">
              <a:lnSpc>
                <a:spcPct val="120000"/>
              </a:lnSpc>
            </a:pPr>
            <a:r>
              <a:rPr lang="zh-CN" altLang="en-US" sz="1400" dirty="0"/>
              <a:t>针对 </a:t>
            </a:r>
            <a:r>
              <a:rPr lang="en-US" altLang="zh-CN" sz="1400" dirty="0" err="1"/>
              <a:t>CoT</a:t>
            </a:r>
            <a:r>
              <a:rPr lang="en-US" altLang="zh-CN" sz="1400" dirty="0"/>
              <a:t> </a:t>
            </a:r>
            <a:r>
              <a:rPr lang="zh-CN" altLang="en-US" sz="1400" dirty="0"/>
              <a:t>长推理链易出错的问题，提出先全局规划，再分步执行的范式。</a:t>
            </a:r>
            <a:endParaRPr lang="en-US" altLang="zh-CN" sz="1400" dirty="0">
              <a:latin typeface="+mn-ea"/>
            </a:endParaRPr>
          </a:p>
          <a:p>
            <a:pPr indent="-1800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反思机制（</a:t>
            </a:r>
            <a:r>
              <a:rPr lang="en-US" altLang="zh-CN" sz="1600" b="1" dirty="0" err="1">
                <a:latin typeface="+mn-ea"/>
              </a:rPr>
              <a:t>Reflexion</a:t>
            </a:r>
            <a:r>
              <a:rPr lang="zh-CN" altLang="en-US" sz="1600" b="1" dirty="0">
                <a:latin typeface="+mn-ea"/>
              </a:rPr>
              <a:t>）                       </a:t>
            </a:r>
            <a:r>
              <a:rPr lang="en-US" altLang="zh-CN" sz="1600" b="1" dirty="0">
                <a:latin typeface="+mn-ea"/>
              </a:rPr>
              <a:t>(Shinn, 2024)</a:t>
            </a:r>
          </a:p>
          <a:p>
            <a:pPr indent="-180000">
              <a:lnSpc>
                <a:spcPct val="120000"/>
              </a:lnSpc>
            </a:pPr>
            <a:r>
              <a:rPr lang="zh-CN" altLang="en-US" sz="1400" dirty="0"/>
              <a:t>引入语言化反思评估，让智能体沉淀经验，实现无需权重更新的自我修正。</a:t>
            </a:r>
            <a:endParaRPr lang="zh-CN" altLang="en-US" sz="1400" dirty="0">
              <a:latin typeface="+mn-ea"/>
            </a:endParaRPr>
          </a:p>
        </p:txBody>
      </p:sp>
      <p:graphicFrame>
        <p:nvGraphicFramePr>
          <p:cNvPr id="63" name="表格 62">
            <a:extLst>
              <a:ext uri="{FF2B5EF4-FFF2-40B4-BE49-F238E27FC236}">
                <a16:creationId xmlns:a16="http://schemas.microsoft.com/office/drawing/2014/main" id="{7F31D4BB-C994-E5BB-3EDF-728DF2D4B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539324"/>
              </p:ext>
            </p:extLst>
          </p:nvPr>
        </p:nvGraphicFramePr>
        <p:xfrm>
          <a:off x="6096000" y="1800882"/>
          <a:ext cx="5712212" cy="22197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254550">
                  <a:extLst>
                    <a:ext uri="{9D8B030D-6E8A-4147-A177-3AD203B41FA5}">
                      <a16:colId xmlns:a16="http://schemas.microsoft.com/office/drawing/2014/main" val="648223015"/>
                    </a:ext>
                  </a:extLst>
                </a:gridCol>
                <a:gridCol w="1646872">
                  <a:extLst>
                    <a:ext uri="{9D8B030D-6E8A-4147-A177-3AD203B41FA5}">
                      <a16:colId xmlns:a16="http://schemas.microsoft.com/office/drawing/2014/main" val="2310609724"/>
                    </a:ext>
                  </a:extLst>
                </a:gridCol>
                <a:gridCol w="2810790">
                  <a:extLst>
                    <a:ext uri="{9D8B030D-6E8A-4147-A177-3AD203B41FA5}">
                      <a16:colId xmlns:a16="http://schemas.microsoft.com/office/drawing/2014/main" val="3786408280"/>
                    </a:ext>
                  </a:extLst>
                </a:gridCol>
              </a:tblGrid>
              <a:tr h="2792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框架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rgbClr val="2E55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effectLst/>
                          <a:latin typeface="ui-sans-serif"/>
                        </a:rPr>
                        <a:t>特点</a:t>
                      </a:r>
                    </a:p>
                  </a:txBody>
                  <a:tcPr anchor="ctr">
                    <a:solidFill>
                      <a:srgbClr val="2E55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bg1"/>
                          </a:solidFill>
                          <a:effectLst/>
                        </a:rPr>
                        <a:t>核心优势</a:t>
                      </a:r>
                      <a:endParaRPr lang="zh-CN" altLang="en-US" sz="1400" b="1" dirty="0">
                        <a:solidFill>
                          <a:schemeClr val="bg1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rgbClr val="2E55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773263"/>
                  </a:ext>
                </a:extLst>
              </a:tr>
              <a:tr h="2792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fr-FR" sz="1400" b="0" dirty="0">
                          <a:solidFill>
                            <a:srgbClr val="000000"/>
                          </a:solidFill>
                          <a:effectLst/>
                        </a:rPr>
                        <a:t>LangChain</a:t>
                      </a:r>
                      <a:endParaRPr lang="fr-FR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fr-FR" sz="1400" b="0" dirty="0">
                          <a:solidFill>
                            <a:srgbClr val="000000"/>
                          </a:solidFill>
                          <a:effectLst/>
                        </a:rPr>
                        <a:t>LLM </a:t>
                      </a: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effectLst/>
                        </a:rPr>
                        <a:t>应用编排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effectLst/>
                        </a:rPr>
                        <a:t>工具链灵活，生态完善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811663"/>
                  </a:ext>
                </a:extLst>
              </a:tr>
              <a:tr h="2792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fr-FR" sz="1400" b="0" dirty="0">
                          <a:solidFill>
                            <a:srgbClr val="000000"/>
                          </a:solidFill>
                          <a:effectLst/>
                        </a:rPr>
                        <a:t>AutoGen</a:t>
                      </a:r>
                      <a:endParaRPr lang="fr-FR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effectLst/>
                        </a:rPr>
                        <a:t>多智能体对话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effectLst/>
                        </a:rPr>
                        <a:t>角色交互，对话管理强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5699196"/>
                  </a:ext>
                </a:extLst>
              </a:tr>
              <a:tr h="2792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fr-FR" sz="1400" b="0" dirty="0">
                          <a:solidFill>
                            <a:srgbClr val="000000"/>
                          </a:solidFill>
                          <a:effectLst/>
                        </a:rPr>
                        <a:t>CrewAI</a:t>
                      </a:r>
                      <a:endParaRPr lang="fr-FR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effectLst/>
                        </a:rPr>
                        <a:t>多角色团队协作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effectLst/>
                        </a:rPr>
                        <a:t>模拟组织化分工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248789"/>
                  </a:ext>
                </a:extLst>
              </a:tr>
              <a:tr h="482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fr-FR" sz="1400" b="0" dirty="0">
                          <a:solidFill>
                            <a:srgbClr val="000000"/>
                          </a:solidFill>
                          <a:effectLst/>
                        </a:rPr>
                        <a:t>Semantic Kernel</a:t>
                      </a:r>
                      <a:endParaRPr lang="fr-FR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effectLst/>
                        </a:rPr>
                        <a:t>企业级集成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effectLst/>
                        </a:rPr>
                        <a:t>安全合规性好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704037"/>
                  </a:ext>
                </a:extLst>
              </a:tr>
              <a:tr h="4823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fr-FR" sz="1400" b="0" dirty="0">
                          <a:solidFill>
                            <a:srgbClr val="000000"/>
                          </a:solidFill>
                          <a:effectLst/>
                        </a:rPr>
                        <a:t>LangGraph</a:t>
                      </a:r>
                      <a:endParaRPr lang="fr-FR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effectLst/>
                        </a:rPr>
                        <a:t>状态工作流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400" b="0" dirty="0">
                          <a:solidFill>
                            <a:srgbClr val="000000"/>
                          </a:solidFill>
                          <a:effectLst/>
                        </a:rPr>
                        <a:t>状态图建模，支持并行与容错</a:t>
                      </a:r>
                      <a:endParaRPr lang="zh-CN" altLang="en-US" sz="1400" b="0" dirty="0">
                        <a:solidFill>
                          <a:srgbClr val="000000"/>
                        </a:solidFill>
                        <a:effectLst/>
                        <a:latin typeface="ui-sans-serif"/>
                      </a:endParaRPr>
                    </a:p>
                  </a:txBody>
                  <a:tcPr anchor="ctr"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997037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39871F1-E404-BDF3-1C0E-3180889F17BC}"/>
              </a:ext>
            </a:extLst>
          </p:cNvPr>
          <p:cNvSpPr txBox="1"/>
          <p:nvPr/>
        </p:nvSpPr>
        <p:spPr>
          <a:xfrm>
            <a:off x="6096000" y="4107357"/>
            <a:ext cx="5568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现有研究的不足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793B7B3-0CF3-FFC1-4DEF-62CE5EECBBEB}"/>
              </a:ext>
            </a:extLst>
          </p:cNvPr>
          <p:cNvSpPr/>
          <p:nvPr/>
        </p:nvSpPr>
        <p:spPr>
          <a:xfrm>
            <a:off x="6096000" y="4507467"/>
            <a:ext cx="5771320" cy="2219700"/>
          </a:xfrm>
          <a:prstGeom prst="roundRect">
            <a:avLst>
              <a:gd name="adj" fmla="val 7169"/>
            </a:avLst>
          </a:prstGeom>
          <a:solidFill>
            <a:srgbClr val="FAF8B4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3D1F65-6BB1-B5BA-0E3C-9BF412704BCC}"/>
              </a:ext>
            </a:extLst>
          </p:cNvPr>
          <p:cNvSpPr txBox="1"/>
          <p:nvPr/>
        </p:nvSpPr>
        <p:spPr>
          <a:xfrm>
            <a:off x="6096000" y="4469503"/>
            <a:ext cx="5781834" cy="2295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lnSpc>
                <a:spcPct val="125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/>
              <a:t>工作流编排与状态管理：</a:t>
            </a:r>
            <a:r>
              <a:rPr lang="zh-CN" altLang="en-US" sz="1400" dirty="0"/>
              <a:t>多采用链式调用，缺乏显式状态管理</a:t>
            </a:r>
            <a:endParaRPr lang="en-US" altLang="zh-CN" sz="1600" dirty="0"/>
          </a:p>
          <a:p>
            <a:pPr marL="180000" indent="-180000">
              <a:lnSpc>
                <a:spcPct val="125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/>
              <a:t>空间与组合推理：</a:t>
            </a:r>
            <a:r>
              <a:rPr lang="en-US" altLang="zh-CN" sz="1400" dirty="0"/>
              <a:t>LLM</a:t>
            </a:r>
            <a:r>
              <a:rPr lang="zh-CN" altLang="en-US" sz="1400" dirty="0"/>
              <a:t>存在地理幻觉，现有研究未涉及多日跨城、多模式交通衔接的场景</a:t>
            </a:r>
            <a:endParaRPr lang="en-US" altLang="zh-CN" sz="1600" dirty="0"/>
          </a:p>
          <a:p>
            <a:pPr marL="180000" indent="-180000">
              <a:lnSpc>
                <a:spcPct val="125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/>
              <a:t>异构工具集成调用：</a:t>
            </a:r>
            <a:r>
              <a:rPr lang="zh-CN" altLang="zh-CN" sz="1400" dirty="0"/>
              <a:t>多来源旅游数据</a:t>
            </a:r>
            <a:r>
              <a:rPr lang="zh-CN" altLang="en-US" sz="1400" dirty="0"/>
              <a:t>的统一封装与处理研究较少</a:t>
            </a:r>
            <a:endParaRPr lang="en-US" altLang="zh-CN" sz="1600" b="1" dirty="0"/>
          </a:p>
          <a:p>
            <a:pPr marL="180000" indent="-180000">
              <a:lnSpc>
                <a:spcPct val="125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600" b="1" dirty="0"/>
              <a:t>领域知识</a:t>
            </a:r>
            <a:r>
              <a:rPr lang="zh-CN" altLang="en-US" sz="1600" b="1" dirty="0"/>
              <a:t>注入：</a:t>
            </a:r>
            <a:r>
              <a:rPr lang="zh-CN" altLang="en-US" sz="1400" dirty="0"/>
              <a:t>主流思路主要面向开放域问答，缺乏旅游场景的</a:t>
            </a:r>
            <a:r>
              <a:rPr lang="zh-CN" altLang="zh-CN" sz="1400" dirty="0"/>
              <a:t>协同检索机制</a:t>
            </a:r>
            <a:endParaRPr lang="en-US" altLang="zh-CN" sz="1400" dirty="0"/>
          </a:p>
          <a:p>
            <a:pPr marL="180000" indent="-180000">
              <a:lnSpc>
                <a:spcPct val="125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/>
              <a:t>跨会话个性化：</a:t>
            </a:r>
            <a:r>
              <a:rPr lang="zh-CN" altLang="en-US" sz="1400" dirty="0"/>
              <a:t>现有方案未涉及</a:t>
            </a:r>
            <a:r>
              <a:rPr lang="zh-CN" altLang="zh-CN" sz="1400" dirty="0"/>
              <a:t>跨会话的偏好提取，长期存储</a:t>
            </a:r>
            <a:endParaRPr lang="en-US" altLang="zh-CN" sz="1400" dirty="0"/>
          </a:p>
        </p:txBody>
      </p:sp>
      <p:sp>
        <p:nvSpPr>
          <p:cNvPr id="40" name="文本占位符 33">
            <a:extLst>
              <a:ext uri="{FF2B5EF4-FFF2-40B4-BE49-F238E27FC236}">
                <a16:creationId xmlns:a16="http://schemas.microsoft.com/office/drawing/2014/main" id="{D3D633F8-77AD-37A9-A8EE-79B8BAE4A0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1" name="文本占位符 34">
            <a:extLst>
              <a:ext uri="{FF2B5EF4-FFF2-40B4-BE49-F238E27FC236}">
                <a16:creationId xmlns:a16="http://schemas.microsoft.com/office/drawing/2014/main" id="{9BE3ED48-5492-1B9E-D6AE-11DB45BF57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2" name="文本占位符 35">
            <a:extLst>
              <a:ext uri="{FF2B5EF4-FFF2-40B4-BE49-F238E27FC236}">
                <a16:creationId xmlns:a16="http://schemas.microsoft.com/office/drawing/2014/main" id="{849C43E8-0A0E-20EC-2331-24E5144ED4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3" name="文本占位符 36">
            <a:extLst>
              <a:ext uri="{FF2B5EF4-FFF2-40B4-BE49-F238E27FC236}">
                <a16:creationId xmlns:a16="http://schemas.microsoft.com/office/drawing/2014/main" id="{E68F7454-AD73-4333-D512-713A11D39E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4" name="文本占位符 37">
            <a:extLst>
              <a:ext uri="{FF2B5EF4-FFF2-40B4-BE49-F238E27FC236}">
                <a16:creationId xmlns:a16="http://schemas.microsoft.com/office/drawing/2014/main" id="{3749F8F8-FDD4-FEC3-2136-891E4DEA4F7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</p:spTree>
    <p:extLst>
      <p:ext uri="{BB962C8B-B14F-4D97-AF65-F5344CB8AC3E}">
        <p14:creationId xmlns:p14="http://schemas.microsoft.com/office/powerpoint/2010/main" val="3079703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87ADA-F5C3-D0EA-7720-E0BB6AF3E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39F0797-934C-B422-A649-530780CED9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技术基础</a:t>
            </a:r>
          </a:p>
        </p:txBody>
      </p:sp>
      <p:sp>
        <p:nvSpPr>
          <p:cNvPr id="25" name="文本占位符 149">
            <a:extLst>
              <a:ext uri="{FF2B5EF4-FFF2-40B4-BE49-F238E27FC236}">
                <a16:creationId xmlns:a16="http://schemas.microsoft.com/office/drawing/2014/main" id="{313FCBF7-F548-E796-EE34-A86E590ABB7A}"/>
              </a:ext>
            </a:extLst>
          </p:cNvPr>
          <p:cNvSpPr txBox="1">
            <a:spLocks/>
          </p:cNvSpPr>
          <p:nvPr/>
        </p:nvSpPr>
        <p:spPr>
          <a:xfrm>
            <a:off x="0" y="828631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关键技术基础与理论框架</a:t>
            </a:r>
          </a:p>
        </p:txBody>
      </p:sp>
      <p:sp>
        <p:nvSpPr>
          <p:cNvPr id="31" name="文本占位符 33">
            <a:extLst>
              <a:ext uri="{FF2B5EF4-FFF2-40B4-BE49-F238E27FC236}">
                <a16:creationId xmlns:a16="http://schemas.microsoft.com/office/drawing/2014/main" id="{CA9C09C7-4F4A-CDA8-2C6B-60D08FAEE0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32" name="文本占位符 34">
            <a:extLst>
              <a:ext uri="{FF2B5EF4-FFF2-40B4-BE49-F238E27FC236}">
                <a16:creationId xmlns:a16="http://schemas.microsoft.com/office/drawing/2014/main" id="{F579A79E-3F35-AB03-B9F2-01A54BF8CE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38" name="文本占位符 35">
            <a:extLst>
              <a:ext uri="{FF2B5EF4-FFF2-40B4-BE49-F238E27FC236}">
                <a16:creationId xmlns:a16="http://schemas.microsoft.com/office/drawing/2014/main" id="{7BFE2963-82A1-2108-54CE-30225B209D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39" name="文本占位符 36">
            <a:extLst>
              <a:ext uri="{FF2B5EF4-FFF2-40B4-BE49-F238E27FC236}">
                <a16:creationId xmlns:a16="http://schemas.microsoft.com/office/drawing/2014/main" id="{42EC65B3-4106-0CFA-D5C1-F035EA7987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0" name="文本占位符 37">
            <a:extLst>
              <a:ext uri="{FF2B5EF4-FFF2-40B4-BE49-F238E27FC236}">
                <a16:creationId xmlns:a16="http://schemas.microsoft.com/office/drawing/2014/main" id="{045664DE-D86A-FFD5-B5D1-6604571E9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CD0D959-7394-8DD9-5100-0E0313EB1CFD}"/>
              </a:ext>
            </a:extLst>
          </p:cNvPr>
          <p:cNvGrpSpPr/>
          <p:nvPr/>
        </p:nvGrpSpPr>
        <p:grpSpPr>
          <a:xfrm>
            <a:off x="403666" y="1553003"/>
            <a:ext cx="5446922" cy="2412138"/>
            <a:chOff x="384649" y="1614855"/>
            <a:chExt cx="5446922" cy="2412138"/>
          </a:xfrm>
        </p:grpSpPr>
        <p:sp>
          <p:nvSpPr>
            <p:cNvPr id="15" name="圆角矩形 45">
              <a:extLst>
                <a:ext uri="{FF2B5EF4-FFF2-40B4-BE49-F238E27FC236}">
                  <a16:creationId xmlns:a16="http://schemas.microsoft.com/office/drawing/2014/main" id="{883E6AF5-8CB7-4406-A571-4649CB34C96F}"/>
                </a:ext>
              </a:extLst>
            </p:cNvPr>
            <p:cNvSpPr/>
            <p:nvPr/>
          </p:nvSpPr>
          <p:spPr>
            <a:xfrm>
              <a:off x="384649" y="1614855"/>
              <a:ext cx="5446922" cy="2412138"/>
            </a:xfrm>
            <a:prstGeom prst="roundRect">
              <a:avLst>
                <a:gd name="adj" fmla="val 5048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schemeClr val="accent1">
                  <a:alpha val="21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0" name="文本框 33">
              <a:extLst>
                <a:ext uri="{FF2B5EF4-FFF2-40B4-BE49-F238E27FC236}">
                  <a16:creationId xmlns:a16="http://schemas.microsoft.com/office/drawing/2014/main" id="{CF9EA4BA-A20A-924A-83EC-B8B6D821AEA4}"/>
                </a:ext>
              </a:extLst>
            </p:cNvPr>
            <p:cNvSpPr txBox="1"/>
            <p:nvPr/>
          </p:nvSpPr>
          <p:spPr>
            <a:xfrm>
              <a:off x="831188" y="2335261"/>
              <a:ext cx="4957143" cy="138820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700"/>
                </a:lnSpc>
              </a:pPr>
              <a:r>
                <a:rPr lang="zh-CN" altLang="zh-CN" sz="1400" dirty="0"/>
                <a:t>能够感知环境、自主决策并行动以达成目标的计算实体，以大语言模型为认知核心，借助工具调用形成</a:t>
              </a:r>
              <a:r>
                <a:rPr lang="zh-CN" altLang="en-US" sz="1400" dirty="0"/>
                <a:t>“</a:t>
              </a:r>
              <a:r>
                <a:rPr lang="zh-CN" altLang="zh-CN" sz="1400" dirty="0"/>
                <a:t>生成—执行—观察</a:t>
              </a:r>
              <a:r>
                <a:rPr lang="zh-CN" altLang="en-US" sz="1400" dirty="0"/>
                <a:t>”</a:t>
              </a:r>
              <a:r>
                <a:rPr lang="zh-CN" altLang="zh-CN" sz="1400" dirty="0"/>
                <a:t> 闭环。</a:t>
              </a:r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由规划、记忆、工具、行动四类模块构成</a:t>
              </a:r>
              <a:r>
                <a:rPr lang="zh-CN" altLang="en-US" sz="1400" dirty="0"/>
                <a:t>；</a:t>
              </a:r>
              <a:endParaRPr lang="zh-CN" altLang="zh-CN" sz="1400" dirty="0"/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规划范式包括 ReAct、Plan-and-Execute 与反思机制</a:t>
              </a:r>
              <a:r>
                <a:rPr lang="zh-CN" altLang="en-US" sz="1400" dirty="0"/>
                <a:t>；</a:t>
              </a:r>
              <a:endParaRPr lang="zh-CN" altLang="zh-CN" sz="1400" dirty="0"/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记忆区分维护任务状态的短期记忆与沉淀偏好的长期记忆</a:t>
              </a:r>
              <a:r>
                <a:rPr lang="zh-CN" altLang="en-US" sz="1400" dirty="0"/>
                <a:t>。</a:t>
              </a:r>
              <a:endParaRPr lang="zh-CN" altLang="zh-CN" sz="1400" dirty="0"/>
            </a:p>
          </p:txBody>
        </p:sp>
        <p:sp>
          <p:nvSpPr>
            <p:cNvPr id="22" name="文本框 34">
              <a:extLst>
                <a:ext uri="{FF2B5EF4-FFF2-40B4-BE49-F238E27FC236}">
                  <a16:creationId xmlns:a16="http://schemas.microsoft.com/office/drawing/2014/main" id="{53C71844-4EBF-953E-9221-6E3981D4DB2C}"/>
                </a:ext>
              </a:extLst>
            </p:cNvPr>
            <p:cNvSpPr txBox="1"/>
            <p:nvPr/>
          </p:nvSpPr>
          <p:spPr>
            <a:xfrm>
              <a:off x="1420762" y="1899624"/>
              <a:ext cx="3445032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b="1" dirty="0"/>
                <a:t>AI</a:t>
              </a:r>
              <a:r>
                <a:rPr lang="zh-CN" altLang="zh-CN" b="1" dirty="0"/>
                <a:t>智能体核心理论与架构</a:t>
              </a:r>
            </a:p>
          </p:txBody>
        </p:sp>
        <p:sp>
          <p:nvSpPr>
            <p:cNvPr id="23" name="文本框 47">
              <a:extLst>
                <a:ext uri="{FF2B5EF4-FFF2-40B4-BE49-F238E27FC236}">
                  <a16:creationId xmlns:a16="http://schemas.microsoft.com/office/drawing/2014/main" id="{7B46581B-FF2A-B75A-33BD-187788D7CC4B}"/>
                </a:ext>
              </a:extLst>
            </p:cNvPr>
            <p:cNvSpPr txBox="1"/>
            <p:nvPr/>
          </p:nvSpPr>
          <p:spPr>
            <a:xfrm>
              <a:off x="790231" y="1759452"/>
              <a:ext cx="1374329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ln>
                    <a:solidFill>
                      <a:schemeClr val="accent1"/>
                    </a:solidFill>
                  </a:ln>
                  <a:solidFill>
                    <a:schemeClr val="accent2">
                      <a:lumMod val="20000"/>
                      <a:lumOff val="80000"/>
                    </a:schemeClr>
                  </a:solidFill>
                  <a:effectLst/>
                  <a:latin typeface="+mj-ea"/>
                  <a:ea typeface="+mj-ea"/>
                  <a:sym typeface="+mn-ea"/>
                </a:rPr>
                <a:t>01</a:t>
              </a:r>
            </a:p>
          </p:txBody>
        </p:sp>
        <p:sp>
          <p:nvSpPr>
            <p:cNvPr id="24" name="圆角矩形 32">
              <a:extLst>
                <a:ext uri="{FF2B5EF4-FFF2-40B4-BE49-F238E27FC236}">
                  <a16:creationId xmlns:a16="http://schemas.microsoft.com/office/drawing/2014/main" id="{274699CA-7BF2-1451-0277-9074E3B0D3A5}"/>
                </a:ext>
              </a:extLst>
            </p:cNvPr>
            <p:cNvSpPr/>
            <p:nvPr/>
          </p:nvSpPr>
          <p:spPr>
            <a:xfrm rot="5400000">
              <a:off x="-394688" y="2623477"/>
              <a:ext cx="2101428" cy="24610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57300">
                  <a:schemeClr val="accent2"/>
                </a:gs>
                <a:gs pos="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A683DAC-5282-5D22-F67E-655A541A297E}"/>
              </a:ext>
            </a:extLst>
          </p:cNvPr>
          <p:cNvGrpSpPr/>
          <p:nvPr/>
        </p:nvGrpSpPr>
        <p:grpSpPr>
          <a:xfrm>
            <a:off x="6179886" y="1555825"/>
            <a:ext cx="5446922" cy="2412138"/>
            <a:chOff x="384649" y="1614855"/>
            <a:chExt cx="5446922" cy="2412138"/>
          </a:xfrm>
        </p:grpSpPr>
        <p:sp>
          <p:nvSpPr>
            <p:cNvPr id="30" name="圆角矩形 45">
              <a:extLst>
                <a:ext uri="{FF2B5EF4-FFF2-40B4-BE49-F238E27FC236}">
                  <a16:creationId xmlns:a16="http://schemas.microsoft.com/office/drawing/2014/main" id="{E1805FC5-203D-D787-D0CB-2F5958EDF315}"/>
                </a:ext>
              </a:extLst>
            </p:cNvPr>
            <p:cNvSpPr/>
            <p:nvPr/>
          </p:nvSpPr>
          <p:spPr>
            <a:xfrm>
              <a:off x="384649" y="1614855"/>
              <a:ext cx="5446922" cy="2412138"/>
            </a:xfrm>
            <a:prstGeom prst="roundRect">
              <a:avLst>
                <a:gd name="adj" fmla="val 5048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schemeClr val="accent1">
                  <a:alpha val="21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6D08A04-B5A1-B5BF-32F8-AEA1D18D4E8E}"/>
                </a:ext>
              </a:extLst>
            </p:cNvPr>
            <p:cNvSpPr txBox="1"/>
            <p:nvPr/>
          </p:nvSpPr>
          <p:spPr>
            <a:xfrm>
              <a:off x="831188" y="2266134"/>
              <a:ext cx="4945882" cy="138499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700"/>
                </a:lnSpc>
              </a:pPr>
              <a:r>
                <a:rPr lang="zh-CN" altLang="zh-CN" sz="1400" dirty="0"/>
                <a:t>LangChain 团队 2024 年开源的工作流编排框架，将智能体流程建模为携带类型化共享状态的有向图，原生支持条件分支、并行扇出与循环重试。</a:t>
              </a:r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三大抽象：状态（State）、节点（Node）、边（Edge）</a:t>
              </a:r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状态经归并器增量合并，支持并行节点安全写入</a:t>
              </a:r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检查点持久化，支持中断恢复与跨会话续接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5ACF0C1-556C-CCF8-EB66-965A7755D3EF}"/>
                </a:ext>
              </a:extLst>
            </p:cNvPr>
            <p:cNvSpPr txBox="1"/>
            <p:nvPr/>
          </p:nvSpPr>
          <p:spPr>
            <a:xfrm>
              <a:off x="1420762" y="1899624"/>
              <a:ext cx="3445032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b="1" dirty="0" err="1"/>
                <a:t>LangGraph</a:t>
              </a:r>
              <a:r>
                <a:rPr lang="en-US" altLang="zh-CN" b="1" dirty="0"/>
                <a:t> </a:t>
              </a:r>
              <a:r>
                <a:rPr lang="zh-CN" altLang="zh-CN" b="1" dirty="0"/>
                <a:t>工作流编排框架</a:t>
              </a:r>
              <a:endParaRPr lang="zh-CN" altLang="en-US" b="1" dirty="0">
                <a:sym typeface="+mn-ea"/>
              </a:endParaRPr>
            </a:p>
          </p:txBody>
        </p:sp>
        <p:sp>
          <p:nvSpPr>
            <p:cNvPr id="36" name="文本框 47">
              <a:extLst>
                <a:ext uri="{FF2B5EF4-FFF2-40B4-BE49-F238E27FC236}">
                  <a16:creationId xmlns:a16="http://schemas.microsoft.com/office/drawing/2014/main" id="{A9E1BB1B-7152-6D7F-6B8D-E00B5FCEEA63}"/>
                </a:ext>
              </a:extLst>
            </p:cNvPr>
            <p:cNvSpPr txBox="1"/>
            <p:nvPr/>
          </p:nvSpPr>
          <p:spPr>
            <a:xfrm>
              <a:off x="790231" y="1759452"/>
              <a:ext cx="1374329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ln>
                    <a:solidFill>
                      <a:schemeClr val="accent1"/>
                    </a:solidFill>
                  </a:ln>
                  <a:solidFill>
                    <a:schemeClr val="accent2">
                      <a:lumMod val="20000"/>
                      <a:lumOff val="80000"/>
                    </a:schemeClr>
                  </a:solidFill>
                  <a:effectLst/>
                  <a:latin typeface="+mj-ea"/>
                  <a:ea typeface="+mj-ea"/>
                  <a:sym typeface="+mn-ea"/>
                </a:rPr>
                <a:t>02</a:t>
              </a:r>
            </a:p>
          </p:txBody>
        </p:sp>
        <p:sp>
          <p:nvSpPr>
            <p:cNvPr id="37" name="圆角矩形 32">
              <a:extLst>
                <a:ext uri="{FF2B5EF4-FFF2-40B4-BE49-F238E27FC236}">
                  <a16:creationId xmlns:a16="http://schemas.microsoft.com/office/drawing/2014/main" id="{F0CA4D1B-4FC8-8E16-8E16-132FAC210841}"/>
                </a:ext>
              </a:extLst>
            </p:cNvPr>
            <p:cNvSpPr/>
            <p:nvPr/>
          </p:nvSpPr>
          <p:spPr>
            <a:xfrm rot="5400000">
              <a:off x="-394688" y="2623477"/>
              <a:ext cx="2101428" cy="24610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57300">
                  <a:schemeClr val="accent2"/>
                </a:gs>
                <a:gs pos="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A91DFCF9-C6D6-8EDA-0EDD-1E27A253C4B3}"/>
              </a:ext>
            </a:extLst>
          </p:cNvPr>
          <p:cNvGrpSpPr/>
          <p:nvPr/>
        </p:nvGrpSpPr>
        <p:grpSpPr>
          <a:xfrm>
            <a:off x="403666" y="4217064"/>
            <a:ext cx="5446922" cy="2412138"/>
            <a:chOff x="384649" y="1614855"/>
            <a:chExt cx="5446922" cy="2412138"/>
          </a:xfrm>
        </p:grpSpPr>
        <p:sp>
          <p:nvSpPr>
            <p:cNvPr id="42" name="圆角矩形 45">
              <a:extLst>
                <a:ext uri="{FF2B5EF4-FFF2-40B4-BE49-F238E27FC236}">
                  <a16:creationId xmlns:a16="http://schemas.microsoft.com/office/drawing/2014/main" id="{E5896761-FF6A-1CAD-39CC-D802F7A4B093}"/>
                </a:ext>
              </a:extLst>
            </p:cNvPr>
            <p:cNvSpPr/>
            <p:nvPr/>
          </p:nvSpPr>
          <p:spPr>
            <a:xfrm>
              <a:off x="384649" y="1614855"/>
              <a:ext cx="5446922" cy="2412138"/>
            </a:xfrm>
            <a:prstGeom prst="roundRect">
              <a:avLst>
                <a:gd name="adj" fmla="val 5048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schemeClr val="accent1">
                  <a:alpha val="21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3" name="文本框 33">
              <a:extLst>
                <a:ext uri="{FF2B5EF4-FFF2-40B4-BE49-F238E27FC236}">
                  <a16:creationId xmlns:a16="http://schemas.microsoft.com/office/drawing/2014/main" id="{7F61F59D-624B-7E5D-9733-0EA44ADD3E9E}"/>
                </a:ext>
              </a:extLst>
            </p:cNvPr>
            <p:cNvSpPr txBox="1"/>
            <p:nvPr/>
          </p:nvSpPr>
          <p:spPr>
            <a:xfrm>
              <a:off x="790231" y="2265012"/>
              <a:ext cx="4887978" cy="160043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700"/>
                </a:lnSpc>
              </a:pPr>
              <a:r>
                <a:rPr lang="zh-CN" altLang="zh-CN" sz="1400" dirty="0"/>
                <a:t>Anthropic 2024 年提出的开放协议，以独立协议层解耦工具的定义、发现与调用，解决 Function Calling 工具与应用强耦合、跨厂商不统一的问题。</a:t>
              </a:r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采用客户端—服务器架构，二者物理隔离</a:t>
              </a:r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支持 STDIO与</a:t>
              </a:r>
              <a:r>
                <a:rPr lang="en-US" altLang="zh-CN" sz="1400" dirty="0"/>
                <a:t> </a:t>
              </a:r>
              <a:r>
                <a:rPr lang="zh-CN" altLang="zh-CN" sz="1400" dirty="0"/>
                <a:t> SSE</a:t>
              </a:r>
              <a:r>
                <a:rPr lang="en-US" altLang="zh-CN" sz="1400" dirty="0"/>
                <a:t> </a:t>
              </a:r>
              <a:r>
                <a:rPr lang="zh-CN" altLang="zh-CN" sz="1400" dirty="0"/>
                <a:t>两种传输</a:t>
              </a:r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较 Function Calling 在解耦度、跨平台复用与 token 开销上更优</a:t>
              </a:r>
            </a:p>
          </p:txBody>
        </p:sp>
        <p:sp>
          <p:nvSpPr>
            <p:cNvPr id="44" name="文本框 34">
              <a:extLst>
                <a:ext uri="{FF2B5EF4-FFF2-40B4-BE49-F238E27FC236}">
                  <a16:creationId xmlns:a16="http://schemas.microsoft.com/office/drawing/2014/main" id="{A28515A1-00EF-7764-E033-4E1AB0DE496F}"/>
                </a:ext>
              </a:extLst>
            </p:cNvPr>
            <p:cNvSpPr txBox="1"/>
            <p:nvPr/>
          </p:nvSpPr>
          <p:spPr>
            <a:xfrm>
              <a:off x="1420762" y="1899624"/>
              <a:ext cx="3445032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/>
              <a:r>
                <a:rPr lang="en-US" altLang="zh-CN" b="1" dirty="0"/>
                <a:t>MCP </a:t>
              </a:r>
              <a:r>
                <a:rPr lang="zh-CN" altLang="zh-CN" b="1" dirty="0"/>
                <a:t>工具调用协议</a:t>
              </a:r>
            </a:p>
          </p:txBody>
        </p:sp>
        <p:sp>
          <p:nvSpPr>
            <p:cNvPr id="45" name="文本框 47">
              <a:extLst>
                <a:ext uri="{FF2B5EF4-FFF2-40B4-BE49-F238E27FC236}">
                  <a16:creationId xmlns:a16="http://schemas.microsoft.com/office/drawing/2014/main" id="{9BD11104-EEF0-ABCD-E34F-4EC1F43474D6}"/>
                </a:ext>
              </a:extLst>
            </p:cNvPr>
            <p:cNvSpPr txBox="1"/>
            <p:nvPr/>
          </p:nvSpPr>
          <p:spPr>
            <a:xfrm>
              <a:off x="790231" y="1759452"/>
              <a:ext cx="1374329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ln>
                    <a:solidFill>
                      <a:schemeClr val="accent1"/>
                    </a:solidFill>
                  </a:ln>
                  <a:solidFill>
                    <a:schemeClr val="accent2">
                      <a:lumMod val="20000"/>
                      <a:lumOff val="80000"/>
                    </a:schemeClr>
                  </a:solidFill>
                  <a:effectLst/>
                  <a:latin typeface="+mj-ea"/>
                  <a:ea typeface="+mj-ea"/>
                  <a:sym typeface="+mn-ea"/>
                </a:rPr>
                <a:t>0</a:t>
              </a:r>
              <a:r>
                <a:rPr lang="en-US" altLang="zh-CN" sz="3200" dirty="0">
                  <a:ln>
                    <a:solidFill>
                      <a:schemeClr val="accent1"/>
                    </a:solidFill>
                  </a:ln>
                  <a:solidFill>
                    <a:schemeClr val="accent2">
                      <a:lumMod val="20000"/>
                      <a:lumOff val="80000"/>
                    </a:schemeClr>
                  </a:solidFill>
                  <a:latin typeface="+mj-ea"/>
                  <a:ea typeface="+mj-ea"/>
                  <a:sym typeface="+mn-ea"/>
                </a:rPr>
                <a:t>3</a:t>
              </a:r>
              <a:endParaRPr lang="en-US" altLang="zh-CN" sz="3200" dirty="0">
                <a:ln>
                  <a:solidFill>
                    <a:schemeClr val="accent1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+mj-ea"/>
                <a:ea typeface="+mj-ea"/>
                <a:sym typeface="+mn-ea"/>
              </a:endParaRPr>
            </a:p>
          </p:txBody>
        </p:sp>
        <p:sp>
          <p:nvSpPr>
            <p:cNvPr id="46" name="圆角矩形 32">
              <a:extLst>
                <a:ext uri="{FF2B5EF4-FFF2-40B4-BE49-F238E27FC236}">
                  <a16:creationId xmlns:a16="http://schemas.microsoft.com/office/drawing/2014/main" id="{6C0D485C-6EA4-EA88-3D2C-7DFA9E4957B6}"/>
                </a:ext>
              </a:extLst>
            </p:cNvPr>
            <p:cNvSpPr/>
            <p:nvPr/>
          </p:nvSpPr>
          <p:spPr>
            <a:xfrm rot="5400000">
              <a:off x="-394688" y="2623477"/>
              <a:ext cx="2101428" cy="24610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57300">
                  <a:schemeClr val="accent2"/>
                </a:gs>
                <a:gs pos="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C93DA373-7754-C545-5329-B33BCBA89D77}"/>
              </a:ext>
            </a:extLst>
          </p:cNvPr>
          <p:cNvGrpSpPr/>
          <p:nvPr/>
        </p:nvGrpSpPr>
        <p:grpSpPr>
          <a:xfrm>
            <a:off x="6179886" y="4213120"/>
            <a:ext cx="5446922" cy="2412138"/>
            <a:chOff x="384649" y="1614855"/>
            <a:chExt cx="5446922" cy="2412138"/>
          </a:xfrm>
        </p:grpSpPr>
        <p:sp>
          <p:nvSpPr>
            <p:cNvPr id="48" name="圆角矩形 45">
              <a:extLst>
                <a:ext uri="{FF2B5EF4-FFF2-40B4-BE49-F238E27FC236}">
                  <a16:creationId xmlns:a16="http://schemas.microsoft.com/office/drawing/2014/main" id="{5084C35A-E592-5149-C763-E2811F170A54}"/>
                </a:ext>
              </a:extLst>
            </p:cNvPr>
            <p:cNvSpPr/>
            <p:nvPr/>
          </p:nvSpPr>
          <p:spPr>
            <a:xfrm>
              <a:off x="384649" y="1614855"/>
              <a:ext cx="5446922" cy="2412138"/>
            </a:xfrm>
            <a:prstGeom prst="roundRect">
              <a:avLst>
                <a:gd name="adj" fmla="val 5048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schemeClr val="accent1">
                  <a:alpha val="21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9" name="文本框 33">
              <a:extLst>
                <a:ext uri="{FF2B5EF4-FFF2-40B4-BE49-F238E27FC236}">
                  <a16:creationId xmlns:a16="http://schemas.microsoft.com/office/drawing/2014/main" id="{372AEA06-5928-3BAE-6D92-051DDAD713AB}"/>
                </a:ext>
              </a:extLst>
            </p:cNvPr>
            <p:cNvSpPr txBox="1"/>
            <p:nvPr/>
          </p:nvSpPr>
          <p:spPr>
            <a:xfrm>
              <a:off x="831188" y="2344227"/>
              <a:ext cx="4945882" cy="160620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700"/>
                </a:lnSpc>
              </a:pPr>
              <a:r>
                <a:rPr lang="zh-CN" altLang="zh-CN" sz="1400" dirty="0"/>
                <a:t>Lewis 等 2020 年提出，在生成阶段注入语义相关文档片段，无需更新权重即可提升事实准确性与时效性，标准流程含检索与生成两个核心环节。</a:t>
              </a:r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嵌入模型 bge-small-zh-v1.5，512 维，CPU 本地部署</a:t>
              </a:r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向量库 ChromaDB，基于 HNSW 索引，支持元数据过滤</a:t>
              </a:r>
            </a:p>
            <a:p>
              <a:pPr marL="285750" indent="-285750">
                <a:lnSpc>
                  <a:spcPts val="1700"/>
                </a:lnSpc>
                <a:buFont typeface="Arial" panose="020B0604020202020204" pitchFamily="34" charset="0"/>
                <a:buChar char="•"/>
              </a:pPr>
              <a:r>
                <a:rPr lang="zh-CN" altLang="zh-CN" sz="1400" dirty="0"/>
                <a:t>本研究在其上构建结构化知识库与向量检索协同的双层架构</a:t>
              </a:r>
            </a:p>
          </p:txBody>
        </p:sp>
        <p:sp>
          <p:nvSpPr>
            <p:cNvPr id="50" name="文本框 34">
              <a:extLst>
                <a:ext uri="{FF2B5EF4-FFF2-40B4-BE49-F238E27FC236}">
                  <a16:creationId xmlns:a16="http://schemas.microsoft.com/office/drawing/2014/main" id="{6E81BC0E-1773-64FA-9A48-9E9736C8D1FE}"/>
                </a:ext>
              </a:extLst>
            </p:cNvPr>
            <p:cNvSpPr txBox="1"/>
            <p:nvPr/>
          </p:nvSpPr>
          <p:spPr>
            <a:xfrm>
              <a:off x="1420762" y="1899624"/>
              <a:ext cx="3445032" cy="36933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/>
              <a:r>
                <a:rPr lang="en-US" altLang="zh-CN" b="1" dirty="0"/>
                <a:t>RAG </a:t>
              </a:r>
              <a:r>
                <a:rPr lang="zh-CN" altLang="zh-CN" b="1" dirty="0"/>
                <a:t>知识增强技术</a:t>
              </a:r>
            </a:p>
          </p:txBody>
        </p:sp>
        <p:sp>
          <p:nvSpPr>
            <p:cNvPr id="51" name="文本框 47">
              <a:extLst>
                <a:ext uri="{FF2B5EF4-FFF2-40B4-BE49-F238E27FC236}">
                  <a16:creationId xmlns:a16="http://schemas.microsoft.com/office/drawing/2014/main" id="{F892987E-127F-8E0B-AD57-7F5440B11BCD}"/>
                </a:ext>
              </a:extLst>
            </p:cNvPr>
            <p:cNvSpPr txBox="1"/>
            <p:nvPr/>
          </p:nvSpPr>
          <p:spPr>
            <a:xfrm>
              <a:off x="790231" y="1759452"/>
              <a:ext cx="1374329" cy="5847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3200" dirty="0">
                  <a:ln>
                    <a:solidFill>
                      <a:schemeClr val="accent1"/>
                    </a:solidFill>
                  </a:ln>
                  <a:solidFill>
                    <a:schemeClr val="accent2">
                      <a:lumMod val="20000"/>
                      <a:lumOff val="80000"/>
                    </a:schemeClr>
                  </a:solidFill>
                  <a:effectLst/>
                  <a:latin typeface="+mj-ea"/>
                  <a:ea typeface="+mj-ea"/>
                  <a:sym typeface="+mn-ea"/>
                </a:rPr>
                <a:t>04</a:t>
              </a:r>
            </a:p>
          </p:txBody>
        </p:sp>
        <p:sp>
          <p:nvSpPr>
            <p:cNvPr id="53" name="圆角矩形 32">
              <a:extLst>
                <a:ext uri="{FF2B5EF4-FFF2-40B4-BE49-F238E27FC236}">
                  <a16:creationId xmlns:a16="http://schemas.microsoft.com/office/drawing/2014/main" id="{FCF6DD01-A886-B9E8-9881-FB8A9C7202C7}"/>
                </a:ext>
              </a:extLst>
            </p:cNvPr>
            <p:cNvSpPr/>
            <p:nvPr/>
          </p:nvSpPr>
          <p:spPr>
            <a:xfrm rot="5400000">
              <a:off x="-394688" y="2623477"/>
              <a:ext cx="2101428" cy="246100"/>
            </a:xfrm>
            <a:prstGeom prst="roundRect">
              <a:avLst>
                <a:gd name="adj" fmla="val 50000"/>
              </a:avLst>
            </a:prstGeom>
            <a:gradFill>
              <a:gsLst>
                <a:gs pos="100000">
                  <a:schemeClr val="bg1">
                    <a:alpha val="0"/>
                  </a:schemeClr>
                </a:gs>
                <a:gs pos="57300">
                  <a:schemeClr val="accent2"/>
                </a:gs>
                <a:gs pos="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</p:grpSp>
      <p:sp>
        <p:nvSpPr>
          <p:cNvPr id="62" name="灯片编号占位符 181">
            <a:extLst>
              <a:ext uri="{FF2B5EF4-FFF2-40B4-BE49-F238E27FC236}">
                <a16:creationId xmlns:a16="http://schemas.microsoft.com/office/drawing/2014/main" id="{FEA604F0-ABCF-346D-FCA1-2CE4024B7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2404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E8B9-8134-660D-719B-6B154D64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42D6EFCC-0650-CAA1-0E48-3733C1B4BA4E}"/>
              </a:ext>
            </a:extLst>
          </p:cNvPr>
          <p:cNvSpPr/>
          <p:nvPr/>
        </p:nvSpPr>
        <p:spPr>
          <a:xfrm>
            <a:off x="2036269" y="1412350"/>
            <a:ext cx="2174581" cy="396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0F99DC25-6506-00DB-409D-253E736204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32" name="文本占位符 149">
            <a:extLst>
              <a:ext uri="{FF2B5EF4-FFF2-40B4-BE49-F238E27FC236}">
                <a16:creationId xmlns:a16="http://schemas.microsoft.com/office/drawing/2014/main" id="{EDCEDD4F-47DB-FAAB-946D-84422D9CF65B}"/>
              </a:ext>
            </a:extLst>
          </p:cNvPr>
          <p:cNvSpPr txBox="1">
            <a:spLocks/>
          </p:cNvSpPr>
          <p:nvPr/>
        </p:nvSpPr>
        <p:spPr>
          <a:xfrm>
            <a:off x="0" y="828631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anose="00020600040101010101" charset="-122"/>
            </a:endParaRPr>
          </a:p>
        </p:txBody>
      </p:sp>
      <p:sp>
        <p:nvSpPr>
          <p:cNvPr id="40" name="文本占位符 33">
            <a:extLst>
              <a:ext uri="{FF2B5EF4-FFF2-40B4-BE49-F238E27FC236}">
                <a16:creationId xmlns:a16="http://schemas.microsoft.com/office/drawing/2014/main" id="{B13E3322-8F1D-70E0-42AA-8CF2EEF88D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1" name="文本占位符 34">
            <a:extLst>
              <a:ext uri="{FF2B5EF4-FFF2-40B4-BE49-F238E27FC236}">
                <a16:creationId xmlns:a16="http://schemas.microsoft.com/office/drawing/2014/main" id="{498E985C-BD91-69AC-AC25-96904F00EB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2" name="文本占位符 35">
            <a:extLst>
              <a:ext uri="{FF2B5EF4-FFF2-40B4-BE49-F238E27FC236}">
                <a16:creationId xmlns:a16="http://schemas.microsoft.com/office/drawing/2014/main" id="{E1B4A999-2982-CCA1-FB2A-62D440D90D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3" name="文本占位符 36">
            <a:extLst>
              <a:ext uri="{FF2B5EF4-FFF2-40B4-BE49-F238E27FC236}">
                <a16:creationId xmlns:a16="http://schemas.microsoft.com/office/drawing/2014/main" id="{F8E10FC3-997A-A0F5-8DA4-BF1838D6EF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4" name="文本占位符 37">
            <a:extLst>
              <a:ext uri="{FF2B5EF4-FFF2-40B4-BE49-F238E27FC236}">
                <a16:creationId xmlns:a16="http://schemas.microsoft.com/office/drawing/2014/main" id="{8946D305-FA87-6634-4431-D4CADA1D45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sp>
        <p:nvSpPr>
          <p:cNvPr id="49" name="灯片编号占位符 181">
            <a:extLst>
              <a:ext uri="{FF2B5EF4-FFF2-40B4-BE49-F238E27FC236}">
                <a16:creationId xmlns:a16="http://schemas.microsoft.com/office/drawing/2014/main" id="{F478F14E-E108-1BDE-44F3-790037B5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1" name="hd201"/>
          <p:cNvSpPr/>
          <p:nvPr/>
        </p:nvSpPr>
        <p:spPr>
          <a:xfrm>
            <a:off x="2420043" y="1412350"/>
            <a:ext cx="1414168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功能性需求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849800F-B0B7-5AC3-E151-906AE885E684}"/>
              </a:ext>
            </a:extLst>
          </p:cNvPr>
          <p:cNvGrpSpPr/>
          <p:nvPr/>
        </p:nvGrpSpPr>
        <p:grpSpPr>
          <a:xfrm>
            <a:off x="525250" y="1978000"/>
            <a:ext cx="4900000" cy="365760"/>
            <a:chOff x="430000" y="1900000"/>
            <a:chExt cx="4900000" cy="365760"/>
          </a:xfrm>
        </p:grpSpPr>
        <p:sp>
          <p:nvSpPr>
            <p:cNvPr id="203" name="ic203"/>
            <p:cNvSpPr/>
            <p:nvPr/>
          </p:nvSpPr>
          <p:spPr>
            <a:xfrm>
              <a:off x="430000" y="1982000"/>
              <a:ext cx="190500" cy="190500"/>
            </a:xfrm>
            <a:prstGeom prst="ellipse">
              <a:avLst/>
            </a:prstGeom>
            <a:solidFill>
              <a:schemeClr val="tx2"/>
            </a:solidFill>
            <a:ln/>
          </p:spPr>
        </p:sp>
        <p:sp>
          <p:nvSpPr>
            <p:cNvPr id="204" name="lb204"/>
            <p:cNvSpPr/>
            <p:nvPr/>
          </p:nvSpPr>
          <p:spPr>
            <a:xfrm>
              <a:off x="770000" y="1900000"/>
              <a:ext cx="4560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2E5598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核心交互闭环</a:t>
              </a:r>
            </a:p>
          </p:txBody>
        </p:sp>
      </p:grpSp>
      <p:sp>
        <p:nvSpPr>
          <p:cNvPr id="205" name="bd205"/>
          <p:cNvSpPr/>
          <p:nvPr/>
        </p:nvSpPr>
        <p:spPr>
          <a:xfrm>
            <a:off x="715750" y="2368000"/>
            <a:ext cx="4865431" cy="1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以自然语言描述出行需求，单次会话内顺序完成意图识别、约束抽取与校验、行程编排、餐饮住宿匹配、预算核算与响应渲染，输出含逐日景点、交通、住宿、餐饮与预算明细的完整方案；信息缺失或冲突时主动追问补全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2B55C67-4951-09C0-CA14-9FAFD84527C6}"/>
              </a:ext>
            </a:extLst>
          </p:cNvPr>
          <p:cNvGrpSpPr/>
          <p:nvPr/>
        </p:nvGrpSpPr>
        <p:grpSpPr>
          <a:xfrm>
            <a:off x="525250" y="4241741"/>
            <a:ext cx="4900000" cy="365760"/>
            <a:chOff x="430000" y="3900000"/>
            <a:chExt cx="4900000" cy="365760"/>
          </a:xfrm>
        </p:grpSpPr>
        <p:sp>
          <p:nvSpPr>
            <p:cNvPr id="206" name="ic206"/>
            <p:cNvSpPr/>
            <p:nvPr/>
          </p:nvSpPr>
          <p:spPr>
            <a:xfrm>
              <a:off x="430000" y="3982000"/>
              <a:ext cx="190500" cy="190500"/>
            </a:xfrm>
            <a:prstGeom prst="ellipse">
              <a:avLst/>
            </a:prstGeom>
            <a:solidFill>
              <a:schemeClr val="tx2"/>
            </a:solidFill>
            <a:ln/>
          </p:spPr>
        </p:sp>
        <p:sp>
          <p:nvSpPr>
            <p:cNvPr id="207" name="lb207"/>
            <p:cNvSpPr/>
            <p:nvPr/>
          </p:nvSpPr>
          <p:spPr>
            <a:xfrm>
              <a:off x="770000" y="3900000"/>
              <a:ext cx="4560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2E5598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辅助交互意图</a:t>
              </a:r>
            </a:p>
          </p:txBody>
        </p:sp>
      </p:grpSp>
      <p:sp>
        <p:nvSpPr>
          <p:cNvPr id="208" name="bd208"/>
          <p:cNvSpPr/>
          <p:nvPr/>
        </p:nvSpPr>
        <p:spPr>
          <a:xfrm>
            <a:off x="715750" y="4633289"/>
            <a:ext cx="4865431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偏好更新、记忆查询、信息查询与行程调整，分别覆盖长期偏好的显隐式更新、跨会话历史回溯、轻量问答与已有行程的增量修改；四类意图与核心闭环共享统一意图识别入口，由意图分流逻辑分发至对应路径。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260F18E-8A07-7BD9-23C6-A5DA4C6356B1}"/>
              </a:ext>
            </a:extLst>
          </p:cNvPr>
          <p:cNvGrpSpPr/>
          <p:nvPr/>
        </p:nvGrpSpPr>
        <p:grpSpPr>
          <a:xfrm>
            <a:off x="6397754" y="2032076"/>
            <a:ext cx="5060000" cy="920000"/>
            <a:chOff x="6300000" y="1900000"/>
            <a:chExt cx="5060000" cy="920000"/>
          </a:xfrm>
        </p:grpSpPr>
        <p:sp>
          <p:nvSpPr>
            <p:cNvPr id="209" name="ic209"/>
            <p:cNvSpPr/>
            <p:nvPr/>
          </p:nvSpPr>
          <p:spPr>
            <a:xfrm>
              <a:off x="6300000" y="1978000"/>
              <a:ext cx="190500" cy="190500"/>
            </a:xfrm>
            <a:prstGeom prst="ellipse">
              <a:avLst/>
            </a:prstGeom>
            <a:solidFill>
              <a:schemeClr val="tx2"/>
            </a:solidFill>
            <a:ln/>
          </p:spPr>
        </p:sp>
        <p:sp>
          <p:nvSpPr>
            <p:cNvPr id="210" name="lb210"/>
            <p:cNvSpPr/>
            <p:nvPr/>
          </p:nvSpPr>
          <p:spPr>
            <a:xfrm>
              <a:off x="6640000" y="1900000"/>
              <a:ext cx="4720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2E5598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响应延迟</a:t>
              </a:r>
            </a:p>
          </p:txBody>
        </p:sp>
        <p:sp>
          <p:nvSpPr>
            <p:cNvPr id="211" name="bd211"/>
            <p:cNvSpPr/>
            <p:nvPr/>
          </p:nvSpPr>
          <p:spPr>
            <a:xfrm>
              <a:off x="6640000" y="2260000"/>
              <a:ext cx="472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zh-CN" altLang="en-US" sz="1400" dirty="0">
                  <a:solidFill>
                    <a:srgbClr val="404040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端到端单次行程生成需在可接受时间内完成，并以流式输出降低用户主观等待感。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F7E9946-32C9-32CC-01CF-6525EBE28D28}"/>
              </a:ext>
            </a:extLst>
          </p:cNvPr>
          <p:cNvGrpSpPr/>
          <p:nvPr/>
        </p:nvGrpSpPr>
        <p:grpSpPr>
          <a:xfrm>
            <a:off x="6416250" y="3114480"/>
            <a:ext cx="5060000" cy="920000"/>
            <a:chOff x="6300000" y="2820000"/>
            <a:chExt cx="5060000" cy="920000"/>
          </a:xfrm>
        </p:grpSpPr>
        <p:sp>
          <p:nvSpPr>
            <p:cNvPr id="212" name="ic212"/>
            <p:cNvSpPr/>
            <p:nvPr/>
          </p:nvSpPr>
          <p:spPr>
            <a:xfrm>
              <a:off x="6300000" y="2898000"/>
              <a:ext cx="190500" cy="190500"/>
            </a:xfrm>
            <a:prstGeom prst="ellipse">
              <a:avLst/>
            </a:prstGeom>
            <a:solidFill>
              <a:schemeClr val="tx2"/>
            </a:solidFill>
            <a:ln/>
          </p:spPr>
        </p:sp>
        <p:sp>
          <p:nvSpPr>
            <p:cNvPr id="213" name="lb213"/>
            <p:cNvSpPr/>
            <p:nvPr/>
          </p:nvSpPr>
          <p:spPr>
            <a:xfrm>
              <a:off x="6640000" y="2820000"/>
              <a:ext cx="4720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2E5598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服务可用性</a:t>
              </a:r>
            </a:p>
          </p:txBody>
        </p:sp>
        <p:sp>
          <p:nvSpPr>
            <p:cNvPr id="214" name="bd214"/>
            <p:cNvSpPr/>
            <p:nvPr/>
          </p:nvSpPr>
          <p:spPr>
            <a:xfrm>
              <a:off x="6640000" y="3180000"/>
              <a:ext cx="472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zh-CN" altLang="en-US" sz="1400" dirty="0">
                  <a:solidFill>
                    <a:srgbClr val="404040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单一外部数据源限流、超时或服务异常时实现局部功能降级，而非整体服务中断。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DD76E0F-3491-4103-2049-DC3925DCAB4C}"/>
              </a:ext>
            </a:extLst>
          </p:cNvPr>
          <p:cNvGrpSpPr/>
          <p:nvPr/>
        </p:nvGrpSpPr>
        <p:grpSpPr>
          <a:xfrm>
            <a:off x="6449044" y="4359939"/>
            <a:ext cx="5060000" cy="920000"/>
            <a:chOff x="6300000" y="3740000"/>
            <a:chExt cx="5060000" cy="920000"/>
          </a:xfrm>
        </p:grpSpPr>
        <p:sp>
          <p:nvSpPr>
            <p:cNvPr id="215" name="ic215"/>
            <p:cNvSpPr/>
            <p:nvPr/>
          </p:nvSpPr>
          <p:spPr>
            <a:xfrm>
              <a:off x="6300000" y="3818000"/>
              <a:ext cx="190500" cy="190500"/>
            </a:xfrm>
            <a:prstGeom prst="ellipse">
              <a:avLst/>
            </a:prstGeom>
            <a:solidFill>
              <a:schemeClr val="tx2"/>
            </a:solidFill>
            <a:ln/>
          </p:spPr>
        </p:sp>
        <p:sp>
          <p:nvSpPr>
            <p:cNvPr id="216" name="lb216"/>
            <p:cNvSpPr/>
            <p:nvPr/>
          </p:nvSpPr>
          <p:spPr>
            <a:xfrm>
              <a:off x="6640000" y="3740000"/>
              <a:ext cx="4720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2E5598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可扩展性</a:t>
              </a:r>
            </a:p>
          </p:txBody>
        </p:sp>
        <p:sp>
          <p:nvSpPr>
            <p:cNvPr id="217" name="bd217"/>
            <p:cNvSpPr/>
            <p:nvPr/>
          </p:nvSpPr>
          <p:spPr>
            <a:xfrm>
              <a:off x="6640000" y="4100000"/>
              <a:ext cx="472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zh-CN" altLang="en-US" sz="1400" dirty="0">
                  <a:solidFill>
                    <a:srgbClr val="404040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外部数据源与生成式能力均采用可插拔式设计，新增地图、票务或知识源不破坏现有节点与状态结构。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F548850-38B8-8F64-57FC-16977ED50272}"/>
              </a:ext>
            </a:extLst>
          </p:cNvPr>
          <p:cNvGrpSpPr/>
          <p:nvPr/>
        </p:nvGrpSpPr>
        <p:grpSpPr>
          <a:xfrm>
            <a:off x="6416250" y="5605398"/>
            <a:ext cx="5060000" cy="920000"/>
            <a:chOff x="6300000" y="4660000"/>
            <a:chExt cx="5060000" cy="920000"/>
          </a:xfrm>
        </p:grpSpPr>
        <p:sp>
          <p:nvSpPr>
            <p:cNvPr id="218" name="ic218"/>
            <p:cNvSpPr/>
            <p:nvPr/>
          </p:nvSpPr>
          <p:spPr>
            <a:xfrm>
              <a:off x="6300000" y="4738000"/>
              <a:ext cx="190500" cy="190500"/>
            </a:xfrm>
            <a:prstGeom prst="ellipse">
              <a:avLst/>
            </a:prstGeom>
            <a:solidFill>
              <a:schemeClr val="tx2"/>
            </a:solidFill>
            <a:ln/>
          </p:spPr>
        </p:sp>
        <p:sp>
          <p:nvSpPr>
            <p:cNvPr id="219" name="lb219"/>
            <p:cNvSpPr/>
            <p:nvPr/>
          </p:nvSpPr>
          <p:spPr>
            <a:xfrm>
              <a:off x="6640000" y="4660000"/>
              <a:ext cx="4720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2E5598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数据持久化</a:t>
              </a:r>
            </a:p>
          </p:txBody>
        </p:sp>
        <p:sp>
          <p:nvSpPr>
            <p:cNvPr id="220" name="bd220"/>
            <p:cNvSpPr/>
            <p:nvPr/>
          </p:nvSpPr>
          <p:spPr>
            <a:xfrm>
              <a:off x="6640000" y="5020000"/>
              <a:ext cx="4720000" cy="5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06000"/>
                </a:lnSpc>
                <a:buNone/>
              </a:pPr>
              <a:r>
                <a:rPr lang="zh-CN" altLang="en-US" sz="1400" dirty="0">
                  <a:solidFill>
                    <a:srgbClr val="404040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会话级上下文支持进程重启后恢复，长期偏好与历史行程独立于会话持久存储。</a:t>
              </a:r>
            </a:p>
          </p:txBody>
        </p:sp>
      </p:grpSp>
      <p:sp>
        <p:nvSpPr>
          <p:cNvPr id="5" name="文本占位符 149">
            <a:extLst>
              <a:ext uri="{FF2B5EF4-FFF2-40B4-BE49-F238E27FC236}">
                <a16:creationId xmlns:a16="http://schemas.microsoft.com/office/drawing/2014/main" id="{A4459CAA-7835-844E-A5DB-7463F5554787}"/>
              </a:ext>
            </a:extLst>
          </p:cNvPr>
          <p:cNvSpPr txBox="1">
            <a:spLocks/>
          </p:cNvSpPr>
          <p:nvPr/>
        </p:nvSpPr>
        <p:spPr>
          <a:xfrm>
            <a:off x="-30015" y="831849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需求分析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0F32558-9C1A-CA14-CF31-DBA144DC3AC3}"/>
              </a:ext>
            </a:extLst>
          </p:cNvPr>
          <p:cNvSpPr/>
          <p:nvPr/>
        </p:nvSpPr>
        <p:spPr>
          <a:xfrm>
            <a:off x="7712709" y="1388880"/>
            <a:ext cx="2174581" cy="396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hd202"/>
          <p:cNvSpPr/>
          <p:nvPr/>
        </p:nvSpPr>
        <p:spPr>
          <a:xfrm>
            <a:off x="8089348" y="1385662"/>
            <a:ext cx="2174581" cy="39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非功能性需求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356BA91-8204-5781-CD16-499656319993}"/>
              </a:ext>
            </a:extLst>
          </p:cNvPr>
          <p:cNvSpPr/>
          <p:nvPr/>
        </p:nvSpPr>
        <p:spPr>
          <a:xfrm>
            <a:off x="325136" y="1879574"/>
            <a:ext cx="5532504" cy="4820852"/>
          </a:xfrm>
          <a:prstGeom prst="roundRect">
            <a:avLst>
              <a:gd name="adj" fmla="val 5510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7F9159A-DBD5-C20C-5D09-80CB8A47B3E8}"/>
              </a:ext>
            </a:extLst>
          </p:cNvPr>
          <p:cNvSpPr/>
          <p:nvPr/>
        </p:nvSpPr>
        <p:spPr>
          <a:xfrm>
            <a:off x="6212792" y="1900623"/>
            <a:ext cx="5532504" cy="4820852"/>
          </a:xfrm>
          <a:prstGeom prst="roundRect">
            <a:avLst>
              <a:gd name="adj" fmla="val 5510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03BA341-53C9-45C2-4204-A38F65F0DBBD}"/>
              </a:ext>
            </a:extLst>
          </p:cNvPr>
          <p:cNvSpPr/>
          <p:nvPr/>
        </p:nvSpPr>
        <p:spPr>
          <a:xfrm>
            <a:off x="532506" y="3495482"/>
            <a:ext cx="573567" cy="459062"/>
          </a:xfrm>
          <a:prstGeom prst="roundRect">
            <a:avLst>
              <a:gd name="adj" fmla="val 5856"/>
            </a:avLst>
          </a:prstGeom>
          <a:solidFill>
            <a:srgbClr val="2E559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意图识别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CFFBA44-780C-2EAE-BB9A-FC3559C19F89}"/>
              </a:ext>
            </a:extLst>
          </p:cNvPr>
          <p:cNvSpPr/>
          <p:nvPr/>
        </p:nvSpPr>
        <p:spPr>
          <a:xfrm>
            <a:off x="1422516" y="3495482"/>
            <a:ext cx="573567" cy="459062"/>
          </a:xfrm>
          <a:prstGeom prst="roundRect">
            <a:avLst>
              <a:gd name="adj" fmla="val 5856"/>
            </a:avLst>
          </a:prstGeom>
          <a:solidFill>
            <a:srgbClr val="2E559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约束校验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2DC5AFA-17D6-D3B6-5286-296AAD16D673}"/>
              </a:ext>
            </a:extLst>
          </p:cNvPr>
          <p:cNvSpPr/>
          <p:nvPr/>
        </p:nvSpPr>
        <p:spPr>
          <a:xfrm>
            <a:off x="2312526" y="3495482"/>
            <a:ext cx="573567" cy="459062"/>
          </a:xfrm>
          <a:prstGeom prst="roundRect">
            <a:avLst>
              <a:gd name="adj" fmla="val 5856"/>
            </a:avLst>
          </a:prstGeom>
          <a:solidFill>
            <a:srgbClr val="2E559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行程编排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7067E02-38F2-FD64-9283-072B3DA1BC9E}"/>
              </a:ext>
            </a:extLst>
          </p:cNvPr>
          <p:cNvSpPr/>
          <p:nvPr/>
        </p:nvSpPr>
        <p:spPr>
          <a:xfrm>
            <a:off x="3202536" y="3495482"/>
            <a:ext cx="573567" cy="459062"/>
          </a:xfrm>
          <a:prstGeom prst="roundRect">
            <a:avLst>
              <a:gd name="adj" fmla="val 5856"/>
            </a:avLst>
          </a:prstGeom>
          <a:solidFill>
            <a:srgbClr val="2E559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餐饮住宿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BDF79F6-766E-AF8A-8AC5-C0497F53F9C2}"/>
              </a:ext>
            </a:extLst>
          </p:cNvPr>
          <p:cNvSpPr/>
          <p:nvPr/>
        </p:nvSpPr>
        <p:spPr>
          <a:xfrm>
            <a:off x="4092546" y="3495482"/>
            <a:ext cx="573567" cy="459062"/>
          </a:xfrm>
          <a:prstGeom prst="roundRect">
            <a:avLst>
              <a:gd name="adj" fmla="val 5856"/>
            </a:avLst>
          </a:prstGeom>
          <a:solidFill>
            <a:srgbClr val="2E559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预算核验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7B93E44-55AD-8CC4-F3DC-0BD1568BC046}"/>
              </a:ext>
            </a:extLst>
          </p:cNvPr>
          <p:cNvSpPr/>
          <p:nvPr/>
        </p:nvSpPr>
        <p:spPr>
          <a:xfrm>
            <a:off x="4982555" y="3495482"/>
            <a:ext cx="573567" cy="459062"/>
          </a:xfrm>
          <a:prstGeom prst="roundRect">
            <a:avLst>
              <a:gd name="adj" fmla="val 5856"/>
            </a:avLst>
          </a:prstGeom>
          <a:solidFill>
            <a:srgbClr val="2E559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输出渲染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3E9E6E7-0C0C-58EA-650E-E55BECB832C5}"/>
              </a:ext>
            </a:extLst>
          </p:cNvPr>
          <p:cNvSpPr/>
          <p:nvPr/>
        </p:nvSpPr>
        <p:spPr>
          <a:xfrm>
            <a:off x="715750" y="5747180"/>
            <a:ext cx="941431" cy="314710"/>
          </a:xfrm>
          <a:prstGeom prst="roundRect">
            <a:avLst>
              <a:gd name="adj" fmla="val 20506"/>
            </a:avLst>
          </a:prstGeom>
          <a:solidFill>
            <a:srgbClr val="2E559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偏好更新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2B5BC2B-B370-B50F-D847-BF07538913A9}"/>
              </a:ext>
            </a:extLst>
          </p:cNvPr>
          <p:cNvSpPr/>
          <p:nvPr/>
        </p:nvSpPr>
        <p:spPr>
          <a:xfrm>
            <a:off x="1977702" y="5747180"/>
            <a:ext cx="941431" cy="314710"/>
          </a:xfrm>
          <a:prstGeom prst="roundRect">
            <a:avLst>
              <a:gd name="adj" fmla="val 20506"/>
            </a:avLst>
          </a:prstGeom>
          <a:solidFill>
            <a:srgbClr val="2E559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记忆查询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8AF6D7C-69F1-BB1A-7816-ABD76A6AFC1C}"/>
              </a:ext>
            </a:extLst>
          </p:cNvPr>
          <p:cNvSpPr/>
          <p:nvPr/>
        </p:nvSpPr>
        <p:spPr>
          <a:xfrm>
            <a:off x="3239654" y="5747180"/>
            <a:ext cx="941431" cy="314710"/>
          </a:xfrm>
          <a:prstGeom prst="roundRect">
            <a:avLst>
              <a:gd name="adj" fmla="val 20506"/>
            </a:avLst>
          </a:prstGeom>
          <a:solidFill>
            <a:srgbClr val="2E559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信息查询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5BF4E41-32CB-6E29-2B7D-A8A8898C3180}"/>
              </a:ext>
            </a:extLst>
          </p:cNvPr>
          <p:cNvSpPr/>
          <p:nvPr/>
        </p:nvSpPr>
        <p:spPr>
          <a:xfrm>
            <a:off x="4501605" y="5747180"/>
            <a:ext cx="941431" cy="314710"/>
          </a:xfrm>
          <a:prstGeom prst="roundRect">
            <a:avLst>
              <a:gd name="adj" fmla="val 20506"/>
            </a:avLst>
          </a:prstGeom>
          <a:solidFill>
            <a:srgbClr val="2E559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</a:rPr>
              <a:t>行程调整</a:t>
            </a:r>
          </a:p>
        </p:txBody>
      </p:sp>
    </p:spTree>
    <p:extLst>
      <p:ext uri="{BB962C8B-B14F-4D97-AF65-F5344CB8AC3E}">
        <p14:creationId xmlns:p14="http://schemas.microsoft.com/office/powerpoint/2010/main" val="246908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0796-3AAA-3000-E05B-A57853C6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97DA4685-E6A6-55A8-18CC-E2B18DA0A1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32" name="文本占位符 149">
            <a:extLst>
              <a:ext uri="{FF2B5EF4-FFF2-40B4-BE49-F238E27FC236}">
                <a16:creationId xmlns:a16="http://schemas.microsoft.com/office/drawing/2014/main" id="{B2B1DF4E-503B-F082-F6CD-81C874B62044}"/>
              </a:ext>
            </a:extLst>
          </p:cNvPr>
          <p:cNvSpPr txBox="1">
            <a:spLocks/>
          </p:cNvSpPr>
          <p:nvPr/>
        </p:nvSpPr>
        <p:spPr>
          <a:xfrm>
            <a:off x="0" y="828631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智能体系统框架</a:t>
            </a:r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占位符 33">
            <a:extLst>
              <a:ext uri="{FF2B5EF4-FFF2-40B4-BE49-F238E27FC236}">
                <a16:creationId xmlns:a16="http://schemas.microsoft.com/office/drawing/2014/main" id="{7B20AD49-626B-F0E5-DAED-438C1791A6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1" name="文本占位符 34">
            <a:extLst>
              <a:ext uri="{FF2B5EF4-FFF2-40B4-BE49-F238E27FC236}">
                <a16:creationId xmlns:a16="http://schemas.microsoft.com/office/drawing/2014/main" id="{81DE13A8-F0E5-B3D4-A153-86E0F8E0BC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2" name="文本占位符 35">
            <a:extLst>
              <a:ext uri="{FF2B5EF4-FFF2-40B4-BE49-F238E27FC236}">
                <a16:creationId xmlns:a16="http://schemas.microsoft.com/office/drawing/2014/main" id="{A83DA420-6E9F-1BCB-D0AD-2C17BF9BAA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3" name="文本占位符 36">
            <a:extLst>
              <a:ext uri="{FF2B5EF4-FFF2-40B4-BE49-F238E27FC236}">
                <a16:creationId xmlns:a16="http://schemas.microsoft.com/office/drawing/2014/main" id="{ED9176D1-B97F-B42B-980F-9B3529D22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4" name="文本占位符 37">
            <a:extLst>
              <a:ext uri="{FF2B5EF4-FFF2-40B4-BE49-F238E27FC236}">
                <a16:creationId xmlns:a16="http://schemas.microsoft.com/office/drawing/2014/main" id="{2AB70AAE-59B4-2864-837D-1B8E93BD22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564380EE-75B2-7FFE-BFE8-30F49456D07A}"/>
              </a:ext>
            </a:extLst>
          </p:cNvPr>
          <p:cNvSpPr/>
          <p:nvPr/>
        </p:nvSpPr>
        <p:spPr>
          <a:xfrm>
            <a:off x="1036749" y="1393373"/>
            <a:ext cx="10992118" cy="2743200"/>
          </a:xfrm>
          <a:prstGeom prst="roundRect">
            <a:avLst>
              <a:gd name="adj" fmla="val 3756"/>
            </a:avLst>
          </a:prstGeom>
          <a:solidFill>
            <a:srgbClr val="E1F7FF">
              <a:alpha val="39000"/>
            </a:srgbClr>
          </a:solidFill>
          <a:ln w="158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C5633717-D088-DEF6-9A21-6E17C3B45252}"/>
              </a:ext>
            </a:extLst>
          </p:cNvPr>
          <p:cNvSpPr/>
          <p:nvPr/>
        </p:nvSpPr>
        <p:spPr>
          <a:xfrm>
            <a:off x="4403473" y="2131418"/>
            <a:ext cx="1175657" cy="1878668"/>
          </a:xfrm>
          <a:prstGeom prst="roundRect">
            <a:avLst>
              <a:gd name="adj" fmla="val 6062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573CFB2-CF56-D13D-C893-6C83694D81F2}"/>
              </a:ext>
            </a:extLst>
          </p:cNvPr>
          <p:cNvGrpSpPr/>
          <p:nvPr/>
        </p:nvGrpSpPr>
        <p:grpSpPr>
          <a:xfrm>
            <a:off x="4305697" y="1493523"/>
            <a:ext cx="2766939" cy="2553363"/>
            <a:chOff x="1157947" y="1719942"/>
            <a:chExt cx="1460066" cy="2315029"/>
          </a:xfrm>
          <a:solidFill>
            <a:srgbClr val="FFEAD5"/>
          </a:solidFill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A6C76235-A0D1-9CC9-8B17-54D01906E30B}"/>
                </a:ext>
              </a:extLst>
            </p:cNvPr>
            <p:cNvSpPr/>
            <p:nvPr/>
          </p:nvSpPr>
          <p:spPr>
            <a:xfrm>
              <a:off x="1157947" y="1719942"/>
              <a:ext cx="1460066" cy="2315029"/>
            </a:xfrm>
            <a:prstGeom prst="roundRect">
              <a:avLst>
                <a:gd name="adj" fmla="val 5856"/>
              </a:avLst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FC6E17F-32E9-3911-515F-73B25CCE6211}"/>
                </a:ext>
              </a:extLst>
            </p:cNvPr>
            <p:cNvSpPr txBox="1"/>
            <p:nvPr/>
          </p:nvSpPr>
          <p:spPr>
            <a:xfrm>
              <a:off x="1280195" y="1748691"/>
              <a:ext cx="1215571" cy="26509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P2</a:t>
              </a:r>
              <a:r>
                <a:rPr lang="zh-CN" altLang="en-US" sz="1300" b="1" dirty="0">
                  <a:latin typeface="+mj-ea"/>
                  <a:ea typeface="+mj-ea"/>
                </a:rPr>
                <a:t> 并行编排</a:t>
              </a:r>
              <a:r>
                <a:rPr lang="en-US" altLang="zh-CN" sz="1300" b="1" dirty="0">
                  <a:latin typeface="+mj-ea"/>
                  <a:ea typeface="+mj-ea"/>
                </a:rPr>
                <a:t> </a:t>
              </a:r>
              <a:r>
                <a:rPr lang="en-US" altLang="zh-CN" sz="1050" dirty="0" err="1">
                  <a:latin typeface="+mj-ea"/>
                  <a:ea typeface="+mj-ea"/>
                </a:rPr>
                <a:t>Orchestrate_node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</p:grp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5121B9BC-DB75-62B5-DFCC-1B009D1CFB5A}"/>
              </a:ext>
            </a:extLst>
          </p:cNvPr>
          <p:cNvSpPr/>
          <p:nvPr/>
        </p:nvSpPr>
        <p:spPr>
          <a:xfrm>
            <a:off x="239487" y="1382486"/>
            <a:ext cx="660618" cy="2743200"/>
          </a:xfrm>
          <a:prstGeom prst="roundRect">
            <a:avLst/>
          </a:prstGeom>
          <a:solidFill>
            <a:srgbClr val="E1F7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编排层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86A41A3B-0168-8B95-3D32-09667D5A866C}"/>
              </a:ext>
            </a:extLst>
          </p:cNvPr>
          <p:cNvSpPr/>
          <p:nvPr/>
        </p:nvSpPr>
        <p:spPr>
          <a:xfrm>
            <a:off x="239486" y="4272056"/>
            <a:ext cx="666748" cy="1429768"/>
          </a:xfrm>
          <a:prstGeom prst="roundRect">
            <a:avLst/>
          </a:prstGeom>
          <a:solidFill>
            <a:srgbClr val="FFF7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外部工具层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2F2647C8-3144-C4DB-8148-6B0CC250B7D0}"/>
              </a:ext>
            </a:extLst>
          </p:cNvPr>
          <p:cNvSpPr/>
          <p:nvPr/>
        </p:nvSpPr>
        <p:spPr>
          <a:xfrm>
            <a:off x="1036749" y="4272056"/>
            <a:ext cx="10992118" cy="1429768"/>
          </a:xfrm>
          <a:prstGeom prst="roundRect">
            <a:avLst>
              <a:gd name="adj" fmla="val 5309"/>
            </a:avLst>
          </a:prstGeom>
          <a:solidFill>
            <a:srgbClr val="FFF7DD">
              <a:alpha val="50000"/>
            </a:srgbClr>
          </a:solidFill>
          <a:ln w="158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6DD4D71C-9544-54D4-5015-0B6C1264A284}"/>
              </a:ext>
            </a:extLst>
          </p:cNvPr>
          <p:cNvSpPr/>
          <p:nvPr/>
        </p:nvSpPr>
        <p:spPr>
          <a:xfrm>
            <a:off x="239486" y="5812973"/>
            <a:ext cx="666749" cy="9998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基础设施层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DC431B7-B43F-C291-B117-329C490F31F2}"/>
              </a:ext>
            </a:extLst>
          </p:cNvPr>
          <p:cNvSpPr/>
          <p:nvPr/>
        </p:nvSpPr>
        <p:spPr>
          <a:xfrm>
            <a:off x="1036749" y="5812972"/>
            <a:ext cx="4598682" cy="999811"/>
          </a:xfrm>
          <a:prstGeom prst="roundRect">
            <a:avLst>
              <a:gd name="adj" fmla="val 8780"/>
            </a:avLst>
          </a:prstGeom>
          <a:solidFill>
            <a:schemeClr val="accent4">
              <a:lumMod val="20000"/>
              <a:lumOff val="80000"/>
              <a:alpha val="39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599F7C4-ED85-665C-60F4-060C0DF908F9}"/>
              </a:ext>
            </a:extLst>
          </p:cNvPr>
          <p:cNvGrpSpPr/>
          <p:nvPr/>
        </p:nvGrpSpPr>
        <p:grpSpPr>
          <a:xfrm>
            <a:off x="1157947" y="1493520"/>
            <a:ext cx="1460066" cy="2553364"/>
            <a:chOff x="1157947" y="1719942"/>
            <a:chExt cx="1460066" cy="2315029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C993D73F-0F4B-2066-D0A9-0098B82CB8B9}"/>
                </a:ext>
              </a:extLst>
            </p:cNvPr>
            <p:cNvSpPr/>
            <p:nvPr/>
          </p:nvSpPr>
          <p:spPr>
            <a:xfrm>
              <a:off x="1157947" y="1719942"/>
              <a:ext cx="1460066" cy="2315029"/>
            </a:xfrm>
            <a:prstGeom prst="roundRect">
              <a:avLst>
                <a:gd name="adj" fmla="val 5856"/>
              </a:avLst>
            </a:prstGeom>
            <a:solidFill>
              <a:srgbClr val="E1F7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9F8B3DC6-FD1B-C133-F91B-9C7F3144782B}"/>
                </a:ext>
              </a:extLst>
            </p:cNvPr>
            <p:cNvSpPr txBox="1"/>
            <p:nvPr/>
          </p:nvSpPr>
          <p:spPr>
            <a:xfrm>
              <a:off x="1280195" y="1748691"/>
              <a:ext cx="1215571" cy="4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P1</a:t>
              </a:r>
              <a:r>
                <a:rPr lang="zh-CN" altLang="en-US" sz="1300" b="1" dirty="0">
                  <a:latin typeface="+mj-ea"/>
                  <a:ea typeface="+mj-ea"/>
                </a:rPr>
                <a:t> 意图识别</a:t>
              </a:r>
              <a:endParaRPr lang="en-US" altLang="zh-CN" sz="1300" b="1" dirty="0">
                <a:latin typeface="+mj-ea"/>
                <a:ea typeface="+mj-ea"/>
              </a:endParaRPr>
            </a:p>
            <a:p>
              <a:pPr algn="ctr"/>
              <a:r>
                <a:rPr lang="en-US" altLang="zh-CN" sz="1100" dirty="0" err="1">
                  <a:latin typeface="+mj-ea"/>
                  <a:ea typeface="+mj-ea"/>
                </a:rPr>
                <a:t>intent_node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292BD335-5157-7ED8-EBA9-51CEE52532CD}"/>
                </a:ext>
              </a:extLst>
            </p:cNvPr>
            <p:cNvSpPr/>
            <p:nvPr/>
          </p:nvSpPr>
          <p:spPr>
            <a:xfrm>
              <a:off x="1241187" y="2305432"/>
              <a:ext cx="1293586" cy="391886"/>
            </a:xfrm>
            <a:prstGeom prst="roundRect">
              <a:avLst/>
            </a:prstGeom>
            <a:solidFill>
              <a:srgbClr val="AFEA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</a:rPr>
                <a:t>意图理解</a:t>
              </a:r>
              <a:r>
                <a:rPr lang="en-US" altLang="zh-CN" sz="1050" b="1" dirty="0">
                  <a:solidFill>
                    <a:schemeClr val="tx1"/>
                  </a:solidFill>
                </a:rPr>
                <a:t>&amp;</a:t>
              </a:r>
            </a:p>
            <a:p>
              <a:pPr algn="ctr"/>
              <a:r>
                <a:rPr lang="zh-CN" altLang="en-US" sz="1050" b="1" dirty="0">
                  <a:solidFill>
                    <a:schemeClr val="tx1"/>
                  </a:solidFill>
                </a:rPr>
                <a:t>技能调度表生成</a:t>
              </a:r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DA06D60C-E5E5-C0BB-B093-1420997C14A9}"/>
                </a:ext>
              </a:extLst>
            </p:cNvPr>
            <p:cNvSpPr/>
            <p:nvPr/>
          </p:nvSpPr>
          <p:spPr>
            <a:xfrm>
              <a:off x="1241187" y="2889370"/>
              <a:ext cx="1293586" cy="391886"/>
            </a:xfrm>
            <a:prstGeom prst="roundRect">
              <a:avLst/>
            </a:prstGeom>
            <a:solidFill>
              <a:srgbClr val="AFEA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</a:rPr>
                <a:t>自然语言时间解析</a:t>
              </a:r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0BF0202C-DA4B-121A-BE71-2994441390C4}"/>
                </a:ext>
              </a:extLst>
            </p:cNvPr>
            <p:cNvSpPr/>
            <p:nvPr/>
          </p:nvSpPr>
          <p:spPr>
            <a:xfrm>
              <a:off x="1241187" y="3473308"/>
              <a:ext cx="1293586" cy="391886"/>
            </a:xfrm>
            <a:prstGeom prst="roundRect">
              <a:avLst/>
            </a:prstGeom>
            <a:solidFill>
              <a:srgbClr val="AFEA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</a:rPr>
                <a:t>LLM </a:t>
              </a:r>
              <a:r>
                <a:rPr lang="zh-CN" altLang="en-US" sz="1050" b="1" dirty="0">
                  <a:solidFill>
                    <a:schemeClr val="tx1"/>
                  </a:solidFill>
                </a:rPr>
                <a:t>语义解析推理</a:t>
              </a:r>
              <a:endParaRPr lang="en-US" altLang="zh-CN" sz="1050" b="1" dirty="0">
                <a:solidFill>
                  <a:schemeClr val="tx1"/>
                </a:solidFill>
              </a:endParaRPr>
            </a:p>
          </p:txBody>
        </p: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075C4B4F-2818-6D60-7C10-76A737DC5AC8}"/>
                </a:ext>
              </a:extLst>
            </p:cNvPr>
            <p:cNvCxnSpPr/>
            <p:nvPr/>
          </p:nvCxnSpPr>
          <p:spPr>
            <a:xfrm>
              <a:off x="1887980" y="2697318"/>
              <a:ext cx="0" cy="19205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949A6C06-953D-9F01-5CEB-BBDB782BF835}"/>
              </a:ext>
            </a:extLst>
          </p:cNvPr>
          <p:cNvGrpSpPr/>
          <p:nvPr/>
        </p:nvGrpSpPr>
        <p:grpSpPr>
          <a:xfrm>
            <a:off x="2701255" y="1493520"/>
            <a:ext cx="1512899" cy="2553364"/>
            <a:chOff x="1157947" y="1719942"/>
            <a:chExt cx="1460066" cy="2315029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47E79B35-971D-E84A-59AD-CD2A599ACBFD}"/>
                </a:ext>
              </a:extLst>
            </p:cNvPr>
            <p:cNvSpPr/>
            <p:nvPr/>
          </p:nvSpPr>
          <p:spPr>
            <a:xfrm>
              <a:off x="1157947" y="1719942"/>
              <a:ext cx="1460066" cy="2315029"/>
            </a:xfrm>
            <a:prstGeom prst="roundRect">
              <a:avLst>
                <a:gd name="adj" fmla="val 585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B5671F05-0FF2-2F12-7C0A-F554044483B1}"/>
                </a:ext>
              </a:extLst>
            </p:cNvPr>
            <p:cNvSpPr txBox="1"/>
            <p:nvPr/>
          </p:nvSpPr>
          <p:spPr>
            <a:xfrm>
              <a:off x="1280195" y="1748691"/>
              <a:ext cx="1215571" cy="5720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P1.5</a:t>
              </a:r>
              <a:r>
                <a:rPr lang="zh-CN" altLang="en-US" sz="1300" b="1" dirty="0">
                  <a:latin typeface="+mj-ea"/>
                  <a:ea typeface="+mj-ea"/>
                </a:rPr>
                <a:t> 约束检验</a:t>
              </a:r>
              <a:endParaRPr lang="en-US" altLang="zh-CN" sz="1300" b="1" dirty="0">
                <a:latin typeface="+mj-ea"/>
                <a:ea typeface="+mj-ea"/>
              </a:endParaRPr>
            </a:p>
            <a:p>
              <a:pPr algn="ctr"/>
              <a:r>
                <a:rPr lang="en-US" altLang="zh-CN" sz="1050" dirty="0">
                  <a:latin typeface="+mj-ea"/>
                  <a:ea typeface="+mj-ea"/>
                </a:rPr>
                <a:t>Validation_</a:t>
              </a:r>
            </a:p>
            <a:p>
              <a:pPr algn="ctr"/>
              <a:r>
                <a:rPr lang="en-US" altLang="zh-CN" sz="1050" dirty="0">
                  <a:latin typeface="+mj-ea"/>
                  <a:ea typeface="+mj-ea"/>
                </a:rPr>
                <a:t>constrain</a:t>
              </a:r>
              <a:endParaRPr lang="en-US" altLang="zh-CN" sz="1000" dirty="0">
                <a:latin typeface="+mj-ea"/>
                <a:ea typeface="+mj-ea"/>
              </a:endParaRPr>
            </a:p>
          </p:txBody>
        </p:sp>
        <p:sp>
          <p:nvSpPr>
            <p:cNvPr id="68" name="矩形: 圆角 67">
              <a:extLst>
                <a:ext uri="{FF2B5EF4-FFF2-40B4-BE49-F238E27FC236}">
                  <a16:creationId xmlns:a16="http://schemas.microsoft.com/office/drawing/2014/main" id="{513B4F63-C159-13E5-DB14-6B07BB845E69}"/>
                </a:ext>
              </a:extLst>
            </p:cNvPr>
            <p:cNvSpPr/>
            <p:nvPr/>
          </p:nvSpPr>
          <p:spPr>
            <a:xfrm>
              <a:off x="1241187" y="2305432"/>
              <a:ext cx="1293586" cy="391886"/>
            </a:xfrm>
            <a:prstGeom prst="roundRect">
              <a:avLst/>
            </a:prstGeom>
            <a:solidFill>
              <a:srgbClr val="CDE8B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</a:rPr>
                <a:t>硬约束检查</a:t>
              </a:r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782C7E24-73B9-E4F4-96EA-B9600534263A}"/>
                </a:ext>
              </a:extLst>
            </p:cNvPr>
            <p:cNvSpPr/>
            <p:nvPr/>
          </p:nvSpPr>
          <p:spPr>
            <a:xfrm>
              <a:off x="1241187" y="2889370"/>
              <a:ext cx="1293586" cy="391886"/>
            </a:xfrm>
            <a:prstGeom prst="roundRect">
              <a:avLst/>
            </a:prstGeom>
            <a:solidFill>
              <a:srgbClr val="CDE8B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>
                  <a:solidFill>
                    <a:schemeClr val="tx1"/>
                  </a:solidFill>
                </a:rPr>
                <a:t>物理时空</a:t>
              </a:r>
              <a:endParaRPr lang="en-US" altLang="zh-CN" sz="105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050" b="1" dirty="0">
                  <a:solidFill>
                    <a:schemeClr val="tx1"/>
                  </a:solidFill>
                </a:rPr>
                <a:t>可行性检验</a:t>
              </a:r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208E31DE-4137-B449-E28C-E70A81D596C0}"/>
                </a:ext>
              </a:extLst>
            </p:cNvPr>
            <p:cNvSpPr/>
            <p:nvPr/>
          </p:nvSpPr>
          <p:spPr>
            <a:xfrm>
              <a:off x="1241187" y="3473308"/>
              <a:ext cx="1293586" cy="391886"/>
            </a:xfrm>
            <a:prstGeom prst="roundRect">
              <a:avLst/>
            </a:prstGeom>
            <a:solidFill>
              <a:srgbClr val="CDE8B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</a:rPr>
                <a:t>信息追问</a:t>
              </a:r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ADD92100-0559-1477-A71F-31C066DEA4E1}"/>
                </a:ext>
              </a:extLst>
            </p:cNvPr>
            <p:cNvCxnSpPr/>
            <p:nvPr/>
          </p:nvCxnSpPr>
          <p:spPr>
            <a:xfrm>
              <a:off x="1887980" y="2697318"/>
              <a:ext cx="0" cy="19205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EF9F6AFC-F7EB-43DE-0FE4-C20E4BA68B8C}"/>
              </a:ext>
            </a:extLst>
          </p:cNvPr>
          <p:cNvCxnSpPr/>
          <p:nvPr/>
        </p:nvCxnSpPr>
        <p:spPr>
          <a:xfrm flipV="1">
            <a:off x="3457703" y="3215573"/>
            <a:ext cx="0" cy="211824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FFB7BCD3-E2F3-4E65-ADBC-5858C2B38924}"/>
              </a:ext>
            </a:extLst>
          </p:cNvPr>
          <p:cNvCxnSpPr>
            <a:cxnSpLocks/>
          </p:cNvCxnSpPr>
          <p:nvPr/>
        </p:nvCxnSpPr>
        <p:spPr>
          <a:xfrm>
            <a:off x="2534773" y="2999458"/>
            <a:ext cx="252732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2744F17E-A50D-81DE-1D63-5766A23A59B9}"/>
              </a:ext>
            </a:extLst>
          </p:cNvPr>
          <p:cNvSpPr txBox="1"/>
          <p:nvPr/>
        </p:nvSpPr>
        <p:spPr>
          <a:xfrm>
            <a:off x="4878158" y="1817620"/>
            <a:ext cx="1725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优先级驱动并行策略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1B330E01-046A-A224-E083-417A6F3F95F2}"/>
              </a:ext>
            </a:extLst>
          </p:cNvPr>
          <p:cNvSpPr/>
          <p:nvPr/>
        </p:nvSpPr>
        <p:spPr>
          <a:xfrm>
            <a:off x="5764293" y="3580015"/>
            <a:ext cx="1123176" cy="318608"/>
          </a:xfrm>
          <a:prstGeom prst="roundRect">
            <a:avLst/>
          </a:prstGeom>
          <a:solidFill>
            <a:srgbClr val="FFEAD5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上下文增量注入</a:t>
            </a:r>
            <a:br>
              <a:rPr lang="en-US" altLang="zh-CN" sz="1000" dirty="0">
                <a:solidFill>
                  <a:schemeClr val="tx1"/>
                </a:solidFill>
              </a:rPr>
            </a:br>
            <a:r>
              <a:rPr lang="en-US" altLang="zh-CN" sz="1000" dirty="0">
                <a:solidFill>
                  <a:schemeClr val="tx1"/>
                </a:solidFill>
              </a:rPr>
              <a:t>&amp;</a:t>
            </a:r>
            <a:r>
              <a:rPr lang="zh-CN" altLang="en-US" sz="1000" dirty="0">
                <a:solidFill>
                  <a:schemeClr val="tx1"/>
                </a:solidFill>
              </a:rPr>
              <a:t>状态安全聚合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ACDD12D-1234-937C-F213-5F36775C703C}"/>
              </a:ext>
            </a:extLst>
          </p:cNvPr>
          <p:cNvSpPr txBox="1"/>
          <p:nvPr/>
        </p:nvSpPr>
        <p:spPr>
          <a:xfrm>
            <a:off x="4441813" y="2072541"/>
            <a:ext cx="1104697" cy="42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" b="1" dirty="0"/>
              <a:t>优先级</a:t>
            </a:r>
            <a:r>
              <a:rPr lang="en-US" altLang="zh-CN" sz="1100" b="1" dirty="0"/>
              <a:t>I </a:t>
            </a:r>
          </a:p>
          <a:p>
            <a:pPr algn="ctr"/>
            <a:r>
              <a:rPr lang="zh-CN" altLang="en-US" sz="1050" dirty="0"/>
              <a:t>（并发）</a:t>
            </a:r>
            <a:endParaRPr lang="zh-CN" altLang="en-US" sz="1100" dirty="0"/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C936269-3326-E950-981A-3B30B3434FBC}"/>
              </a:ext>
            </a:extLst>
          </p:cNvPr>
          <p:cNvSpPr/>
          <p:nvPr/>
        </p:nvSpPr>
        <p:spPr>
          <a:xfrm>
            <a:off x="4378182" y="2106580"/>
            <a:ext cx="1231960" cy="1878668"/>
          </a:xfrm>
          <a:prstGeom prst="roundRect">
            <a:avLst>
              <a:gd name="adj" fmla="val 4296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5C8704E2-3FCE-1C32-6518-99E4120C23CE}"/>
              </a:ext>
            </a:extLst>
          </p:cNvPr>
          <p:cNvSpPr/>
          <p:nvPr/>
        </p:nvSpPr>
        <p:spPr>
          <a:xfrm>
            <a:off x="5714167" y="2106580"/>
            <a:ext cx="1231960" cy="1878668"/>
          </a:xfrm>
          <a:prstGeom prst="roundRect">
            <a:avLst>
              <a:gd name="adj" fmla="val 4296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841F8F84-6053-B720-4F14-E050503CC7DF}"/>
              </a:ext>
            </a:extLst>
          </p:cNvPr>
          <p:cNvSpPr txBox="1"/>
          <p:nvPr/>
        </p:nvSpPr>
        <p:spPr>
          <a:xfrm>
            <a:off x="5993608" y="2069090"/>
            <a:ext cx="7139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/>
              <a:t>优先级</a:t>
            </a:r>
            <a:r>
              <a:rPr lang="en-US" altLang="zh-CN" sz="1100" b="1" dirty="0"/>
              <a:t>ii</a:t>
            </a:r>
            <a:endParaRPr lang="zh-CN" altLang="en-US" sz="1100" b="1" dirty="0"/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873F1D42-3891-EF0E-CA45-A900AC6D444E}"/>
              </a:ext>
            </a:extLst>
          </p:cNvPr>
          <p:cNvGrpSpPr/>
          <p:nvPr/>
        </p:nvGrpSpPr>
        <p:grpSpPr>
          <a:xfrm>
            <a:off x="7185528" y="1493520"/>
            <a:ext cx="1793011" cy="2553364"/>
            <a:chOff x="1157947" y="1719942"/>
            <a:chExt cx="1460066" cy="2315029"/>
          </a:xfrm>
        </p:grpSpPr>
        <p:sp>
          <p:nvSpPr>
            <p:cNvPr id="81" name="矩形: 圆角 80">
              <a:extLst>
                <a:ext uri="{FF2B5EF4-FFF2-40B4-BE49-F238E27FC236}">
                  <a16:creationId xmlns:a16="http://schemas.microsoft.com/office/drawing/2014/main" id="{D8B37D24-EA47-59EE-378C-328718BDD6C7}"/>
                </a:ext>
              </a:extLst>
            </p:cNvPr>
            <p:cNvSpPr/>
            <p:nvPr/>
          </p:nvSpPr>
          <p:spPr>
            <a:xfrm>
              <a:off x="1157947" y="1719942"/>
              <a:ext cx="1460066" cy="2315029"/>
            </a:xfrm>
            <a:prstGeom prst="roundRect">
              <a:avLst>
                <a:gd name="adj" fmla="val 5856"/>
              </a:avLst>
            </a:prstGeom>
            <a:solidFill>
              <a:srgbClr val="E1F7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677EB370-B8E8-D59B-E1E0-8442F427A37E}"/>
                </a:ext>
              </a:extLst>
            </p:cNvPr>
            <p:cNvSpPr txBox="1"/>
            <p:nvPr/>
          </p:nvSpPr>
          <p:spPr>
            <a:xfrm>
              <a:off x="1280195" y="1748691"/>
              <a:ext cx="1215571" cy="4185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P3</a:t>
              </a:r>
              <a:r>
                <a:rPr lang="zh-CN" altLang="en-US" sz="1300" b="1" dirty="0">
                  <a:latin typeface="+mj-ea"/>
                  <a:ea typeface="+mj-ea"/>
                </a:rPr>
                <a:t> 行程规划</a:t>
              </a:r>
              <a:r>
                <a:rPr lang="en-US" altLang="zh-CN" sz="1100" dirty="0" err="1">
                  <a:latin typeface="+mj-ea"/>
                  <a:ea typeface="+mj-ea"/>
                </a:rPr>
                <a:t>itinerary_planning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F7F97883-7F83-BE13-313F-E8FE4171923E}"/>
                </a:ext>
              </a:extLst>
            </p:cNvPr>
            <p:cNvSpPr/>
            <p:nvPr/>
          </p:nvSpPr>
          <p:spPr>
            <a:xfrm>
              <a:off x="1241187" y="2196011"/>
              <a:ext cx="1293586" cy="48032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EB67C0BA-397F-2DB3-27E2-AA2278CD12F9}"/>
                </a:ext>
              </a:extLst>
            </p:cNvPr>
            <p:cNvSpPr/>
            <p:nvPr/>
          </p:nvSpPr>
          <p:spPr>
            <a:xfrm>
              <a:off x="1241187" y="2889370"/>
              <a:ext cx="1293586" cy="3918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b="1" dirty="0">
                <a:solidFill>
                  <a:schemeClr val="tx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3B635F7E-F689-7182-EDBB-CC280A3D9A57}"/>
                </a:ext>
              </a:extLst>
            </p:cNvPr>
            <p:cNvSpPr/>
            <p:nvPr/>
          </p:nvSpPr>
          <p:spPr>
            <a:xfrm>
              <a:off x="1241187" y="3473308"/>
              <a:ext cx="1293586" cy="5163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05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DCC7562D-ACBA-319B-425E-23E9ED963037}"/>
              </a:ext>
            </a:extLst>
          </p:cNvPr>
          <p:cNvSpPr/>
          <p:nvPr/>
        </p:nvSpPr>
        <p:spPr>
          <a:xfrm>
            <a:off x="7287747" y="1973662"/>
            <a:ext cx="1588568" cy="318608"/>
          </a:xfrm>
          <a:prstGeom prst="roundRect">
            <a:avLst/>
          </a:prstGeom>
          <a:solidFill>
            <a:srgbClr val="AFE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景点排序与筛选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(</a:t>
            </a:r>
            <a:r>
              <a:rPr lang="en-US" altLang="zh-CN" sz="1000" b="1" dirty="0" err="1">
                <a:solidFill>
                  <a:schemeClr val="tx1"/>
                </a:solidFill>
              </a:rPr>
              <a:t>POI_select</a:t>
            </a:r>
            <a:r>
              <a:rPr lang="en-US" altLang="zh-CN" sz="1000" b="1" dirty="0">
                <a:solidFill>
                  <a:schemeClr val="tx1"/>
                </a:solidFill>
              </a:rPr>
              <a:t>)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F358351-19E5-D1DA-93AE-2AD51F201BF5}"/>
              </a:ext>
            </a:extLst>
          </p:cNvPr>
          <p:cNvSpPr txBox="1"/>
          <p:nvPr/>
        </p:nvSpPr>
        <p:spPr>
          <a:xfrm>
            <a:off x="7271360" y="2289142"/>
            <a:ext cx="16886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/>
              <a:t>加权线性评分 </a:t>
            </a:r>
            <a:r>
              <a:rPr lang="en-US" altLang="zh-CN" sz="900" dirty="0" err="1"/>
              <a:t>combo_boost</a:t>
            </a:r>
            <a:endParaRPr lang="zh-CN" altLang="en-US" sz="1000" dirty="0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0E189E83-6A29-B9BE-5D74-C6AF602C41DA}"/>
              </a:ext>
            </a:extLst>
          </p:cNvPr>
          <p:cNvSpPr/>
          <p:nvPr/>
        </p:nvSpPr>
        <p:spPr>
          <a:xfrm>
            <a:off x="7287747" y="2664075"/>
            <a:ext cx="1588568" cy="318608"/>
          </a:xfrm>
          <a:prstGeom prst="roundRect">
            <a:avLst/>
          </a:prstGeom>
          <a:solidFill>
            <a:srgbClr val="AFE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地理聚类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(</a:t>
            </a:r>
            <a:r>
              <a:rPr lang="en-US" altLang="zh-CN" sz="1000" b="1" dirty="0" err="1">
                <a:solidFill>
                  <a:schemeClr val="tx1"/>
                </a:solidFill>
              </a:rPr>
              <a:t>daily_cluster</a:t>
            </a:r>
            <a:r>
              <a:rPr lang="en-US" altLang="zh-CN" sz="1000" b="1" dirty="0">
                <a:solidFill>
                  <a:schemeClr val="tx1"/>
                </a:solidFill>
              </a:rPr>
              <a:t>)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2A9A301A-6351-1761-7933-B4970E46FE4F}"/>
              </a:ext>
            </a:extLst>
          </p:cNvPr>
          <p:cNvSpPr/>
          <p:nvPr/>
        </p:nvSpPr>
        <p:spPr>
          <a:xfrm>
            <a:off x="7287747" y="3380855"/>
            <a:ext cx="1588568" cy="318608"/>
          </a:xfrm>
          <a:prstGeom prst="roundRect">
            <a:avLst/>
          </a:prstGeom>
          <a:solidFill>
            <a:srgbClr val="AFE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路线优化与时间对齐</a:t>
            </a:r>
            <a:endParaRPr lang="en-US" altLang="zh-CN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(</a:t>
            </a:r>
            <a:r>
              <a:rPr lang="en-US" altLang="zh-CN" sz="1000" b="1" dirty="0" err="1">
                <a:solidFill>
                  <a:schemeClr val="tx1"/>
                </a:solidFill>
              </a:rPr>
              <a:t>route_optimaze</a:t>
            </a:r>
            <a:r>
              <a:rPr lang="en-US" altLang="zh-CN" sz="1000" b="1" dirty="0">
                <a:solidFill>
                  <a:schemeClr val="tx1"/>
                </a:solidFill>
              </a:rPr>
              <a:t>)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6742A525-FA7E-6B21-9503-EF05D9B2C4EB}"/>
              </a:ext>
            </a:extLst>
          </p:cNvPr>
          <p:cNvSpPr txBox="1"/>
          <p:nvPr/>
        </p:nvSpPr>
        <p:spPr>
          <a:xfrm>
            <a:off x="7309998" y="2976424"/>
            <a:ext cx="16886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b="1" dirty="0"/>
              <a:t>类</a:t>
            </a:r>
            <a:r>
              <a:rPr lang="en-US" altLang="zh-CN" sz="1000" b="1" dirty="0"/>
              <a:t> TSP </a:t>
            </a:r>
            <a:r>
              <a:rPr lang="zh-CN" altLang="zh-CN" sz="1000" b="1" dirty="0"/>
              <a:t>的贪心分配策略</a:t>
            </a:r>
            <a:endParaRPr lang="zh-CN" altLang="en-US" sz="1000" b="1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931DBFA3-9160-8469-BE25-99736B65E967}"/>
              </a:ext>
            </a:extLst>
          </p:cNvPr>
          <p:cNvSpPr txBox="1"/>
          <p:nvPr/>
        </p:nvSpPr>
        <p:spPr>
          <a:xfrm>
            <a:off x="7514784" y="3673009"/>
            <a:ext cx="1135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900" b="1" dirty="0"/>
              <a:t>贪心最近邻初始</a:t>
            </a:r>
            <a:r>
              <a:rPr lang="zh-CN" altLang="en-US" sz="900" b="1" dirty="0"/>
              <a:t>解</a:t>
            </a:r>
            <a:endParaRPr lang="en-US" altLang="zh-CN" sz="900" b="1" dirty="0"/>
          </a:p>
          <a:p>
            <a:pPr algn="ctr"/>
            <a:r>
              <a:rPr lang="en-US" altLang="zh-CN" sz="900" b="1" dirty="0"/>
              <a:t>2-opt </a:t>
            </a:r>
            <a:r>
              <a:rPr lang="zh-CN" altLang="zh-CN" sz="900" b="1" dirty="0"/>
              <a:t>局部搜索</a:t>
            </a:r>
            <a:endParaRPr lang="zh-CN" altLang="en-US" sz="900" b="1" dirty="0"/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DB3A5724-3B6B-4231-76FD-356D8D54F483}"/>
              </a:ext>
            </a:extLst>
          </p:cNvPr>
          <p:cNvCxnSpPr/>
          <p:nvPr/>
        </p:nvCxnSpPr>
        <p:spPr>
          <a:xfrm>
            <a:off x="4125450" y="2999458"/>
            <a:ext cx="252732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1AC6DC79-66DD-A4FA-765B-574F13DEA4EE}"/>
              </a:ext>
            </a:extLst>
          </p:cNvPr>
          <p:cNvCxnSpPr/>
          <p:nvPr/>
        </p:nvCxnSpPr>
        <p:spPr>
          <a:xfrm>
            <a:off x="6946127" y="2918889"/>
            <a:ext cx="252732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63E7E020-AF93-8488-6C96-4221FAE6A797}"/>
              </a:ext>
            </a:extLst>
          </p:cNvPr>
          <p:cNvGrpSpPr/>
          <p:nvPr/>
        </p:nvGrpSpPr>
        <p:grpSpPr>
          <a:xfrm>
            <a:off x="9134517" y="1488978"/>
            <a:ext cx="2651085" cy="826010"/>
            <a:chOff x="1157947" y="1719942"/>
            <a:chExt cx="1460066" cy="2315029"/>
          </a:xfrm>
        </p:grpSpPr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7527A060-B9D0-232B-0620-BD3C495825EF}"/>
                </a:ext>
              </a:extLst>
            </p:cNvPr>
            <p:cNvSpPr/>
            <p:nvPr/>
          </p:nvSpPr>
          <p:spPr>
            <a:xfrm>
              <a:off x="1157947" y="1719942"/>
              <a:ext cx="1460066" cy="2315029"/>
            </a:xfrm>
            <a:prstGeom prst="roundRect">
              <a:avLst>
                <a:gd name="adj" fmla="val 5856"/>
              </a:avLst>
            </a:prstGeom>
            <a:solidFill>
              <a:srgbClr val="FFEAD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47366AB0-79B0-379B-9B03-3402D2ABF5AA}"/>
                </a:ext>
              </a:extLst>
            </p:cNvPr>
            <p:cNvSpPr txBox="1"/>
            <p:nvPr/>
          </p:nvSpPr>
          <p:spPr>
            <a:xfrm>
              <a:off x="1161172" y="1748692"/>
              <a:ext cx="1440853" cy="819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P3.5</a:t>
              </a:r>
              <a:r>
                <a:rPr lang="zh-CN" altLang="en-US" sz="1300" b="1" dirty="0">
                  <a:latin typeface="+mj-ea"/>
                  <a:ea typeface="+mj-ea"/>
                </a:rPr>
                <a:t> 后置增强 </a:t>
              </a:r>
              <a:r>
                <a:rPr lang="en-US" altLang="zh-CN" sz="1300" dirty="0">
                  <a:latin typeface="+mj-ea"/>
                  <a:ea typeface="+mj-ea"/>
                </a:rPr>
                <a:t>(</a:t>
              </a:r>
              <a:r>
                <a:rPr lang="en-US" altLang="zh-CN" sz="1100" dirty="0" err="1">
                  <a:ea typeface="+mj-ea"/>
                </a:rPr>
                <a:t>POI_enrich_node</a:t>
              </a:r>
              <a:r>
                <a:rPr lang="en-US" altLang="zh-CN" sz="1100" dirty="0">
                  <a:latin typeface="+mj-ea"/>
                  <a:ea typeface="+mj-ea"/>
                </a:rPr>
                <a:t>)</a:t>
              </a:r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0E6B86A-7697-694E-5ECE-296F4A9A301F}"/>
              </a:ext>
            </a:extLst>
          </p:cNvPr>
          <p:cNvGrpSpPr/>
          <p:nvPr/>
        </p:nvGrpSpPr>
        <p:grpSpPr>
          <a:xfrm>
            <a:off x="9131838" y="3069341"/>
            <a:ext cx="2718706" cy="607037"/>
            <a:chOff x="1155218" y="1615637"/>
            <a:chExt cx="1497308" cy="1455364"/>
          </a:xfrm>
        </p:grpSpPr>
        <p:sp>
          <p:nvSpPr>
            <p:cNvPr id="98" name="矩形: 圆角 97">
              <a:extLst>
                <a:ext uri="{FF2B5EF4-FFF2-40B4-BE49-F238E27FC236}">
                  <a16:creationId xmlns:a16="http://schemas.microsoft.com/office/drawing/2014/main" id="{5BD2D552-C871-3399-6349-80C9AA7BE6BC}"/>
                </a:ext>
              </a:extLst>
            </p:cNvPr>
            <p:cNvSpPr/>
            <p:nvPr/>
          </p:nvSpPr>
          <p:spPr>
            <a:xfrm>
              <a:off x="1155425" y="1636315"/>
              <a:ext cx="1460066" cy="1434686"/>
            </a:xfrm>
            <a:prstGeom prst="roundRect">
              <a:avLst>
                <a:gd name="adj" fmla="val 5856"/>
              </a:avLst>
            </a:prstGeom>
            <a:solidFill>
              <a:srgbClr val="E1F7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A11296E6-9B17-F98A-7CE6-F44EA5118759}"/>
                </a:ext>
              </a:extLst>
            </p:cNvPr>
            <p:cNvSpPr txBox="1"/>
            <p:nvPr/>
          </p:nvSpPr>
          <p:spPr>
            <a:xfrm>
              <a:off x="1155218" y="1615637"/>
              <a:ext cx="1497308" cy="70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P4</a:t>
              </a:r>
              <a:r>
                <a:rPr lang="zh-CN" altLang="en-US" sz="1300" b="1" dirty="0">
                  <a:latin typeface="+mj-ea"/>
                  <a:ea typeface="+mj-ea"/>
                </a:rPr>
                <a:t> 住宿推荐 </a:t>
              </a:r>
              <a:r>
                <a:rPr lang="en-US" altLang="zh-CN" sz="1300" dirty="0">
                  <a:latin typeface="+mj-ea"/>
                  <a:ea typeface="+mj-ea"/>
                </a:rPr>
                <a:t>(</a:t>
              </a:r>
              <a:r>
                <a:rPr lang="en-US" altLang="zh-CN" sz="1100" dirty="0">
                  <a:latin typeface="+mj-lt"/>
                  <a:ea typeface="+mj-ea"/>
                </a:rPr>
                <a:t>Accommodation node</a:t>
              </a:r>
              <a:r>
                <a:rPr lang="en-US" altLang="zh-CN" sz="1100" dirty="0">
                  <a:latin typeface="+mj-ea"/>
                  <a:ea typeface="+mj-ea"/>
                </a:rPr>
                <a:t>)</a:t>
              </a: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6868ED6D-CEB9-F65E-4D6E-6A4213EC07A2}"/>
              </a:ext>
            </a:extLst>
          </p:cNvPr>
          <p:cNvGrpSpPr/>
          <p:nvPr/>
        </p:nvGrpSpPr>
        <p:grpSpPr>
          <a:xfrm>
            <a:off x="9130019" y="3718209"/>
            <a:ext cx="2651085" cy="323471"/>
            <a:chOff x="1151039" y="2225572"/>
            <a:chExt cx="1460066" cy="1805699"/>
          </a:xfrm>
        </p:grpSpPr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EDAF4A79-92A6-4643-4FC9-3275853FA9AA}"/>
                </a:ext>
              </a:extLst>
            </p:cNvPr>
            <p:cNvSpPr/>
            <p:nvPr/>
          </p:nvSpPr>
          <p:spPr>
            <a:xfrm>
              <a:off x="1151039" y="2225572"/>
              <a:ext cx="1460066" cy="1805699"/>
            </a:xfrm>
            <a:prstGeom prst="roundRect">
              <a:avLst>
                <a:gd name="adj" fmla="val 11106"/>
              </a:avLst>
            </a:prstGeom>
            <a:solidFill>
              <a:srgbClr val="E1F7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2848D849-3B50-3CB5-481A-D0581C07DF6E}"/>
                </a:ext>
              </a:extLst>
            </p:cNvPr>
            <p:cNvSpPr txBox="1"/>
            <p:nvPr/>
          </p:nvSpPr>
          <p:spPr>
            <a:xfrm>
              <a:off x="1223339" y="2268924"/>
              <a:ext cx="1296317" cy="16321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P5</a:t>
              </a:r>
              <a:r>
                <a:rPr lang="zh-CN" altLang="en-US" sz="1300" b="1" dirty="0">
                  <a:latin typeface="+mj-ea"/>
                  <a:ea typeface="+mj-ea"/>
                </a:rPr>
                <a:t> 最终回复 </a:t>
              </a:r>
              <a:r>
                <a:rPr lang="en-US" altLang="zh-CN" sz="1300" dirty="0">
                  <a:latin typeface="+mj-ea"/>
                  <a:ea typeface="+mj-ea"/>
                </a:rPr>
                <a:t>(</a:t>
              </a:r>
              <a:r>
                <a:rPr lang="en-US" altLang="zh-CN" sz="1100" dirty="0" err="1">
                  <a:latin typeface="+mj-lt"/>
                  <a:ea typeface="+mj-ea"/>
                </a:rPr>
                <a:t>response_node</a:t>
              </a:r>
              <a:r>
                <a:rPr lang="en-US" altLang="zh-CN" sz="1100" dirty="0">
                  <a:latin typeface="+mj-ea"/>
                  <a:ea typeface="+mj-ea"/>
                </a:rPr>
                <a:t>)</a:t>
              </a:r>
            </a:p>
          </p:txBody>
        </p:sp>
      </p:grp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919187C9-AEC3-6870-43EC-D8C04928E44E}"/>
              </a:ext>
            </a:extLst>
          </p:cNvPr>
          <p:cNvSpPr/>
          <p:nvPr/>
        </p:nvSpPr>
        <p:spPr>
          <a:xfrm>
            <a:off x="9228883" y="1791724"/>
            <a:ext cx="1260818" cy="473980"/>
          </a:xfrm>
          <a:prstGeom prst="roundRect">
            <a:avLst/>
          </a:prstGeom>
          <a:solidFill>
            <a:srgbClr val="FFCB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RAG</a:t>
            </a:r>
            <a:r>
              <a:rPr lang="zh-CN" altLang="en-US" sz="1000" b="1" dirty="0">
                <a:solidFill>
                  <a:schemeClr val="tx1"/>
                </a:solidFill>
              </a:rPr>
              <a:t>后检索增强</a:t>
            </a:r>
            <a:r>
              <a:rPr lang="en-US" altLang="zh-CN" sz="1000" b="1" dirty="0">
                <a:solidFill>
                  <a:schemeClr val="tx1"/>
                </a:solidFill>
              </a:rPr>
              <a:t>(post retrieval augmentation)</a:t>
            </a:r>
          </a:p>
        </p:txBody>
      </p: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437D567F-AD4A-8F77-EDD2-A661306A0DA8}"/>
              </a:ext>
            </a:extLst>
          </p:cNvPr>
          <p:cNvSpPr/>
          <p:nvPr/>
        </p:nvSpPr>
        <p:spPr>
          <a:xfrm>
            <a:off x="10567002" y="1791724"/>
            <a:ext cx="1120502" cy="473980"/>
          </a:xfrm>
          <a:prstGeom prst="roundRect">
            <a:avLst/>
          </a:prstGeom>
          <a:solidFill>
            <a:srgbClr val="FFCB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LLM</a:t>
            </a:r>
            <a:r>
              <a:rPr lang="zh-CN" altLang="en-US" sz="1000" b="1" dirty="0">
                <a:solidFill>
                  <a:schemeClr val="tx1"/>
                </a:solidFill>
              </a:rPr>
              <a:t>景点体验描述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251F51F2-C675-0DF5-90BB-6DB4E1A3096B}"/>
              </a:ext>
            </a:extLst>
          </p:cNvPr>
          <p:cNvSpPr/>
          <p:nvPr/>
        </p:nvSpPr>
        <p:spPr>
          <a:xfrm>
            <a:off x="9273087" y="3326954"/>
            <a:ext cx="1027773" cy="313220"/>
          </a:xfrm>
          <a:prstGeom prst="roundRect">
            <a:avLst/>
          </a:prstGeom>
          <a:solidFill>
            <a:srgbClr val="AFE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Step1 </a:t>
            </a:r>
          </a:p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高德周边搜索</a:t>
            </a: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68F35AA3-7591-1E65-A539-3B211E6DD8F8}"/>
              </a:ext>
            </a:extLst>
          </p:cNvPr>
          <p:cNvSpPr/>
          <p:nvPr/>
        </p:nvSpPr>
        <p:spPr>
          <a:xfrm>
            <a:off x="10609090" y="3321485"/>
            <a:ext cx="1027773" cy="313220"/>
          </a:xfrm>
          <a:prstGeom prst="roundRect">
            <a:avLst/>
          </a:prstGeom>
          <a:solidFill>
            <a:srgbClr val="AFE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Step2 </a:t>
            </a:r>
          </a:p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MCP</a:t>
            </a:r>
            <a:r>
              <a:rPr lang="zh-CN" altLang="en-US" sz="1000" b="1" dirty="0">
                <a:solidFill>
                  <a:schemeClr val="tx1"/>
                </a:solidFill>
              </a:rPr>
              <a:t>价格查询</a:t>
            </a: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0AF1E9A5-0CA5-4E63-BC21-04CF7C3F4BD2}"/>
              </a:ext>
            </a:extLst>
          </p:cNvPr>
          <p:cNvGrpSpPr/>
          <p:nvPr/>
        </p:nvGrpSpPr>
        <p:grpSpPr>
          <a:xfrm>
            <a:off x="9135305" y="2355255"/>
            <a:ext cx="2651085" cy="676498"/>
            <a:chOff x="1157947" y="1748692"/>
            <a:chExt cx="1460066" cy="1895996"/>
          </a:xfrm>
        </p:grpSpPr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325985E2-E3CB-1E56-4C38-D490FC3A02A8}"/>
                </a:ext>
              </a:extLst>
            </p:cNvPr>
            <p:cNvSpPr/>
            <p:nvPr/>
          </p:nvSpPr>
          <p:spPr>
            <a:xfrm>
              <a:off x="1157947" y="1867127"/>
              <a:ext cx="1460066" cy="1777561"/>
            </a:xfrm>
            <a:prstGeom prst="roundRect">
              <a:avLst>
                <a:gd name="adj" fmla="val 5856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1926604A-9B5C-9C75-9FDB-B94AA5ADCFAE}"/>
                </a:ext>
              </a:extLst>
            </p:cNvPr>
            <p:cNvSpPr txBox="1"/>
            <p:nvPr/>
          </p:nvSpPr>
          <p:spPr>
            <a:xfrm>
              <a:off x="1161172" y="1748692"/>
              <a:ext cx="1440853" cy="819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P3.6</a:t>
              </a:r>
              <a:r>
                <a:rPr lang="zh-CN" altLang="en-US" sz="1300" b="1" dirty="0">
                  <a:latin typeface="+mj-ea"/>
                  <a:ea typeface="+mj-ea"/>
                </a:rPr>
                <a:t> 行程审查 </a:t>
              </a:r>
              <a:r>
                <a:rPr lang="en-US" altLang="zh-CN" sz="1300" dirty="0">
                  <a:latin typeface="+mj-ea"/>
                  <a:ea typeface="+mj-ea"/>
                </a:rPr>
                <a:t>(</a:t>
              </a:r>
              <a:r>
                <a:rPr lang="en-US" altLang="zh-CN" sz="1300" dirty="0" err="1">
                  <a:latin typeface="+mj-lt"/>
                  <a:ea typeface="+mj-ea"/>
                </a:rPr>
                <a:t>itinerary_review</a:t>
              </a:r>
              <a:r>
                <a:rPr lang="en-US" altLang="zh-CN" sz="1100" dirty="0">
                  <a:latin typeface="+mj-lt"/>
                  <a:ea typeface="+mj-ea"/>
                </a:rPr>
                <a:t>)</a:t>
              </a:r>
            </a:p>
          </p:txBody>
        </p:sp>
      </p:grp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AD0CD2F6-2EF3-8BA9-0CD9-43AFEC36C36E}"/>
              </a:ext>
            </a:extLst>
          </p:cNvPr>
          <p:cNvSpPr/>
          <p:nvPr/>
        </p:nvSpPr>
        <p:spPr>
          <a:xfrm>
            <a:off x="9217935" y="2651053"/>
            <a:ext cx="2453355" cy="366831"/>
          </a:xfrm>
          <a:prstGeom prst="roundRect">
            <a:avLst/>
          </a:prstGeom>
          <a:solidFill>
            <a:srgbClr val="CDE8B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</a:rPr>
              <a:t>检查</a:t>
            </a:r>
            <a:r>
              <a:rPr lang="zh-CN" altLang="zh-CN" sz="1050" b="1" dirty="0">
                <a:solidFill>
                  <a:schemeClr val="tx1"/>
                </a:solidFill>
              </a:rPr>
              <a:t>单日总时长</a:t>
            </a:r>
            <a:r>
              <a:rPr lang="zh-CN" altLang="en-US" sz="1050" b="1" dirty="0">
                <a:solidFill>
                  <a:schemeClr val="tx1"/>
                </a:solidFill>
              </a:rPr>
              <a:t>、</a:t>
            </a:r>
            <a:r>
              <a:rPr lang="zh-CN" altLang="zh-CN" sz="1050" b="1" dirty="0">
                <a:solidFill>
                  <a:schemeClr val="tx1"/>
                </a:solidFill>
              </a:rPr>
              <a:t>交通时长、</a:t>
            </a:r>
            <a:endParaRPr lang="en-US" altLang="zh-CN" sz="1050" b="1" dirty="0">
              <a:solidFill>
                <a:schemeClr val="tx1"/>
              </a:solidFill>
            </a:endParaRPr>
          </a:p>
          <a:p>
            <a:pPr algn="ctr"/>
            <a:r>
              <a:rPr lang="zh-CN" altLang="zh-CN" sz="1050" b="1" dirty="0">
                <a:solidFill>
                  <a:schemeClr val="tx1"/>
                </a:solidFill>
              </a:rPr>
              <a:t>景点时段、同类景点集中度</a:t>
            </a:r>
            <a:endParaRPr lang="en-US" altLang="zh-CN" sz="1050" b="1" dirty="0">
              <a:solidFill>
                <a:schemeClr val="tx1"/>
              </a:solidFill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5DC70794-1CAD-E998-4A34-8E82D80652BA}"/>
              </a:ext>
            </a:extLst>
          </p:cNvPr>
          <p:cNvSpPr/>
          <p:nvPr/>
        </p:nvSpPr>
        <p:spPr>
          <a:xfrm>
            <a:off x="1147707" y="4388670"/>
            <a:ext cx="1486636" cy="1244098"/>
          </a:xfrm>
          <a:prstGeom prst="roundRect">
            <a:avLst>
              <a:gd name="adj" fmla="val 8086"/>
            </a:avLst>
          </a:prstGeom>
          <a:solidFill>
            <a:srgbClr val="FFF7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EE712966-EE73-B745-2D9A-A9080A679730}"/>
              </a:ext>
            </a:extLst>
          </p:cNvPr>
          <p:cNvSpPr/>
          <p:nvPr/>
        </p:nvSpPr>
        <p:spPr>
          <a:xfrm>
            <a:off x="1241186" y="4911792"/>
            <a:ext cx="1293586" cy="603677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50" b="1" dirty="0">
              <a:solidFill>
                <a:schemeClr val="tx1"/>
              </a:solidFill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374F7F24-974D-D8AE-0DC8-9660566EBADE}"/>
              </a:ext>
            </a:extLst>
          </p:cNvPr>
          <p:cNvSpPr txBox="1"/>
          <p:nvPr/>
        </p:nvSpPr>
        <p:spPr>
          <a:xfrm>
            <a:off x="1210020" y="4960944"/>
            <a:ext cx="133803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00" b="1" dirty="0" err="1">
                <a:latin typeface="+mj-ea"/>
                <a:ea typeface="+mj-ea"/>
              </a:rPr>
              <a:t>doubao</a:t>
            </a:r>
            <a:r>
              <a:rPr lang="en-US" altLang="zh-CN" sz="1300" b="1" dirty="0">
                <a:latin typeface="+mj-ea"/>
                <a:ea typeface="+mj-ea"/>
              </a:rPr>
              <a:t> seed 2.0 lite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44E03959-CFE2-3360-885E-22A5A82AB7BE}"/>
              </a:ext>
            </a:extLst>
          </p:cNvPr>
          <p:cNvSpPr txBox="1"/>
          <p:nvPr/>
        </p:nvSpPr>
        <p:spPr>
          <a:xfrm>
            <a:off x="1216261" y="4424784"/>
            <a:ext cx="1362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ea"/>
                <a:ea typeface="+mj-ea"/>
              </a:rPr>
              <a:t>LLM </a:t>
            </a:r>
            <a:r>
              <a:rPr lang="zh-CN" altLang="en-US" sz="1400" b="1" dirty="0">
                <a:latin typeface="+mj-ea"/>
                <a:ea typeface="+mj-ea"/>
              </a:rPr>
              <a:t>推理服务</a:t>
            </a:r>
            <a:endParaRPr lang="en-US" altLang="zh-CN" sz="1400" b="1" dirty="0">
              <a:latin typeface="+mj-ea"/>
              <a:ea typeface="+mj-ea"/>
            </a:endParaRPr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09D01F7D-7E24-D943-15EB-AFE0E17D4F37}"/>
              </a:ext>
            </a:extLst>
          </p:cNvPr>
          <p:cNvCxnSpPr>
            <a:stCxn id="63" idx="0"/>
            <a:endCxn id="62" idx="2"/>
          </p:cNvCxnSpPr>
          <p:nvPr/>
        </p:nvCxnSpPr>
        <p:spPr>
          <a:xfrm flipV="1">
            <a:off x="1887980" y="3215573"/>
            <a:ext cx="0" cy="211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B76D5949-A17B-F40A-1575-5FDEB2110EB3}"/>
              </a:ext>
            </a:extLst>
          </p:cNvPr>
          <p:cNvSpPr/>
          <p:nvPr/>
        </p:nvSpPr>
        <p:spPr>
          <a:xfrm>
            <a:off x="2746342" y="4381568"/>
            <a:ext cx="3961226" cy="1251200"/>
          </a:xfrm>
          <a:prstGeom prst="roundRect">
            <a:avLst>
              <a:gd name="adj" fmla="val 8086"/>
            </a:avLst>
          </a:prstGeom>
          <a:solidFill>
            <a:srgbClr val="FFF7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73058B30-3D3E-CA0F-8068-C3E5458FE8C0}"/>
              </a:ext>
            </a:extLst>
          </p:cNvPr>
          <p:cNvSpPr/>
          <p:nvPr/>
        </p:nvSpPr>
        <p:spPr>
          <a:xfrm>
            <a:off x="6803174" y="4381569"/>
            <a:ext cx="5149338" cy="1251201"/>
          </a:xfrm>
          <a:prstGeom prst="roundRect">
            <a:avLst>
              <a:gd name="adj" fmla="val 8086"/>
            </a:avLst>
          </a:prstGeom>
          <a:solidFill>
            <a:srgbClr val="FFF7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0188F61C-54C6-2FCF-5049-D7466FD303B4}"/>
              </a:ext>
            </a:extLst>
          </p:cNvPr>
          <p:cNvSpPr txBox="1"/>
          <p:nvPr/>
        </p:nvSpPr>
        <p:spPr>
          <a:xfrm>
            <a:off x="3488742" y="4388672"/>
            <a:ext cx="233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ea"/>
                <a:ea typeface="+mj-ea"/>
              </a:rPr>
              <a:t>RAG </a:t>
            </a:r>
            <a:r>
              <a:rPr lang="zh-CN" altLang="en-US" sz="1400" b="1" dirty="0">
                <a:latin typeface="+mj-ea"/>
                <a:ea typeface="+mj-ea"/>
              </a:rPr>
              <a:t>知识库与检索链路</a:t>
            </a:r>
            <a:endParaRPr lang="en-US" altLang="zh-CN" sz="1400" b="1" dirty="0">
              <a:latin typeface="+mj-ea"/>
              <a:ea typeface="+mj-ea"/>
            </a:endParaRPr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1B1EC135-98BB-425B-3221-B4ECC8D5DFF5}"/>
              </a:ext>
            </a:extLst>
          </p:cNvPr>
          <p:cNvSpPr/>
          <p:nvPr/>
        </p:nvSpPr>
        <p:spPr>
          <a:xfrm>
            <a:off x="2959514" y="4707965"/>
            <a:ext cx="1536234" cy="369058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</a:rPr>
              <a:t>向量知识库</a:t>
            </a:r>
            <a:br>
              <a:rPr lang="en-US" altLang="zh-CN" sz="1050" b="1" dirty="0">
                <a:solidFill>
                  <a:schemeClr val="tx1"/>
                </a:solidFill>
              </a:rPr>
            </a:br>
            <a:r>
              <a:rPr lang="zh-CN" altLang="en-US" sz="1050" b="1" dirty="0">
                <a:solidFill>
                  <a:schemeClr val="tx1"/>
                </a:solidFill>
              </a:rPr>
              <a:t>（</a:t>
            </a:r>
            <a:r>
              <a:rPr lang="en-US" altLang="zh-CN" sz="1050" b="1" dirty="0" err="1">
                <a:solidFill>
                  <a:schemeClr val="tx1"/>
                </a:solidFill>
              </a:rPr>
              <a:t>ChromaDB</a:t>
            </a:r>
            <a:r>
              <a:rPr lang="en-US" altLang="zh-CN" sz="1050" b="1" dirty="0">
                <a:solidFill>
                  <a:schemeClr val="tx1"/>
                </a:solidFill>
              </a:rPr>
              <a:t> + BGE</a:t>
            </a:r>
            <a:r>
              <a:rPr lang="zh-CN" altLang="en-US" sz="1050" b="1" dirty="0">
                <a:solidFill>
                  <a:schemeClr val="tx1"/>
                </a:solidFill>
              </a:rPr>
              <a:t>）</a:t>
            </a:r>
            <a:endParaRPr lang="en-US" altLang="zh-CN" sz="1050" b="1" dirty="0">
              <a:solidFill>
                <a:schemeClr val="tx1"/>
              </a:solidFill>
            </a:endParaRP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369F2C1D-AE06-6311-BDB2-465B3E820685}"/>
              </a:ext>
            </a:extLst>
          </p:cNvPr>
          <p:cNvSpPr/>
          <p:nvPr/>
        </p:nvSpPr>
        <p:spPr>
          <a:xfrm>
            <a:off x="4789219" y="4723949"/>
            <a:ext cx="1721836" cy="353073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</a:rPr>
              <a:t>经验攻略</a:t>
            </a:r>
            <a:r>
              <a:rPr lang="en-US" altLang="zh-CN" sz="1050" b="1" dirty="0">
                <a:solidFill>
                  <a:schemeClr val="tx1"/>
                </a:solidFill>
              </a:rPr>
              <a:t>RAG</a:t>
            </a:r>
            <a:br>
              <a:rPr lang="en-US" altLang="zh-CN" sz="1050" b="1" dirty="0">
                <a:solidFill>
                  <a:schemeClr val="tx1"/>
                </a:solidFill>
              </a:rPr>
            </a:br>
            <a:r>
              <a:rPr lang="zh-CN" altLang="en-US" sz="1050" b="1" dirty="0">
                <a:solidFill>
                  <a:schemeClr val="tx1"/>
                </a:solidFill>
              </a:rPr>
              <a:t>（</a:t>
            </a:r>
            <a:r>
              <a:rPr lang="en-US" altLang="zh-CN" sz="1050" b="1" dirty="0" err="1">
                <a:solidFill>
                  <a:schemeClr val="tx1"/>
                </a:solidFill>
              </a:rPr>
              <a:t>ExperienceOutput</a:t>
            </a:r>
            <a:r>
              <a:rPr lang="zh-CN" altLang="en-US" sz="1050" b="1" dirty="0">
                <a:solidFill>
                  <a:schemeClr val="tx1"/>
                </a:solidFill>
              </a:rPr>
              <a:t>）</a:t>
            </a:r>
            <a:endParaRPr lang="en-US" altLang="zh-CN" sz="1050" b="1" dirty="0">
              <a:solidFill>
                <a:schemeClr val="tx1"/>
              </a:solidFill>
            </a:endParaRPr>
          </a:p>
        </p:txBody>
      </p:sp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AE486147-ACC0-2D33-542F-73BE0A77A3C2}"/>
              </a:ext>
            </a:extLst>
          </p:cNvPr>
          <p:cNvSpPr/>
          <p:nvPr/>
        </p:nvSpPr>
        <p:spPr>
          <a:xfrm>
            <a:off x="4774757" y="5162398"/>
            <a:ext cx="1721836" cy="353073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</a:rPr>
              <a:t>风险避坑</a:t>
            </a:r>
            <a:r>
              <a:rPr lang="en-US" altLang="zh-CN" sz="1050" b="1" dirty="0">
                <a:solidFill>
                  <a:schemeClr val="tx1"/>
                </a:solidFill>
              </a:rPr>
              <a:t>RAG</a:t>
            </a:r>
            <a:br>
              <a:rPr lang="en-US" altLang="zh-CN" sz="1050" b="1" dirty="0">
                <a:solidFill>
                  <a:schemeClr val="tx1"/>
                </a:solidFill>
              </a:rPr>
            </a:br>
            <a:r>
              <a:rPr lang="zh-CN" altLang="en-US" sz="1050" b="1" dirty="0">
                <a:solidFill>
                  <a:schemeClr val="tx1"/>
                </a:solidFill>
              </a:rPr>
              <a:t>（</a:t>
            </a:r>
            <a:r>
              <a:rPr lang="en-US" altLang="zh-CN" sz="1050" b="1" dirty="0" err="1">
                <a:solidFill>
                  <a:schemeClr val="tx1"/>
                </a:solidFill>
              </a:rPr>
              <a:t>RiskOutput</a:t>
            </a:r>
            <a:r>
              <a:rPr lang="zh-CN" altLang="en-US" sz="1050" b="1" dirty="0">
                <a:solidFill>
                  <a:schemeClr val="tx1"/>
                </a:solidFill>
              </a:rPr>
              <a:t>）</a:t>
            </a:r>
            <a:endParaRPr lang="en-US" altLang="zh-CN" sz="1050" b="1" dirty="0">
              <a:solidFill>
                <a:schemeClr val="tx1"/>
              </a:solidFill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63911D7-6852-D998-24D3-2A2796FC18C5}"/>
              </a:ext>
            </a:extLst>
          </p:cNvPr>
          <p:cNvSpPr txBox="1"/>
          <p:nvPr/>
        </p:nvSpPr>
        <p:spPr>
          <a:xfrm>
            <a:off x="8030645" y="4363941"/>
            <a:ext cx="27843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ea"/>
                <a:ea typeface="+mj-ea"/>
              </a:rPr>
              <a:t>Web </a:t>
            </a:r>
            <a:r>
              <a:rPr lang="zh-CN" altLang="en-US" sz="1400" b="1" dirty="0">
                <a:latin typeface="+mj-ea"/>
                <a:ea typeface="+mj-ea"/>
              </a:rPr>
              <a:t>地图 </a:t>
            </a:r>
            <a:r>
              <a:rPr lang="en-US" altLang="zh-CN" sz="1400" b="1" dirty="0">
                <a:latin typeface="+mj-ea"/>
                <a:ea typeface="+mj-ea"/>
              </a:rPr>
              <a:t>&amp; </a:t>
            </a:r>
            <a:r>
              <a:rPr lang="zh-CN" altLang="en-US" sz="1400" b="1" dirty="0">
                <a:latin typeface="+mj-ea"/>
                <a:ea typeface="+mj-ea"/>
              </a:rPr>
              <a:t>实时数据</a:t>
            </a:r>
            <a:r>
              <a:rPr lang="en-US" altLang="zh-CN" sz="1400" b="1" dirty="0">
                <a:latin typeface="+mj-ea"/>
                <a:ea typeface="+mj-ea"/>
              </a:rPr>
              <a:t>MCP</a:t>
            </a:r>
            <a:r>
              <a:rPr lang="zh-CN" altLang="en-US" sz="1400" b="1" dirty="0">
                <a:latin typeface="+mj-ea"/>
                <a:ea typeface="+mj-ea"/>
              </a:rPr>
              <a:t>服务</a:t>
            </a:r>
            <a:endParaRPr lang="en-US" altLang="zh-CN" sz="1400" b="1" dirty="0">
              <a:latin typeface="+mj-ea"/>
              <a:ea typeface="+mj-ea"/>
            </a:endParaRP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109B8A65-406C-C003-66E9-3FB36416C14E}"/>
              </a:ext>
            </a:extLst>
          </p:cNvPr>
          <p:cNvSpPr/>
          <p:nvPr/>
        </p:nvSpPr>
        <p:spPr>
          <a:xfrm>
            <a:off x="6904044" y="4688675"/>
            <a:ext cx="2506818" cy="873303"/>
          </a:xfrm>
          <a:prstGeom prst="roundRect">
            <a:avLst>
              <a:gd name="adj" fmla="val 4296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矩形: 圆角 123">
            <a:extLst>
              <a:ext uri="{FF2B5EF4-FFF2-40B4-BE49-F238E27FC236}">
                <a16:creationId xmlns:a16="http://schemas.microsoft.com/office/drawing/2014/main" id="{054EB5D2-C579-39C3-716D-89059E5F5513}"/>
              </a:ext>
            </a:extLst>
          </p:cNvPr>
          <p:cNvSpPr/>
          <p:nvPr/>
        </p:nvSpPr>
        <p:spPr>
          <a:xfrm>
            <a:off x="9497947" y="4686348"/>
            <a:ext cx="2367483" cy="873303"/>
          </a:xfrm>
          <a:prstGeom prst="roundRect">
            <a:avLst>
              <a:gd name="adj" fmla="val 4296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FDFD0843-7678-5C2A-EB16-3321B833F461}"/>
              </a:ext>
            </a:extLst>
          </p:cNvPr>
          <p:cNvSpPr txBox="1"/>
          <p:nvPr/>
        </p:nvSpPr>
        <p:spPr>
          <a:xfrm>
            <a:off x="7410996" y="4667818"/>
            <a:ext cx="1339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/>
              <a:t>高德地图 </a:t>
            </a:r>
            <a:r>
              <a:rPr lang="en-US" altLang="zh-CN" sz="1200" b="1" dirty="0"/>
              <a:t>MCP</a:t>
            </a:r>
            <a:endParaRPr lang="zh-CN" altLang="en-US" sz="1200" b="1" dirty="0"/>
          </a:p>
        </p:txBody>
      </p:sp>
      <p:sp>
        <p:nvSpPr>
          <p:cNvPr id="126" name="矩形: 圆角 125">
            <a:extLst>
              <a:ext uri="{FF2B5EF4-FFF2-40B4-BE49-F238E27FC236}">
                <a16:creationId xmlns:a16="http://schemas.microsoft.com/office/drawing/2014/main" id="{6EC505E0-C638-E45C-BFB3-C63BFF5D49C9}"/>
              </a:ext>
            </a:extLst>
          </p:cNvPr>
          <p:cNvSpPr/>
          <p:nvPr/>
        </p:nvSpPr>
        <p:spPr>
          <a:xfrm>
            <a:off x="6956345" y="4979701"/>
            <a:ext cx="760801" cy="182169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</a:rPr>
              <a:t>地区编码</a:t>
            </a:r>
          </a:p>
        </p:txBody>
      </p:sp>
      <p:sp>
        <p:nvSpPr>
          <p:cNvPr id="127" name="矩形: 圆角 126">
            <a:extLst>
              <a:ext uri="{FF2B5EF4-FFF2-40B4-BE49-F238E27FC236}">
                <a16:creationId xmlns:a16="http://schemas.microsoft.com/office/drawing/2014/main" id="{4892B5C4-8FA7-5914-ED2D-E8A0AB8B55E7}"/>
              </a:ext>
            </a:extLst>
          </p:cNvPr>
          <p:cNvSpPr/>
          <p:nvPr/>
        </p:nvSpPr>
        <p:spPr>
          <a:xfrm>
            <a:off x="7793501" y="4978305"/>
            <a:ext cx="760801" cy="182169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POI</a:t>
            </a:r>
            <a:r>
              <a:rPr lang="zh-CN" altLang="en-US" sz="1050" b="1" dirty="0">
                <a:solidFill>
                  <a:schemeClr val="tx1"/>
                </a:solidFill>
              </a:rPr>
              <a:t>搜索</a:t>
            </a:r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F390D435-98E5-9657-D7D0-487F0D06CF95}"/>
              </a:ext>
            </a:extLst>
          </p:cNvPr>
          <p:cNvSpPr/>
          <p:nvPr/>
        </p:nvSpPr>
        <p:spPr>
          <a:xfrm>
            <a:off x="8606631" y="4978304"/>
            <a:ext cx="760801" cy="182169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</a:rPr>
              <a:t>坐标查询</a:t>
            </a:r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2C44613D-1E04-0347-CDEC-F53599A49D43}"/>
              </a:ext>
            </a:extLst>
          </p:cNvPr>
          <p:cNvSpPr/>
          <p:nvPr/>
        </p:nvSpPr>
        <p:spPr>
          <a:xfrm>
            <a:off x="7217593" y="5257173"/>
            <a:ext cx="760801" cy="182169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</a:rPr>
              <a:t>路线规划</a:t>
            </a:r>
          </a:p>
        </p:txBody>
      </p:sp>
      <p:sp>
        <p:nvSpPr>
          <p:cNvPr id="130" name="矩形: 圆角 129">
            <a:extLst>
              <a:ext uri="{FF2B5EF4-FFF2-40B4-BE49-F238E27FC236}">
                <a16:creationId xmlns:a16="http://schemas.microsoft.com/office/drawing/2014/main" id="{54D88ED8-6083-68A7-4A08-52D93074DF79}"/>
              </a:ext>
            </a:extLst>
          </p:cNvPr>
          <p:cNvSpPr/>
          <p:nvPr/>
        </p:nvSpPr>
        <p:spPr>
          <a:xfrm>
            <a:off x="8172660" y="5251403"/>
            <a:ext cx="760801" cy="182169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</a:rPr>
              <a:t>周边搜索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1AC8A770-334C-5775-2E8A-4BAB94AF1D03}"/>
              </a:ext>
            </a:extLst>
          </p:cNvPr>
          <p:cNvSpPr txBox="1"/>
          <p:nvPr/>
        </p:nvSpPr>
        <p:spPr>
          <a:xfrm>
            <a:off x="9886682" y="4666666"/>
            <a:ext cx="1624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/>
              <a:t>多源实时数据 </a:t>
            </a:r>
            <a:r>
              <a:rPr lang="en-US" altLang="zh-CN" sz="1200" b="1" dirty="0"/>
              <a:t>MCP</a:t>
            </a:r>
            <a:endParaRPr lang="zh-CN" altLang="en-US" sz="1200" b="1" dirty="0"/>
          </a:p>
        </p:txBody>
      </p:sp>
      <p:sp>
        <p:nvSpPr>
          <p:cNvPr id="132" name="矩形: 圆角 131">
            <a:extLst>
              <a:ext uri="{FF2B5EF4-FFF2-40B4-BE49-F238E27FC236}">
                <a16:creationId xmlns:a16="http://schemas.microsoft.com/office/drawing/2014/main" id="{6F243048-05FD-DD5A-EE02-0B36CBE2D58F}"/>
              </a:ext>
            </a:extLst>
          </p:cNvPr>
          <p:cNvSpPr/>
          <p:nvPr/>
        </p:nvSpPr>
        <p:spPr>
          <a:xfrm>
            <a:off x="9575148" y="4936238"/>
            <a:ext cx="2200163" cy="242555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>
                <a:solidFill>
                  <a:schemeClr val="tx1"/>
                </a:solidFill>
              </a:rPr>
              <a:t>12306 </a:t>
            </a:r>
            <a:r>
              <a:rPr lang="zh-CN" altLang="en-US" sz="1050" b="1" dirty="0">
                <a:solidFill>
                  <a:schemeClr val="tx1"/>
                </a:solidFill>
              </a:rPr>
              <a:t>余票价格查询</a:t>
            </a: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1FF503B6-0E0E-C62F-EB83-A79F66BC74C3}"/>
              </a:ext>
            </a:extLst>
          </p:cNvPr>
          <p:cNvSpPr/>
          <p:nvPr/>
        </p:nvSpPr>
        <p:spPr>
          <a:xfrm>
            <a:off x="9575149" y="5282116"/>
            <a:ext cx="2221321" cy="256506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</a:rPr>
              <a:t>途牛 酒店、航班查询</a:t>
            </a:r>
          </a:p>
        </p:txBody>
      </p: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745EA523-DCF8-B12F-3810-F99CEB590E47}"/>
              </a:ext>
            </a:extLst>
          </p:cNvPr>
          <p:cNvSpPr/>
          <p:nvPr/>
        </p:nvSpPr>
        <p:spPr>
          <a:xfrm>
            <a:off x="1147706" y="5916295"/>
            <a:ext cx="2553437" cy="847361"/>
          </a:xfrm>
          <a:prstGeom prst="roundRect">
            <a:avLst>
              <a:gd name="adj" fmla="val 808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35" name="矩形: 圆角 134">
            <a:extLst>
              <a:ext uri="{FF2B5EF4-FFF2-40B4-BE49-F238E27FC236}">
                <a16:creationId xmlns:a16="http://schemas.microsoft.com/office/drawing/2014/main" id="{1C6B52B8-20E0-8227-BF3F-472BC935F700}"/>
              </a:ext>
            </a:extLst>
          </p:cNvPr>
          <p:cNvSpPr/>
          <p:nvPr/>
        </p:nvSpPr>
        <p:spPr>
          <a:xfrm>
            <a:off x="3841933" y="5916295"/>
            <a:ext cx="1606349" cy="868584"/>
          </a:xfrm>
          <a:prstGeom prst="roundRect">
            <a:avLst>
              <a:gd name="adj" fmla="val 808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E65FA8A9-3A76-129C-AB1C-45A09844473D}"/>
              </a:ext>
            </a:extLst>
          </p:cNvPr>
          <p:cNvSpPr txBox="1"/>
          <p:nvPr/>
        </p:nvSpPr>
        <p:spPr>
          <a:xfrm>
            <a:off x="1730366" y="5894490"/>
            <a:ext cx="1362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j-ea"/>
                <a:ea typeface="+mj-ea"/>
              </a:rPr>
              <a:t>记忆系统</a:t>
            </a:r>
            <a:endParaRPr lang="en-US" altLang="zh-CN" sz="1400" b="1" dirty="0">
              <a:latin typeface="+mj-ea"/>
              <a:ea typeface="+mj-ea"/>
            </a:endParaRPr>
          </a:p>
        </p:txBody>
      </p:sp>
      <p:sp>
        <p:nvSpPr>
          <p:cNvPr id="137" name="矩形: 圆角 136">
            <a:extLst>
              <a:ext uri="{FF2B5EF4-FFF2-40B4-BE49-F238E27FC236}">
                <a16:creationId xmlns:a16="http://schemas.microsoft.com/office/drawing/2014/main" id="{B27B77BE-BE1F-5DA0-C148-B8406B3B9714}"/>
              </a:ext>
            </a:extLst>
          </p:cNvPr>
          <p:cNvSpPr/>
          <p:nvPr/>
        </p:nvSpPr>
        <p:spPr>
          <a:xfrm>
            <a:off x="1241185" y="6182024"/>
            <a:ext cx="1077181" cy="52075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</a:rPr>
              <a:t>短期记忆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zh-CN" altLang="en-US" sz="1100" b="1" dirty="0">
                <a:solidFill>
                  <a:schemeClr val="tx1"/>
                </a:solidFill>
              </a:rPr>
              <a:t>滑动窗口 </a:t>
            </a:r>
            <a:r>
              <a:rPr lang="en-US" altLang="zh-CN" sz="1100" b="1" dirty="0">
                <a:solidFill>
                  <a:schemeClr val="tx1"/>
                </a:solidFill>
              </a:rPr>
              <a:t>TTL 1h, 10</a:t>
            </a:r>
            <a:r>
              <a:rPr lang="zh-CN" altLang="en-US" sz="1100" b="1" dirty="0">
                <a:solidFill>
                  <a:schemeClr val="tx1"/>
                </a:solidFill>
              </a:rPr>
              <a:t>轮</a:t>
            </a:r>
            <a:endParaRPr lang="en-US" altLang="zh-CN" sz="1100" b="1" dirty="0">
              <a:solidFill>
                <a:schemeClr val="tx1"/>
              </a:solidFill>
            </a:endParaRPr>
          </a:p>
        </p:txBody>
      </p:sp>
      <p:sp>
        <p:nvSpPr>
          <p:cNvPr id="138" name="矩形: 圆角 137">
            <a:extLst>
              <a:ext uri="{FF2B5EF4-FFF2-40B4-BE49-F238E27FC236}">
                <a16:creationId xmlns:a16="http://schemas.microsoft.com/office/drawing/2014/main" id="{F654369C-0862-F017-2D82-F2E8CAD6FAF3}"/>
              </a:ext>
            </a:extLst>
          </p:cNvPr>
          <p:cNvSpPr/>
          <p:nvPr/>
        </p:nvSpPr>
        <p:spPr>
          <a:xfrm>
            <a:off x="2573888" y="6191757"/>
            <a:ext cx="1037308" cy="52075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</a:rPr>
              <a:t>长期记忆</a:t>
            </a:r>
            <a:br>
              <a:rPr lang="en-US" altLang="zh-CN" sz="1100" b="1" dirty="0">
                <a:solidFill>
                  <a:schemeClr val="tx1"/>
                </a:solidFill>
              </a:rPr>
            </a:br>
            <a:r>
              <a:rPr lang="en-US" altLang="zh-CN" sz="1100" b="1" dirty="0">
                <a:solidFill>
                  <a:schemeClr val="tx1"/>
                </a:solidFill>
              </a:rPr>
              <a:t>JSON</a:t>
            </a:r>
            <a:r>
              <a:rPr lang="zh-CN" altLang="en-US" sz="1100" b="1" dirty="0">
                <a:solidFill>
                  <a:schemeClr val="tx1"/>
                </a:solidFill>
              </a:rPr>
              <a:t>持久化用户偏好</a:t>
            </a:r>
            <a:endParaRPr lang="en-US" altLang="zh-CN" sz="1100" b="1" dirty="0">
              <a:solidFill>
                <a:schemeClr val="tx1"/>
              </a:solidFill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0C978387-2286-1689-AD79-E46C870800E7}"/>
              </a:ext>
            </a:extLst>
          </p:cNvPr>
          <p:cNvSpPr txBox="1"/>
          <p:nvPr/>
        </p:nvSpPr>
        <p:spPr>
          <a:xfrm>
            <a:off x="3989718" y="5888389"/>
            <a:ext cx="1362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j-ea"/>
                <a:ea typeface="+mj-ea"/>
              </a:rPr>
              <a:t>弹性保障系统</a:t>
            </a:r>
            <a:endParaRPr lang="en-US" altLang="zh-CN" sz="1400" b="1" dirty="0">
              <a:latin typeface="+mj-ea"/>
              <a:ea typeface="+mj-ea"/>
            </a:endParaRP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3842230A-555A-2A1C-125E-E241E214E62D}"/>
              </a:ext>
            </a:extLst>
          </p:cNvPr>
          <p:cNvSpPr/>
          <p:nvPr/>
        </p:nvSpPr>
        <p:spPr>
          <a:xfrm>
            <a:off x="4144210" y="6224073"/>
            <a:ext cx="1001796" cy="20641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三态断路器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sp>
        <p:nvSpPr>
          <p:cNvPr id="141" name="矩形: 圆角 140">
            <a:extLst>
              <a:ext uri="{FF2B5EF4-FFF2-40B4-BE49-F238E27FC236}">
                <a16:creationId xmlns:a16="http://schemas.microsoft.com/office/drawing/2014/main" id="{D8583587-F44F-A6DA-D888-84FA01578514}"/>
              </a:ext>
            </a:extLst>
          </p:cNvPr>
          <p:cNvSpPr/>
          <p:nvPr/>
        </p:nvSpPr>
        <p:spPr>
          <a:xfrm>
            <a:off x="4144209" y="6512920"/>
            <a:ext cx="1001796" cy="20641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1000" b="1" dirty="0">
                <a:solidFill>
                  <a:schemeClr val="tx1"/>
                </a:solidFill>
              </a:rPr>
              <a:t>指数退避机制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cxnSp>
        <p:nvCxnSpPr>
          <p:cNvPr id="142" name="连接符: 肘形 141">
            <a:extLst>
              <a:ext uri="{FF2B5EF4-FFF2-40B4-BE49-F238E27FC236}">
                <a16:creationId xmlns:a16="http://schemas.microsoft.com/office/drawing/2014/main" id="{D10C3F67-6668-EE90-BC75-E9BB3B456B94}"/>
              </a:ext>
            </a:extLst>
          </p:cNvPr>
          <p:cNvCxnSpPr>
            <a:stCxn id="111" idx="0"/>
            <a:endCxn id="101" idx="2"/>
          </p:cNvCxnSpPr>
          <p:nvPr/>
        </p:nvCxnSpPr>
        <p:spPr>
          <a:xfrm rot="5400000" flipH="1" flipV="1">
            <a:off x="5999796" y="-67092"/>
            <a:ext cx="346992" cy="856453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9945D35E-7F85-D347-6704-AAA165356456}"/>
              </a:ext>
            </a:extLst>
          </p:cNvPr>
          <p:cNvCxnSpPr>
            <a:cxnSpLocks/>
          </p:cNvCxnSpPr>
          <p:nvPr/>
        </p:nvCxnSpPr>
        <p:spPr>
          <a:xfrm>
            <a:off x="8983436" y="1973662"/>
            <a:ext cx="148402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6B1176B3-1DE0-7351-BF5B-120EBB94C4BE}"/>
              </a:ext>
            </a:extLst>
          </p:cNvPr>
          <p:cNvCxnSpPr>
            <a:stCxn id="83" idx="2"/>
            <a:endCxn id="88" idx="0"/>
          </p:cNvCxnSpPr>
          <p:nvPr/>
        </p:nvCxnSpPr>
        <p:spPr>
          <a:xfrm flipH="1">
            <a:off x="8082033" y="2548374"/>
            <a:ext cx="1" cy="1157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949C1138-438D-9956-8239-B0CB7684D905}"/>
              </a:ext>
            </a:extLst>
          </p:cNvPr>
          <p:cNvCxnSpPr>
            <a:cxnSpLocks/>
            <a:endCxn id="89" idx="0"/>
          </p:cNvCxnSpPr>
          <p:nvPr/>
        </p:nvCxnSpPr>
        <p:spPr>
          <a:xfrm>
            <a:off x="8080719" y="3222643"/>
            <a:ext cx="1312" cy="158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8FD4B10F-B34A-146A-8065-A15230F680B4}"/>
              </a:ext>
            </a:extLst>
          </p:cNvPr>
          <p:cNvCxnSpPr/>
          <p:nvPr/>
        </p:nvCxnSpPr>
        <p:spPr>
          <a:xfrm flipH="1">
            <a:off x="10489701" y="2292328"/>
            <a:ext cx="1" cy="1157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56E41E91-2329-BF4C-E9FA-E1C8A65AD068}"/>
              </a:ext>
            </a:extLst>
          </p:cNvPr>
          <p:cNvCxnSpPr/>
          <p:nvPr/>
        </p:nvCxnSpPr>
        <p:spPr>
          <a:xfrm flipH="1">
            <a:off x="10481944" y="3041641"/>
            <a:ext cx="1" cy="1157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968EA08B-C45D-F5CD-DC5B-4E8287FE8995}"/>
              </a:ext>
            </a:extLst>
          </p:cNvPr>
          <p:cNvCxnSpPr>
            <a:cxnSpLocks/>
            <a:stCxn id="108" idx="1"/>
          </p:cNvCxnSpPr>
          <p:nvPr/>
        </p:nvCxnSpPr>
        <p:spPr>
          <a:xfrm flipH="1" flipV="1">
            <a:off x="8960021" y="2690062"/>
            <a:ext cx="175284" cy="245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9743CEA9-005A-AAAD-9CFA-56C0D2735E37}"/>
              </a:ext>
            </a:extLst>
          </p:cNvPr>
          <p:cNvCxnSpPr/>
          <p:nvPr/>
        </p:nvCxnSpPr>
        <p:spPr>
          <a:xfrm flipH="1">
            <a:off x="10489701" y="3641611"/>
            <a:ext cx="1" cy="1157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连接符: 肘形 149">
            <a:extLst>
              <a:ext uri="{FF2B5EF4-FFF2-40B4-BE49-F238E27FC236}">
                <a16:creationId xmlns:a16="http://schemas.microsoft.com/office/drawing/2014/main" id="{CE19C81A-838C-C8EB-766C-D5C42E4DDFAE}"/>
              </a:ext>
            </a:extLst>
          </p:cNvPr>
          <p:cNvCxnSpPr>
            <a:stCxn id="122" idx="0"/>
            <a:endCxn id="91" idx="2"/>
          </p:cNvCxnSpPr>
          <p:nvPr/>
        </p:nvCxnSpPr>
        <p:spPr>
          <a:xfrm rot="16200000" flipV="1">
            <a:off x="8591781" y="3532881"/>
            <a:ext cx="321598" cy="134051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7EF464AA-7DCF-5820-06BD-EFDBEC30BE06}"/>
              </a:ext>
            </a:extLst>
          </p:cNvPr>
          <p:cNvCxnSpPr>
            <a:cxnSpLocks/>
            <a:stCxn id="118" idx="0"/>
          </p:cNvCxnSpPr>
          <p:nvPr/>
        </p:nvCxnSpPr>
        <p:spPr>
          <a:xfrm rot="16200000" flipV="1">
            <a:off x="3939813" y="3672992"/>
            <a:ext cx="1236633" cy="194724"/>
          </a:xfrm>
          <a:prstGeom prst="bentConnector4">
            <a:avLst>
              <a:gd name="adj1" fmla="val 24434"/>
              <a:gd name="adj2" fmla="val 19149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18594628-1C6A-0E56-C13F-7C3099666844}"/>
              </a:ext>
            </a:extLst>
          </p:cNvPr>
          <p:cNvSpPr/>
          <p:nvPr/>
        </p:nvSpPr>
        <p:spPr>
          <a:xfrm>
            <a:off x="4499939" y="2455319"/>
            <a:ext cx="1030216" cy="217168"/>
          </a:xfrm>
          <a:prstGeom prst="roundRect">
            <a:avLst/>
          </a:prstGeom>
          <a:solidFill>
            <a:srgbClr val="FFCB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</a:rPr>
              <a:t>记忆查询</a:t>
            </a:r>
          </a:p>
        </p:txBody>
      </p:sp>
      <p:sp>
        <p:nvSpPr>
          <p:cNvPr id="153" name="矩形: 圆角 152">
            <a:extLst>
              <a:ext uri="{FF2B5EF4-FFF2-40B4-BE49-F238E27FC236}">
                <a16:creationId xmlns:a16="http://schemas.microsoft.com/office/drawing/2014/main" id="{B8034499-14B7-40B0-80AC-371D01D8B61E}"/>
              </a:ext>
            </a:extLst>
          </p:cNvPr>
          <p:cNvSpPr/>
          <p:nvPr/>
        </p:nvSpPr>
        <p:spPr>
          <a:xfrm>
            <a:off x="4493271" y="2764073"/>
            <a:ext cx="1030216" cy="217168"/>
          </a:xfrm>
          <a:prstGeom prst="roundRect">
            <a:avLst/>
          </a:prstGeom>
          <a:solidFill>
            <a:srgbClr val="FFCB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</a:rPr>
              <a:t>偏好查询</a:t>
            </a:r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CEEF6A4D-7E3A-C8C8-CD9E-B1A7161CE998}"/>
              </a:ext>
            </a:extLst>
          </p:cNvPr>
          <p:cNvSpPr/>
          <p:nvPr/>
        </p:nvSpPr>
        <p:spPr>
          <a:xfrm>
            <a:off x="4493271" y="3072827"/>
            <a:ext cx="1030216" cy="217168"/>
          </a:xfrm>
          <a:prstGeom prst="roundRect">
            <a:avLst/>
          </a:prstGeom>
          <a:solidFill>
            <a:srgbClr val="FFCB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RAG</a:t>
            </a:r>
            <a:r>
              <a:rPr lang="zh-CN" altLang="en-US" sz="1050" dirty="0">
                <a:solidFill>
                  <a:schemeClr val="tx1"/>
                </a:solidFill>
              </a:rPr>
              <a:t>经验查询</a:t>
            </a: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E16EF00B-47E0-4F59-BFD2-90744169E919}"/>
              </a:ext>
            </a:extLst>
          </p:cNvPr>
          <p:cNvSpPr/>
          <p:nvPr/>
        </p:nvSpPr>
        <p:spPr>
          <a:xfrm>
            <a:off x="4493271" y="3381581"/>
            <a:ext cx="1030216" cy="217168"/>
          </a:xfrm>
          <a:prstGeom prst="roundRect">
            <a:avLst/>
          </a:prstGeom>
          <a:solidFill>
            <a:srgbClr val="FFCB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RAG</a:t>
            </a:r>
            <a:r>
              <a:rPr lang="zh-CN" altLang="en-US" sz="1050" dirty="0">
                <a:solidFill>
                  <a:schemeClr val="tx1"/>
                </a:solidFill>
              </a:rPr>
              <a:t>风险查询</a:t>
            </a: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CD6FBB5D-4E4F-3525-F9EB-D8D851F61BE8}"/>
              </a:ext>
            </a:extLst>
          </p:cNvPr>
          <p:cNvSpPr/>
          <p:nvPr/>
        </p:nvSpPr>
        <p:spPr>
          <a:xfrm>
            <a:off x="4493271" y="3690335"/>
            <a:ext cx="1030216" cy="217168"/>
          </a:xfrm>
          <a:prstGeom prst="roundRect">
            <a:avLst/>
          </a:prstGeom>
          <a:solidFill>
            <a:srgbClr val="FFCB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</a:rPr>
              <a:t>往返交通查询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6DBA5BBD-F226-0B4F-7C20-C799CD33E914}"/>
              </a:ext>
            </a:extLst>
          </p:cNvPr>
          <p:cNvSpPr txBox="1"/>
          <p:nvPr/>
        </p:nvSpPr>
        <p:spPr>
          <a:xfrm>
            <a:off x="5906621" y="2248371"/>
            <a:ext cx="8363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dirty="0"/>
              <a:t>（依赖</a:t>
            </a:r>
            <a:r>
              <a:rPr lang="en-US" altLang="zh-CN" sz="1050" dirty="0" err="1"/>
              <a:t>i</a:t>
            </a:r>
            <a:r>
              <a:rPr lang="zh-CN" altLang="en-US" sz="1050" dirty="0"/>
              <a:t>）</a:t>
            </a:r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791FA0CA-64C0-4094-DE0E-C220BF37EEBD}"/>
              </a:ext>
            </a:extLst>
          </p:cNvPr>
          <p:cNvSpPr/>
          <p:nvPr/>
        </p:nvSpPr>
        <p:spPr>
          <a:xfrm>
            <a:off x="5764293" y="2495794"/>
            <a:ext cx="1103164" cy="385878"/>
          </a:xfrm>
          <a:prstGeom prst="roundRect">
            <a:avLst/>
          </a:prstGeom>
          <a:solidFill>
            <a:srgbClr val="FFCB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种子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8B9A72A8-AF10-FE99-26D4-038699D4B3EA}"/>
              </a:ext>
            </a:extLst>
          </p:cNvPr>
          <p:cNvSpPr/>
          <p:nvPr/>
        </p:nvSpPr>
        <p:spPr>
          <a:xfrm>
            <a:off x="5758545" y="3043907"/>
            <a:ext cx="1123176" cy="381094"/>
          </a:xfrm>
          <a:prstGeom prst="roundRect">
            <a:avLst/>
          </a:prstGeom>
          <a:solidFill>
            <a:srgbClr val="FFCB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多路召回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988478EE-392E-6332-5141-62D42798E289}"/>
              </a:ext>
            </a:extLst>
          </p:cNvPr>
          <p:cNvCxnSpPr>
            <a:cxnSpLocks/>
            <a:stCxn id="158" idx="2"/>
            <a:endCxn id="159" idx="0"/>
          </p:cNvCxnSpPr>
          <p:nvPr/>
        </p:nvCxnSpPr>
        <p:spPr>
          <a:xfrm>
            <a:off x="6315875" y="2881672"/>
            <a:ext cx="4258" cy="1622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: 圆角 160">
            <a:extLst>
              <a:ext uri="{FF2B5EF4-FFF2-40B4-BE49-F238E27FC236}">
                <a16:creationId xmlns:a16="http://schemas.microsoft.com/office/drawing/2014/main" id="{53D62BCA-C988-187D-6DD1-AE6AA8CCBAE9}"/>
              </a:ext>
            </a:extLst>
          </p:cNvPr>
          <p:cNvSpPr/>
          <p:nvPr/>
        </p:nvSpPr>
        <p:spPr>
          <a:xfrm>
            <a:off x="2959514" y="5166586"/>
            <a:ext cx="1536234" cy="369058"/>
          </a:xfrm>
          <a:prstGeom prst="roundRect">
            <a:avLst/>
          </a:prstGeom>
          <a:solidFill>
            <a:srgbClr val="FFE8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b="1" dirty="0" err="1">
                <a:solidFill>
                  <a:schemeClr val="tx1"/>
                </a:solidFill>
              </a:rPr>
              <a:t>HyDE</a:t>
            </a:r>
            <a:r>
              <a:rPr lang="zh-CN" altLang="en-US" sz="1050" b="1" dirty="0">
                <a:solidFill>
                  <a:schemeClr val="tx1"/>
                </a:solidFill>
              </a:rPr>
              <a:t>多路扩展</a:t>
            </a:r>
            <a:br>
              <a:rPr lang="en-US" altLang="zh-CN" sz="1050" b="1" dirty="0">
                <a:solidFill>
                  <a:schemeClr val="tx1"/>
                </a:solidFill>
              </a:rPr>
            </a:br>
            <a:r>
              <a:rPr lang="zh-CN" altLang="en-US" sz="1050" b="1" dirty="0">
                <a:solidFill>
                  <a:schemeClr val="tx1"/>
                </a:solidFill>
              </a:rPr>
              <a:t>交叉编码器重排</a:t>
            </a:r>
            <a:endParaRPr lang="en-US" altLang="zh-CN" sz="1050" b="1" dirty="0">
              <a:solidFill>
                <a:schemeClr val="tx1"/>
              </a:solidFill>
            </a:endParaRPr>
          </a:p>
        </p:txBody>
      </p:sp>
      <p:sp>
        <p:nvSpPr>
          <p:cNvPr id="162" name="矩形: 圆角 161">
            <a:extLst>
              <a:ext uri="{FF2B5EF4-FFF2-40B4-BE49-F238E27FC236}">
                <a16:creationId xmlns:a16="http://schemas.microsoft.com/office/drawing/2014/main" id="{E7EC4A96-E0A9-37B0-B63A-99880ABD5F35}"/>
              </a:ext>
            </a:extLst>
          </p:cNvPr>
          <p:cNvSpPr/>
          <p:nvPr/>
        </p:nvSpPr>
        <p:spPr>
          <a:xfrm>
            <a:off x="5952131" y="5803163"/>
            <a:ext cx="544462" cy="1009620"/>
          </a:xfrm>
          <a:prstGeom prst="roundRect">
            <a:avLst/>
          </a:prstGeom>
          <a:solidFill>
            <a:srgbClr val="FFEB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交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互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层</a:t>
            </a:r>
          </a:p>
        </p:txBody>
      </p:sp>
      <p:sp>
        <p:nvSpPr>
          <p:cNvPr id="163" name="矩形: 圆角 162">
            <a:extLst>
              <a:ext uri="{FF2B5EF4-FFF2-40B4-BE49-F238E27FC236}">
                <a16:creationId xmlns:a16="http://schemas.microsoft.com/office/drawing/2014/main" id="{1866859A-9AF2-1B49-754F-EDD9F08D6F30}"/>
              </a:ext>
            </a:extLst>
          </p:cNvPr>
          <p:cNvSpPr/>
          <p:nvPr/>
        </p:nvSpPr>
        <p:spPr>
          <a:xfrm>
            <a:off x="6564164" y="5811868"/>
            <a:ext cx="5464703" cy="999809"/>
          </a:xfrm>
          <a:prstGeom prst="roundRect">
            <a:avLst>
              <a:gd name="adj" fmla="val 8086"/>
            </a:avLst>
          </a:prstGeom>
          <a:solidFill>
            <a:srgbClr val="FFEBF3">
              <a:alpha val="47000"/>
            </a:srgb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CEC247B6-1C18-4E54-59FC-C946F93942F4}"/>
              </a:ext>
            </a:extLst>
          </p:cNvPr>
          <p:cNvSpPr/>
          <p:nvPr/>
        </p:nvSpPr>
        <p:spPr>
          <a:xfrm>
            <a:off x="6697584" y="5878585"/>
            <a:ext cx="2713277" cy="868584"/>
          </a:xfrm>
          <a:prstGeom prst="roundRect">
            <a:avLst>
              <a:gd name="adj" fmla="val 8086"/>
            </a:avLst>
          </a:prstGeom>
          <a:solidFill>
            <a:srgbClr val="FFEB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65" name="矩形: 圆角 164">
            <a:extLst>
              <a:ext uri="{FF2B5EF4-FFF2-40B4-BE49-F238E27FC236}">
                <a16:creationId xmlns:a16="http://schemas.microsoft.com/office/drawing/2014/main" id="{40D4D082-3925-AD6F-8741-F7179150C974}"/>
              </a:ext>
            </a:extLst>
          </p:cNvPr>
          <p:cNvSpPr/>
          <p:nvPr/>
        </p:nvSpPr>
        <p:spPr>
          <a:xfrm>
            <a:off x="9575148" y="5888131"/>
            <a:ext cx="2377363" cy="868584"/>
          </a:xfrm>
          <a:prstGeom prst="roundRect">
            <a:avLst>
              <a:gd name="adj" fmla="val 8086"/>
            </a:avLst>
          </a:prstGeom>
          <a:solidFill>
            <a:srgbClr val="FFEB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D9E66FC7-57EC-78FD-FC89-1A390AF95701}"/>
              </a:ext>
            </a:extLst>
          </p:cNvPr>
          <p:cNvSpPr txBox="1"/>
          <p:nvPr/>
        </p:nvSpPr>
        <p:spPr>
          <a:xfrm>
            <a:off x="7354232" y="5868176"/>
            <a:ext cx="1362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ea"/>
                <a:ea typeface="+mj-ea"/>
              </a:rPr>
              <a:t>Web</a:t>
            </a:r>
            <a:r>
              <a:rPr lang="zh-CN" altLang="en-US" sz="1400" b="1" dirty="0">
                <a:latin typeface="+mj-ea"/>
                <a:ea typeface="+mj-ea"/>
              </a:rPr>
              <a:t>前端</a:t>
            </a:r>
            <a:endParaRPr lang="en-US" altLang="zh-CN" sz="1400" b="1" dirty="0">
              <a:latin typeface="+mj-ea"/>
              <a:ea typeface="+mj-ea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AACEA261-4D44-93D9-5F17-0A981C689C76}"/>
              </a:ext>
            </a:extLst>
          </p:cNvPr>
          <p:cNvSpPr txBox="1"/>
          <p:nvPr/>
        </p:nvSpPr>
        <p:spPr>
          <a:xfrm>
            <a:off x="10133557" y="5864430"/>
            <a:ext cx="1362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j-ea"/>
                <a:ea typeface="+mj-ea"/>
              </a:rPr>
              <a:t>后端服务接口</a:t>
            </a:r>
            <a:endParaRPr lang="en-US" altLang="zh-CN" sz="1400" b="1" dirty="0">
              <a:latin typeface="+mj-ea"/>
              <a:ea typeface="+mj-ea"/>
            </a:endParaRPr>
          </a:p>
        </p:txBody>
      </p:sp>
      <p:sp>
        <p:nvSpPr>
          <p:cNvPr id="168" name="矩形: 圆角 167">
            <a:extLst>
              <a:ext uri="{FF2B5EF4-FFF2-40B4-BE49-F238E27FC236}">
                <a16:creationId xmlns:a16="http://schemas.microsoft.com/office/drawing/2014/main" id="{27BAA479-29B2-EDBF-1579-804B3666448C}"/>
              </a:ext>
            </a:extLst>
          </p:cNvPr>
          <p:cNvSpPr/>
          <p:nvPr/>
        </p:nvSpPr>
        <p:spPr>
          <a:xfrm>
            <a:off x="6835847" y="6278064"/>
            <a:ext cx="1001796" cy="206414"/>
          </a:xfrm>
          <a:prstGeom prst="roundRect">
            <a:avLst/>
          </a:prstGeom>
          <a:solidFill>
            <a:srgbClr val="FFC9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Vite + React</a:t>
            </a:r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F808F00B-3198-47F3-0E6F-F08F8CA712D4}"/>
              </a:ext>
            </a:extLst>
          </p:cNvPr>
          <p:cNvSpPr/>
          <p:nvPr/>
        </p:nvSpPr>
        <p:spPr>
          <a:xfrm>
            <a:off x="8148960" y="6195020"/>
            <a:ext cx="1001796" cy="206414"/>
          </a:xfrm>
          <a:prstGeom prst="roundRect">
            <a:avLst/>
          </a:prstGeom>
          <a:solidFill>
            <a:srgbClr val="FFC9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对话式界面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C0C3AED4-6A83-2270-AD40-8EC45996E32C}"/>
              </a:ext>
            </a:extLst>
          </p:cNvPr>
          <p:cNvSpPr/>
          <p:nvPr/>
        </p:nvSpPr>
        <p:spPr>
          <a:xfrm>
            <a:off x="8146990" y="6484233"/>
            <a:ext cx="1001796" cy="206414"/>
          </a:xfrm>
          <a:prstGeom prst="roundRect">
            <a:avLst/>
          </a:prstGeom>
          <a:solidFill>
            <a:srgbClr val="FFC9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solidFill>
                  <a:schemeClr val="tx1"/>
                </a:solidFill>
              </a:rPr>
              <a:t>行程展示窗口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5717580A-DF97-3378-DA7A-3734E6545FA9}"/>
              </a:ext>
            </a:extLst>
          </p:cNvPr>
          <p:cNvSpPr/>
          <p:nvPr/>
        </p:nvSpPr>
        <p:spPr>
          <a:xfrm>
            <a:off x="9849886" y="6171213"/>
            <a:ext cx="1837618" cy="223596"/>
          </a:xfrm>
          <a:prstGeom prst="roundRect">
            <a:avLst/>
          </a:prstGeom>
          <a:solidFill>
            <a:srgbClr val="FFC9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 err="1">
                <a:solidFill>
                  <a:schemeClr val="tx1"/>
                </a:solidFill>
              </a:rPr>
              <a:t>FastAPI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sp>
        <p:nvSpPr>
          <p:cNvPr id="172" name="矩形: 圆角 171">
            <a:extLst>
              <a:ext uri="{FF2B5EF4-FFF2-40B4-BE49-F238E27FC236}">
                <a16:creationId xmlns:a16="http://schemas.microsoft.com/office/drawing/2014/main" id="{B0106219-F3E5-7F0B-D50F-BA074D3D85FF}"/>
              </a:ext>
            </a:extLst>
          </p:cNvPr>
          <p:cNvSpPr/>
          <p:nvPr/>
        </p:nvSpPr>
        <p:spPr>
          <a:xfrm>
            <a:off x="9849108" y="6476299"/>
            <a:ext cx="1838396" cy="226481"/>
          </a:xfrm>
          <a:prstGeom prst="roundRect">
            <a:avLst/>
          </a:prstGeom>
          <a:solidFill>
            <a:srgbClr val="FFC9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SSE </a:t>
            </a:r>
            <a:r>
              <a:rPr lang="zh-CN" altLang="en-US" sz="1000" b="1" dirty="0">
                <a:solidFill>
                  <a:schemeClr val="tx1"/>
                </a:solidFill>
              </a:rPr>
              <a:t>流式相应 逐字渲染</a:t>
            </a:r>
            <a:endParaRPr lang="en-US" altLang="zh-CN" sz="1000" b="1" dirty="0">
              <a:solidFill>
                <a:schemeClr val="tx1"/>
              </a:solidFill>
            </a:endParaRPr>
          </a:p>
        </p:txBody>
      </p:sp>
      <p:sp>
        <p:nvSpPr>
          <p:cNvPr id="173" name="灯片编号占位符 181">
            <a:extLst>
              <a:ext uri="{FF2B5EF4-FFF2-40B4-BE49-F238E27FC236}">
                <a16:creationId xmlns:a16="http://schemas.microsoft.com/office/drawing/2014/main" id="{A835D9A6-7D09-8328-85F3-5460E95D4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79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6FEB-E586-7764-B58E-B7E0BD25D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432784DB-E4D7-B808-DD9E-12405FA7C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32" name="文本占位符 149">
            <a:extLst>
              <a:ext uri="{FF2B5EF4-FFF2-40B4-BE49-F238E27FC236}">
                <a16:creationId xmlns:a16="http://schemas.microsoft.com/office/drawing/2014/main" id="{0A179372-61BD-388A-9048-0FFDC6DEC144}"/>
              </a:ext>
            </a:extLst>
          </p:cNvPr>
          <p:cNvSpPr txBox="1">
            <a:spLocks/>
          </p:cNvSpPr>
          <p:nvPr/>
        </p:nvSpPr>
        <p:spPr>
          <a:xfrm>
            <a:off x="0" y="828631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系统总体架构与技术选型</a:t>
            </a:r>
          </a:p>
          <a:p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占位符 33">
            <a:extLst>
              <a:ext uri="{FF2B5EF4-FFF2-40B4-BE49-F238E27FC236}">
                <a16:creationId xmlns:a16="http://schemas.microsoft.com/office/drawing/2014/main" id="{0A9C36FA-8EC3-CFCD-733F-7D7397C50A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1" name="文本占位符 34">
            <a:extLst>
              <a:ext uri="{FF2B5EF4-FFF2-40B4-BE49-F238E27FC236}">
                <a16:creationId xmlns:a16="http://schemas.microsoft.com/office/drawing/2014/main" id="{118DD41D-D833-F11E-9450-FF89F0B55C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2" name="文本占位符 35">
            <a:extLst>
              <a:ext uri="{FF2B5EF4-FFF2-40B4-BE49-F238E27FC236}">
                <a16:creationId xmlns:a16="http://schemas.microsoft.com/office/drawing/2014/main" id="{1A73D612-4A30-15E1-32FF-3987F5FE2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3" name="文本占位符 36">
            <a:extLst>
              <a:ext uri="{FF2B5EF4-FFF2-40B4-BE49-F238E27FC236}">
                <a16:creationId xmlns:a16="http://schemas.microsoft.com/office/drawing/2014/main" id="{80184AD5-38F0-7D52-55FB-7EA4ED4E75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4" name="文本占位符 37">
            <a:extLst>
              <a:ext uri="{FF2B5EF4-FFF2-40B4-BE49-F238E27FC236}">
                <a16:creationId xmlns:a16="http://schemas.microsoft.com/office/drawing/2014/main" id="{7559FB60-BA49-5C41-3DE7-8AAE9B0B74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20394D6-A77E-E032-59F2-4569FA081A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93" y="1705390"/>
            <a:ext cx="6573218" cy="4198847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2E0CE35C-5EEC-547E-96DD-D19067529F28}"/>
              </a:ext>
            </a:extLst>
          </p:cNvPr>
          <p:cNvSpPr/>
          <p:nvPr/>
        </p:nvSpPr>
        <p:spPr>
          <a:xfrm>
            <a:off x="469562" y="6029369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 3-1　</a:t>
            </a:r>
            <a:r>
              <a:rPr lang="en-US" sz="1200" dirty="0" err="1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系统总体架构图</a:t>
            </a:r>
            <a:endParaRPr lang="en-US" sz="12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0BA07BF-F248-8500-8B43-93044CF3776F}"/>
              </a:ext>
            </a:extLst>
          </p:cNvPr>
          <p:cNvSpPr/>
          <p:nvPr/>
        </p:nvSpPr>
        <p:spPr>
          <a:xfrm>
            <a:off x="7145207" y="2180209"/>
            <a:ext cx="4800600" cy="566928"/>
          </a:xfrm>
          <a:prstGeom prst="roundRect">
            <a:avLst>
              <a:gd name="adj" fmla="val 12903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69E01D8-D474-8218-F1FE-54F97D025613}"/>
              </a:ext>
            </a:extLst>
          </p:cNvPr>
          <p:cNvSpPr/>
          <p:nvPr/>
        </p:nvSpPr>
        <p:spPr>
          <a:xfrm>
            <a:off x="7145207" y="2180209"/>
            <a:ext cx="82296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CB99665-571D-3FA0-5D61-0F8F146D7FD0}"/>
              </a:ext>
            </a:extLst>
          </p:cNvPr>
          <p:cNvSpPr/>
          <p:nvPr/>
        </p:nvSpPr>
        <p:spPr>
          <a:xfrm>
            <a:off x="7324877" y="2180209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交互层</a:t>
            </a:r>
            <a:endParaRPr lang="en-US" sz="16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7F42567-A091-55D3-AC44-7507CB3DAFE6}"/>
              </a:ext>
            </a:extLst>
          </p:cNvPr>
          <p:cNvSpPr/>
          <p:nvPr/>
        </p:nvSpPr>
        <p:spPr>
          <a:xfrm>
            <a:off x="8253823" y="2180209"/>
            <a:ext cx="3646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+ SSE Web 接口，仅收发与流式渲染</a:t>
            </a:r>
            <a:endParaRPr lang="en-US" sz="12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9D01E78-9D15-6BAA-5E6E-2D34B67A3EE1}"/>
              </a:ext>
            </a:extLst>
          </p:cNvPr>
          <p:cNvSpPr/>
          <p:nvPr/>
        </p:nvSpPr>
        <p:spPr>
          <a:xfrm>
            <a:off x="7145207" y="2838577"/>
            <a:ext cx="4800600" cy="566928"/>
          </a:xfrm>
          <a:prstGeom prst="roundRect">
            <a:avLst>
              <a:gd name="adj" fmla="val 12903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C5AF8AC-3583-CDF3-99D9-9F39A3F4E29B}"/>
              </a:ext>
            </a:extLst>
          </p:cNvPr>
          <p:cNvSpPr/>
          <p:nvPr/>
        </p:nvSpPr>
        <p:spPr>
          <a:xfrm>
            <a:off x="7145207" y="2838577"/>
            <a:ext cx="82296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DE71A83-9BC8-353C-17DA-92BDF6832B82}"/>
              </a:ext>
            </a:extLst>
          </p:cNvPr>
          <p:cNvSpPr/>
          <p:nvPr/>
        </p:nvSpPr>
        <p:spPr>
          <a:xfrm>
            <a:off x="7324877" y="2838577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编排层</a:t>
            </a:r>
            <a:endParaRPr lang="en-US" sz="16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C0EEA03F-D2F8-C974-EA9E-6B47F773EF1D}"/>
              </a:ext>
            </a:extLst>
          </p:cNvPr>
          <p:cNvSpPr/>
          <p:nvPr/>
        </p:nvSpPr>
        <p:spPr>
          <a:xfrm>
            <a:off x="8253823" y="2838577"/>
            <a:ext cx="3646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LangGraph 状态图，节点装配 / 路由 / 重试 / Checkpointer</a:t>
            </a:r>
            <a:endParaRPr lang="en-US" sz="12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2389D36-DBAB-319A-FCA4-62F2F0AC5542}"/>
              </a:ext>
            </a:extLst>
          </p:cNvPr>
          <p:cNvSpPr/>
          <p:nvPr/>
        </p:nvSpPr>
        <p:spPr>
          <a:xfrm>
            <a:off x="7145207" y="3496945"/>
            <a:ext cx="4800600" cy="566928"/>
          </a:xfrm>
          <a:prstGeom prst="roundRect">
            <a:avLst>
              <a:gd name="adj" fmla="val 12903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22D95EA-7FFF-F28A-8009-5C31C4715E27}"/>
              </a:ext>
            </a:extLst>
          </p:cNvPr>
          <p:cNvSpPr/>
          <p:nvPr/>
        </p:nvSpPr>
        <p:spPr>
          <a:xfrm>
            <a:off x="7145207" y="3496945"/>
            <a:ext cx="82296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50D3CEA6-EC97-AB00-BE59-B546C0103B82}"/>
              </a:ext>
            </a:extLst>
          </p:cNvPr>
          <p:cNvSpPr/>
          <p:nvPr/>
        </p:nvSpPr>
        <p:spPr>
          <a:xfrm>
            <a:off x="7324877" y="3496945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智能体层</a:t>
            </a:r>
            <a:endParaRPr lang="en-US" sz="16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A25B0672-FED0-AA54-8FD1-6DBE9668B866}"/>
              </a:ext>
            </a:extLst>
          </p:cNvPr>
          <p:cNvSpPr/>
          <p:nvPr/>
        </p:nvSpPr>
        <p:spPr>
          <a:xfrm>
            <a:off x="8253823" y="3496945"/>
            <a:ext cx="3646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交通、POI、住宿等领域智能体，按需动态调用</a:t>
            </a:r>
            <a:endParaRPr lang="en-US" sz="1200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56BE5C9-DBE4-DA5D-1E76-29FCC2A652AA}"/>
              </a:ext>
            </a:extLst>
          </p:cNvPr>
          <p:cNvSpPr/>
          <p:nvPr/>
        </p:nvSpPr>
        <p:spPr>
          <a:xfrm>
            <a:off x="7145207" y="4155313"/>
            <a:ext cx="4800600" cy="566928"/>
          </a:xfrm>
          <a:prstGeom prst="roundRect">
            <a:avLst>
              <a:gd name="adj" fmla="val 12903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EE829B27-DDD7-BFE0-E59F-9EB6086A061A}"/>
              </a:ext>
            </a:extLst>
          </p:cNvPr>
          <p:cNvSpPr/>
          <p:nvPr/>
        </p:nvSpPr>
        <p:spPr>
          <a:xfrm>
            <a:off x="7145207" y="4155313"/>
            <a:ext cx="82296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059B80CC-5310-0691-BDC4-3CA938B59609}"/>
              </a:ext>
            </a:extLst>
          </p:cNvPr>
          <p:cNvSpPr/>
          <p:nvPr/>
        </p:nvSpPr>
        <p:spPr>
          <a:xfrm>
            <a:off x="7324877" y="4155313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工具层</a:t>
            </a:r>
            <a:endParaRPr lang="en-US" sz="16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6E3D45BC-F0C8-24C4-8941-7C1BBCD6063C}"/>
              </a:ext>
            </a:extLst>
          </p:cNvPr>
          <p:cNvSpPr/>
          <p:nvPr/>
        </p:nvSpPr>
        <p:spPr>
          <a:xfrm>
            <a:off x="8253823" y="4155313"/>
            <a:ext cx="3646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封装高德 / 途牛 / 12306，熔断与退避</a:t>
            </a:r>
            <a:endParaRPr lang="en-US" sz="12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0B2E118E-F2CE-3BF6-7118-D31A83049304}"/>
              </a:ext>
            </a:extLst>
          </p:cNvPr>
          <p:cNvSpPr/>
          <p:nvPr/>
        </p:nvSpPr>
        <p:spPr>
          <a:xfrm>
            <a:off x="7145207" y="4813681"/>
            <a:ext cx="4800600" cy="566928"/>
          </a:xfrm>
          <a:prstGeom prst="roundRect">
            <a:avLst>
              <a:gd name="adj" fmla="val 12903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5A2FB288-A85D-B91F-DB16-7DB580949A9A}"/>
              </a:ext>
            </a:extLst>
          </p:cNvPr>
          <p:cNvSpPr/>
          <p:nvPr/>
        </p:nvSpPr>
        <p:spPr>
          <a:xfrm>
            <a:off x="7145207" y="4813681"/>
            <a:ext cx="82296" cy="56692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62464B04-0275-FBD1-1E79-C95128ABAB27}"/>
              </a:ext>
            </a:extLst>
          </p:cNvPr>
          <p:cNvSpPr/>
          <p:nvPr/>
        </p:nvSpPr>
        <p:spPr>
          <a:xfrm>
            <a:off x="7324877" y="4813681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DE88694C-246B-4B43-7ADF-2EF57B137C29}"/>
              </a:ext>
            </a:extLst>
          </p:cNvPr>
          <p:cNvSpPr/>
          <p:nvPr/>
        </p:nvSpPr>
        <p:spPr>
          <a:xfrm>
            <a:off x="8253823" y="4813681"/>
            <a:ext cx="3646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 检查点 + JSON 偏好 + ChromaDB 向量库</a:t>
            </a:r>
            <a:endParaRPr lang="en-US" sz="1200" dirty="0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84EA07CD-815C-FBF3-DA67-77C278176FFD}"/>
              </a:ext>
            </a:extLst>
          </p:cNvPr>
          <p:cNvSpPr/>
          <p:nvPr/>
        </p:nvSpPr>
        <p:spPr>
          <a:xfrm>
            <a:off x="7145207" y="5832299"/>
            <a:ext cx="4800600" cy="6684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技术栈：</a:t>
            </a:r>
            <a:r>
              <a:rPr lang="en-US" sz="140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LangGraph · doubao-lite · MCP · ChromaDB · </a:t>
            </a:r>
            <a:r>
              <a:rPr lang="en-US" sz="1400" dirty="0" err="1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bge</a:t>
            </a:r>
            <a:r>
              <a:rPr lang="en-US" sz="140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-small-</a:t>
            </a:r>
            <a:r>
              <a:rPr lang="en-US" sz="1400" dirty="0" err="1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zh</a:t>
            </a:r>
            <a:r>
              <a:rPr lang="en-US" sz="140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AsyncSqliteSaver · FastAPI · React+Vite</a:t>
            </a:r>
            <a:endParaRPr lang="en-US" sz="1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FADFCC-064B-A936-CE49-F3123A269C5D}"/>
              </a:ext>
            </a:extLst>
          </p:cNvPr>
          <p:cNvSpPr txBox="1"/>
          <p:nvPr/>
        </p:nvSpPr>
        <p:spPr>
          <a:xfrm>
            <a:off x="7000349" y="1644835"/>
            <a:ext cx="2004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技术选型</a:t>
            </a:r>
          </a:p>
        </p:txBody>
      </p:sp>
      <p:sp>
        <p:nvSpPr>
          <p:cNvPr id="28" name="灯片编号占位符 181">
            <a:extLst>
              <a:ext uri="{FF2B5EF4-FFF2-40B4-BE49-F238E27FC236}">
                <a16:creationId xmlns:a16="http://schemas.microsoft.com/office/drawing/2014/main" id="{CFAA1834-3EBE-6880-6E37-84B41294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8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622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3A175-0BA3-F167-A91B-0D6010DF9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6C3AFEC8-7CB2-37FA-05D4-D417E1EF33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32" name="文本占位符 149">
            <a:extLst>
              <a:ext uri="{FF2B5EF4-FFF2-40B4-BE49-F238E27FC236}">
                <a16:creationId xmlns:a16="http://schemas.microsoft.com/office/drawing/2014/main" id="{F324705E-56DD-63BF-6467-DA07ACC16015}"/>
              </a:ext>
            </a:extLst>
          </p:cNvPr>
          <p:cNvSpPr txBox="1">
            <a:spLocks/>
          </p:cNvSpPr>
          <p:nvPr/>
        </p:nvSpPr>
        <p:spPr>
          <a:xfrm>
            <a:off x="0" y="828631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五阶段状态图工作流</a:t>
            </a:r>
          </a:p>
          <a:p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anose="00020600040101010101" charset="-122"/>
            </a:endParaRPr>
          </a:p>
          <a:p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占位符 33">
            <a:extLst>
              <a:ext uri="{FF2B5EF4-FFF2-40B4-BE49-F238E27FC236}">
                <a16:creationId xmlns:a16="http://schemas.microsoft.com/office/drawing/2014/main" id="{37656FE4-1CC6-1112-2941-57410F9502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1" name="文本占位符 34">
            <a:extLst>
              <a:ext uri="{FF2B5EF4-FFF2-40B4-BE49-F238E27FC236}">
                <a16:creationId xmlns:a16="http://schemas.microsoft.com/office/drawing/2014/main" id="{1BD5523D-7C53-5E38-3968-287D2A493B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2" name="文本占位符 35">
            <a:extLst>
              <a:ext uri="{FF2B5EF4-FFF2-40B4-BE49-F238E27FC236}">
                <a16:creationId xmlns:a16="http://schemas.microsoft.com/office/drawing/2014/main" id="{9F691B7A-4DF9-6118-E8A6-617185F799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3" name="文本占位符 36">
            <a:extLst>
              <a:ext uri="{FF2B5EF4-FFF2-40B4-BE49-F238E27FC236}">
                <a16:creationId xmlns:a16="http://schemas.microsoft.com/office/drawing/2014/main" id="{1A976CB1-8478-0EF2-AD20-49D308F922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4" name="文本占位符 37">
            <a:extLst>
              <a:ext uri="{FF2B5EF4-FFF2-40B4-BE49-F238E27FC236}">
                <a16:creationId xmlns:a16="http://schemas.microsoft.com/office/drawing/2014/main" id="{86A2870D-7D22-AC47-514D-E2263FEFAF5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pic>
        <p:nvPicPr>
          <p:cNvPr id="26" name="Image 0" descr="/tmp/ppt_build/img/image8.jpeg">
            <a:extLst>
              <a:ext uri="{FF2B5EF4-FFF2-40B4-BE49-F238E27FC236}">
                <a16:creationId xmlns:a16="http://schemas.microsoft.com/office/drawing/2014/main" id="{EE64E085-41E0-081C-4B35-03F4C8D48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56" y="1372716"/>
            <a:ext cx="5029199" cy="4972103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5119CF50-71AA-5D7C-CB78-91D094AD72A0}"/>
              </a:ext>
            </a:extLst>
          </p:cNvPr>
          <p:cNvSpPr/>
          <p:nvPr/>
        </p:nvSpPr>
        <p:spPr>
          <a:xfrm>
            <a:off x="835595" y="6400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 3-2　工作流架构</a:t>
            </a:r>
            <a:endParaRPr lang="en-US" sz="1200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1F5E0A6A-BB13-068E-B4D7-4DFF1323C4CB}"/>
              </a:ext>
            </a:extLst>
          </p:cNvPr>
          <p:cNvSpPr/>
          <p:nvPr/>
        </p:nvSpPr>
        <p:spPr>
          <a:xfrm>
            <a:off x="6243191" y="1561822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8A611028-1326-71D0-A95D-D3D1A8C146D0}"/>
              </a:ext>
            </a:extLst>
          </p:cNvPr>
          <p:cNvSpPr/>
          <p:nvPr/>
        </p:nvSpPr>
        <p:spPr>
          <a:xfrm>
            <a:off x="6243191" y="156182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P1</a:t>
            </a:r>
            <a:endParaRPr lang="en-US" sz="16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87007036-1258-38F5-B386-7FE15BFC1EFF}"/>
              </a:ext>
            </a:extLst>
          </p:cNvPr>
          <p:cNvSpPr/>
          <p:nvPr/>
        </p:nvSpPr>
        <p:spPr>
          <a:xfrm>
            <a:off x="6928991" y="154353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意图识别与约束抽取</a:t>
            </a:r>
            <a:endParaRPr lang="en-US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F04ADEEB-1236-0168-6878-8F88D6706B41}"/>
              </a:ext>
            </a:extLst>
          </p:cNvPr>
          <p:cNvSpPr/>
          <p:nvPr/>
        </p:nvSpPr>
        <p:spPr>
          <a:xfrm>
            <a:off x="6928991" y="185443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语义意图分类</a:t>
            </a:r>
            <a:r>
              <a:rPr lang="zh-CN" altLang="en-US" sz="14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14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硬约束完整性与时空可行性校验</a:t>
            </a:r>
            <a:endParaRPr lang="en-US" sz="1400" dirty="0"/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19DBDADB-DD33-777F-BFE2-8DDFEE9089AD}"/>
              </a:ext>
            </a:extLst>
          </p:cNvPr>
          <p:cNvSpPr/>
          <p:nvPr/>
        </p:nvSpPr>
        <p:spPr>
          <a:xfrm>
            <a:off x="6243191" y="2275054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5916FDDF-31C2-8786-7CC7-8A23A3BA299F}"/>
              </a:ext>
            </a:extLst>
          </p:cNvPr>
          <p:cNvSpPr/>
          <p:nvPr/>
        </p:nvSpPr>
        <p:spPr>
          <a:xfrm>
            <a:off x="6243191" y="227505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P2</a:t>
            </a:r>
            <a:endParaRPr lang="en-US" sz="16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8AC30E76-49D9-3897-2214-466C496B0E94}"/>
              </a:ext>
            </a:extLst>
          </p:cNvPr>
          <p:cNvSpPr/>
          <p:nvPr/>
        </p:nvSpPr>
        <p:spPr>
          <a:xfrm>
            <a:off x="6928991" y="225676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并行数据获取</a:t>
            </a:r>
            <a:endParaRPr lang="en-US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D691E44E-4558-6110-C386-F314560CBE2D}"/>
              </a:ext>
            </a:extLst>
          </p:cNvPr>
          <p:cNvSpPr/>
          <p:nvPr/>
        </p:nvSpPr>
        <p:spPr>
          <a:xfrm>
            <a:off x="6928991" y="256766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记忆</a:t>
            </a:r>
            <a:r>
              <a:rPr lang="en-US" sz="14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/ </a:t>
            </a:r>
            <a:r>
              <a:rPr lang="en-US" sz="1400" dirty="0" err="1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偏好</a:t>
            </a:r>
            <a:r>
              <a:rPr lang="en-US" sz="14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/ RAG 经验风险 / </a:t>
            </a:r>
            <a:r>
              <a:rPr lang="en-US" sz="1400" dirty="0" err="1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往返交通多路并发</a:t>
            </a:r>
            <a:r>
              <a:rPr lang="zh-CN" altLang="en-US" sz="14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</a:t>
            </a:r>
            <a:endParaRPr lang="en-US" sz="1400" dirty="0"/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2741922B-547F-6A56-2B58-D87FD526A6D8}"/>
              </a:ext>
            </a:extLst>
          </p:cNvPr>
          <p:cNvSpPr/>
          <p:nvPr/>
        </p:nvSpPr>
        <p:spPr>
          <a:xfrm>
            <a:off x="6243191" y="298828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2CEA854A-9FC5-21A7-8714-9FA341E80F93}"/>
              </a:ext>
            </a:extLst>
          </p:cNvPr>
          <p:cNvSpPr/>
          <p:nvPr/>
        </p:nvSpPr>
        <p:spPr>
          <a:xfrm>
            <a:off x="6243191" y="298828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P3</a:t>
            </a:r>
            <a:endParaRPr lang="en-US" sz="16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63790B65-6C32-60C8-9D4A-3B1852F1F07F}"/>
              </a:ext>
            </a:extLst>
          </p:cNvPr>
          <p:cNvSpPr/>
          <p:nvPr/>
        </p:nvSpPr>
        <p:spPr>
          <a:xfrm>
            <a:off x="6928991" y="296999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行程编排与审查</a:t>
            </a:r>
            <a:endParaRPr lang="en-US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D8777F12-6D27-7BE7-48C9-673BD4B08670}"/>
              </a:ext>
            </a:extLst>
          </p:cNvPr>
          <p:cNvSpPr/>
          <p:nvPr/>
        </p:nvSpPr>
        <p:spPr>
          <a:xfrm>
            <a:off x="6928991" y="328089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聚类 + TSP </a:t>
            </a:r>
            <a:r>
              <a:rPr lang="en-US" sz="1400" dirty="0" err="1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求解，违规触发局部重试</a:t>
            </a:r>
            <a:endParaRPr lang="en-US" sz="1400" dirty="0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CFFC2B98-BEB5-3A21-4073-FE1D7577137C}"/>
              </a:ext>
            </a:extLst>
          </p:cNvPr>
          <p:cNvSpPr/>
          <p:nvPr/>
        </p:nvSpPr>
        <p:spPr>
          <a:xfrm>
            <a:off x="6243191" y="370151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97F467D6-176E-E0DF-7755-C10F7CA8C188}"/>
              </a:ext>
            </a:extLst>
          </p:cNvPr>
          <p:cNvSpPr/>
          <p:nvPr/>
        </p:nvSpPr>
        <p:spPr>
          <a:xfrm>
            <a:off x="6243191" y="370151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P4</a:t>
            </a:r>
            <a:endParaRPr lang="en-US" sz="160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CDB31321-BABA-4ADB-8337-B36FD00D1D72}"/>
              </a:ext>
            </a:extLst>
          </p:cNvPr>
          <p:cNvSpPr/>
          <p:nvPr/>
        </p:nvSpPr>
        <p:spPr>
          <a:xfrm>
            <a:off x="6928991" y="368323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餐饮住宿与预算自检</a:t>
            </a:r>
            <a:endParaRPr lang="en-US" dirty="0"/>
          </a:p>
        </p:txBody>
      </p:sp>
      <p:sp>
        <p:nvSpPr>
          <p:cNvPr id="50" name="Text 19">
            <a:extLst>
              <a:ext uri="{FF2B5EF4-FFF2-40B4-BE49-F238E27FC236}">
                <a16:creationId xmlns:a16="http://schemas.microsoft.com/office/drawing/2014/main" id="{3C5DE669-6289-3564-19DA-39C056B6EE4E}"/>
              </a:ext>
            </a:extLst>
          </p:cNvPr>
          <p:cNvSpPr/>
          <p:nvPr/>
        </p:nvSpPr>
        <p:spPr>
          <a:xfrm>
            <a:off x="6928991" y="399412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半径搜索 + MCP 实时价格核验，超限降档</a:t>
            </a:r>
            <a:endParaRPr lang="en-US" sz="1400" dirty="0"/>
          </a:p>
        </p:txBody>
      </p:sp>
      <p:sp>
        <p:nvSpPr>
          <p:cNvPr id="51" name="Shape 20">
            <a:extLst>
              <a:ext uri="{FF2B5EF4-FFF2-40B4-BE49-F238E27FC236}">
                <a16:creationId xmlns:a16="http://schemas.microsoft.com/office/drawing/2014/main" id="{6A9BE327-BEAE-D923-488D-B9A57EFC9B7A}"/>
              </a:ext>
            </a:extLst>
          </p:cNvPr>
          <p:cNvSpPr/>
          <p:nvPr/>
        </p:nvSpPr>
        <p:spPr>
          <a:xfrm>
            <a:off x="6243191" y="441475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82218565-FC83-7F1A-7BF2-B2B9D7D7C0A4}"/>
              </a:ext>
            </a:extLst>
          </p:cNvPr>
          <p:cNvSpPr/>
          <p:nvPr/>
        </p:nvSpPr>
        <p:spPr>
          <a:xfrm>
            <a:off x="6243191" y="441475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P5</a:t>
            </a:r>
            <a:endParaRPr lang="en-US" sz="160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5325BFA6-AF50-B8CD-9109-210F51BC0B11}"/>
              </a:ext>
            </a:extLst>
          </p:cNvPr>
          <p:cNvSpPr/>
          <p:nvPr/>
        </p:nvSpPr>
        <p:spPr>
          <a:xfrm>
            <a:off x="6928991" y="439646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响应渲染与回复</a:t>
            </a:r>
            <a:endParaRPr lang="en-US" dirty="0"/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321ED15B-3DAF-FC5A-3037-1DB304050FAE}"/>
              </a:ext>
            </a:extLst>
          </p:cNvPr>
          <p:cNvSpPr/>
          <p:nvPr/>
        </p:nvSpPr>
        <p:spPr>
          <a:xfrm>
            <a:off x="6928991" y="470735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流式输出逐日行程、交通、住宿与避坑提示</a:t>
            </a:r>
            <a:endParaRPr lang="en-US" sz="1400" dirty="0"/>
          </a:p>
        </p:txBody>
      </p:sp>
      <p:sp>
        <p:nvSpPr>
          <p:cNvPr id="55" name="Shape 24">
            <a:extLst>
              <a:ext uri="{FF2B5EF4-FFF2-40B4-BE49-F238E27FC236}">
                <a16:creationId xmlns:a16="http://schemas.microsoft.com/office/drawing/2014/main" id="{B87F59CA-5CA6-F498-F33B-5ADF87A8F4E6}"/>
              </a:ext>
            </a:extLst>
          </p:cNvPr>
          <p:cNvSpPr/>
          <p:nvPr/>
        </p:nvSpPr>
        <p:spPr>
          <a:xfrm>
            <a:off x="6281487" y="5655718"/>
            <a:ext cx="5653844" cy="965377"/>
          </a:xfrm>
          <a:prstGeom prst="roundRect">
            <a:avLst>
              <a:gd name="adj" fmla="val 8421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3EF4FC5B-0F3E-4001-C18D-65B69CCB2363}"/>
              </a:ext>
            </a:extLst>
          </p:cNvPr>
          <p:cNvSpPr/>
          <p:nvPr/>
        </p:nvSpPr>
        <p:spPr>
          <a:xfrm>
            <a:off x="6456649" y="5704066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zh-CN" altLang="zh-CN" sz="1400" dirty="0"/>
              <a:t>以线性骨架的</a:t>
            </a:r>
            <a:r>
              <a:rPr lang="zh-CN" altLang="zh-CN" sz="1400" b="1" dirty="0"/>
              <a:t>有向回环状态图</a:t>
            </a:r>
            <a:r>
              <a:rPr lang="zh-CN" altLang="zh-CN" sz="1400" dirty="0"/>
              <a:t>建模规划流程，融合</a:t>
            </a:r>
            <a:r>
              <a:rPr lang="zh-CN" altLang="zh-CN" sz="1400" b="1" dirty="0"/>
              <a:t>并行扇出</a:t>
            </a:r>
            <a:r>
              <a:rPr lang="zh-CN" altLang="zh-CN" sz="1400" dirty="0"/>
              <a:t>降低时延、</a:t>
            </a:r>
            <a:r>
              <a:rPr lang="zh-CN" altLang="zh-CN" sz="1400" b="1" dirty="0"/>
              <a:t>局部重试</a:t>
            </a:r>
            <a:r>
              <a:rPr lang="zh-CN" altLang="zh-CN" sz="1400" dirty="0"/>
              <a:t>隔离失败、</a:t>
            </a:r>
            <a:r>
              <a:rPr lang="zh-CN" altLang="zh-CN" sz="1400" b="1" dirty="0"/>
              <a:t>预算降档自适应约束</a:t>
            </a:r>
            <a:r>
              <a:rPr lang="zh-CN" altLang="zh-CN" sz="1400" dirty="0"/>
              <a:t>三类机制，在保证流程清晰的同时兼顾效率、容错与可控性。</a:t>
            </a:r>
            <a:endParaRPr lang="en-US" sz="14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BC720F3-79C3-97B2-F8F7-07C7621D6680}"/>
              </a:ext>
            </a:extLst>
          </p:cNvPr>
          <p:cNvSpPr txBox="1"/>
          <p:nvPr/>
        </p:nvSpPr>
        <p:spPr>
          <a:xfrm>
            <a:off x="6258627" y="5295358"/>
            <a:ext cx="2004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设计亮点</a:t>
            </a:r>
          </a:p>
        </p:txBody>
      </p:sp>
      <p:sp>
        <p:nvSpPr>
          <p:cNvPr id="58" name="灯片编号占位符 181">
            <a:extLst>
              <a:ext uri="{FF2B5EF4-FFF2-40B4-BE49-F238E27FC236}">
                <a16:creationId xmlns:a16="http://schemas.microsoft.com/office/drawing/2014/main" id="{DC617694-F3A6-CC5E-FF5B-192CB1392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9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51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94110-1AC0-95FB-36D2-D2C6C4E3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32B39A6-5B50-FCFA-FC6B-2D545CAEF2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32" name="文本占位符 149">
            <a:extLst>
              <a:ext uri="{FF2B5EF4-FFF2-40B4-BE49-F238E27FC236}">
                <a16:creationId xmlns:a16="http://schemas.microsoft.com/office/drawing/2014/main" id="{F15318E5-27D9-FAF8-470F-77FBF9A29B28}"/>
              </a:ext>
            </a:extLst>
          </p:cNvPr>
          <p:cNvSpPr txBox="1">
            <a:spLocks/>
          </p:cNvSpPr>
          <p:nvPr/>
        </p:nvSpPr>
        <p:spPr>
          <a:xfrm>
            <a:off x="0" y="828631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MCP </a:t>
            </a:r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协议集成与工具接入</a:t>
            </a:r>
          </a:p>
          <a:p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anose="00020600040101010101" charset="-122"/>
            </a:endParaRPr>
          </a:p>
          <a:p>
            <a:endParaRPr lang="zh-CN" altLang="en-US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占位符 33">
            <a:extLst>
              <a:ext uri="{FF2B5EF4-FFF2-40B4-BE49-F238E27FC236}">
                <a16:creationId xmlns:a16="http://schemas.microsoft.com/office/drawing/2014/main" id="{53C80296-7FED-FB75-A5C6-9BA35E7C69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1" name="文本占位符 34">
            <a:extLst>
              <a:ext uri="{FF2B5EF4-FFF2-40B4-BE49-F238E27FC236}">
                <a16:creationId xmlns:a16="http://schemas.microsoft.com/office/drawing/2014/main" id="{D2655BF1-E051-96B9-020F-B26342525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2" name="文本占位符 35">
            <a:extLst>
              <a:ext uri="{FF2B5EF4-FFF2-40B4-BE49-F238E27FC236}">
                <a16:creationId xmlns:a16="http://schemas.microsoft.com/office/drawing/2014/main" id="{FD6C7DD8-9EAD-7806-0756-C044D3DCF4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3" name="文本占位符 36">
            <a:extLst>
              <a:ext uri="{FF2B5EF4-FFF2-40B4-BE49-F238E27FC236}">
                <a16:creationId xmlns:a16="http://schemas.microsoft.com/office/drawing/2014/main" id="{05E9F207-F1A8-33AA-9A6B-6B59548D77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4" name="文本占位符 37">
            <a:extLst>
              <a:ext uri="{FF2B5EF4-FFF2-40B4-BE49-F238E27FC236}">
                <a16:creationId xmlns:a16="http://schemas.microsoft.com/office/drawing/2014/main" id="{584533AA-EE60-7981-8753-F73915972AE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37EA7F9F-06BE-878B-1D2F-D97E0DEC0797}"/>
              </a:ext>
            </a:extLst>
          </p:cNvPr>
          <p:cNvGrpSpPr/>
          <p:nvPr/>
        </p:nvGrpSpPr>
        <p:grpSpPr>
          <a:xfrm>
            <a:off x="571500" y="1819656"/>
            <a:ext cx="5486400" cy="1280160"/>
            <a:chOff x="566928" y="1645920"/>
            <a:chExt cx="5486400" cy="1078992"/>
          </a:xfrm>
        </p:grpSpPr>
        <p:sp>
          <p:nvSpPr>
            <p:cNvPr id="2" name="Shape 3">
              <a:extLst>
                <a:ext uri="{FF2B5EF4-FFF2-40B4-BE49-F238E27FC236}">
                  <a16:creationId xmlns:a16="http://schemas.microsoft.com/office/drawing/2014/main" id="{2247AE0D-70EE-360E-C44D-1DE762FA37E9}"/>
                </a:ext>
              </a:extLst>
            </p:cNvPr>
            <p:cNvSpPr/>
            <p:nvPr/>
          </p:nvSpPr>
          <p:spPr>
            <a:xfrm>
              <a:off x="566928" y="1645920"/>
              <a:ext cx="5486400" cy="1078992"/>
            </a:xfrm>
            <a:prstGeom prst="roundRect">
              <a:avLst>
                <a:gd name="adj" fmla="val 6780"/>
              </a:avLst>
            </a:prstGeom>
            <a:solidFill>
              <a:schemeClr val="accent3">
                <a:lumMod val="20000"/>
                <a:lumOff val="80000"/>
              </a:schemeClr>
            </a:solidFill>
            <a:ln/>
            <a:effectLst>
              <a:outerShdw blurRad="88900" dist="25400" dir="5400000" algn="bl" rotWithShape="0">
                <a:srgbClr val="9FB3C0">
                  <a:alpha val="18000"/>
                </a:srgbClr>
              </a:outerShdw>
            </a:effectLst>
          </p:spPr>
        </p:sp>
        <p:sp>
          <p:nvSpPr>
            <p:cNvPr id="3" name="Shape 4">
              <a:extLst>
                <a:ext uri="{FF2B5EF4-FFF2-40B4-BE49-F238E27FC236}">
                  <a16:creationId xmlns:a16="http://schemas.microsoft.com/office/drawing/2014/main" id="{60D52E6B-583C-7EEA-5030-CBCE587F3F5E}"/>
                </a:ext>
              </a:extLst>
            </p:cNvPr>
            <p:cNvSpPr/>
            <p:nvPr/>
          </p:nvSpPr>
          <p:spPr>
            <a:xfrm>
              <a:off x="566928" y="1645920"/>
              <a:ext cx="91440" cy="1078992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4" name="Text 5">
              <a:extLst>
                <a:ext uri="{FF2B5EF4-FFF2-40B4-BE49-F238E27FC236}">
                  <a16:creationId xmlns:a16="http://schemas.microsoft.com/office/drawing/2014/main" id="{3AC023B4-A7E7-7ACD-C63B-42F84D228C76}"/>
                </a:ext>
              </a:extLst>
            </p:cNvPr>
            <p:cNvSpPr/>
            <p:nvPr/>
          </p:nvSpPr>
          <p:spPr>
            <a:xfrm>
              <a:off x="822960" y="1773936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tx2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统一客户端抽象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5" name="Text 6">
              <a:extLst>
                <a:ext uri="{FF2B5EF4-FFF2-40B4-BE49-F238E27FC236}">
                  <a16:creationId xmlns:a16="http://schemas.microsoft.com/office/drawing/2014/main" id="{E44CD4C3-B667-60ED-EEB3-215541EF72F1}"/>
                </a:ext>
              </a:extLst>
            </p:cNvPr>
            <p:cNvSpPr/>
            <p:nvPr/>
          </p:nvSpPr>
          <p:spPr>
            <a:xfrm>
              <a:off x="822960" y="2121408"/>
              <a:ext cx="50749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400" dirty="0"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将 SSE 长连接与 STDIO 进程通信两种传输方式收敛至同一抽象基类，工具定义、发现与调用与宿主应用解耦。</a:t>
              </a:r>
              <a:endParaRPr lang="en-US" sz="1400" dirty="0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CB26BCDD-FA9E-AE6D-6048-F09FDA48DDF9}"/>
              </a:ext>
            </a:extLst>
          </p:cNvPr>
          <p:cNvGrpSpPr/>
          <p:nvPr/>
        </p:nvGrpSpPr>
        <p:grpSpPr>
          <a:xfrm>
            <a:off x="598932" y="3663954"/>
            <a:ext cx="5486400" cy="1078992"/>
            <a:chOff x="566928" y="2871216"/>
            <a:chExt cx="5486400" cy="1078992"/>
          </a:xfrm>
        </p:grpSpPr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3CBEB2-E07F-E198-4C7E-FB5641FA8897}"/>
                </a:ext>
              </a:extLst>
            </p:cNvPr>
            <p:cNvSpPr/>
            <p:nvPr/>
          </p:nvSpPr>
          <p:spPr>
            <a:xfrm>
              <a:off x="566928" y="2871216"/>
              <a:ext cx="5486400" cy="1078992"/>
            </a:xfrm>
            <a:prstGeom prst="roundRect">
              <a:avLst>
                <a:gd name="adj" fmla="val 6780"/>
              </a:avLst>
            </a:prstGeom>
            <a:solidFill>
              <a:schemeClr val="accent3">
                <a:lumMod val="20000"/>
                <a:lumOff val="80000"/>
              </a:schemeClr>
            </a:solidFill>
            <a:ln/>
            <a:effectLst>
              <a:outerShdw blurRad="88900" dist="25400" dir="5400000" algn="bl" rotWithShape="0">
                <a:srgbClr val="9FB3C0">
                  <a:alpha val="18000"/>
                </a:srgbClr>
              </a:outerShdw>
            </a:effectLst>
          </p:spPr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51F1604F-14B6-37F6-3EA0-424924EEAC9C}"/>
                </a:ext>
              </a:extLst>
            </p:cNvPr>
            <p:cNvSpPr/>
            <p:nvPr/>
          </p:nvSpPr>
          <p:spPr>
            <a:xfrm>
              <a:off x="566928" y="2871216"/>
              <a:ext cx="91440" cy="1078992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A05542EF-24D4-6F44-D8FA-D233AA1C05D2}"/>
                </a:ext>
              </a:extLst>
            </p:cNvPr>
            <p:cNvSpPr/>
            <p:nvPr/>
          </p:nvSpPr>
          <p:spPr>
            <a:xfrm>
              <a:off x="822960" y="2999232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tx2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三路异构数据源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20359EAC-A214-002E-2392-BA209F76C36B}"/>
                </a:ext>
              </a:extLst>
            </p:cNvPr>
            <p:cNvSpPr/>
            <p:nvPr/>
          </p:nvSpPr>
          <p:spPr>
            <a:xfrm>
              <a:off x="822960" y="3346704"/>
              <a:ext cx="50749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2000"/>
                </a:lnSpc>
                <a:buNone/>
              </a:pPr>
              <a:r>
                <a:rPr lang="en-US" sz="1400" dirty="0">
                  <a:latin typeface="微软雅黑" pitchFamily="34" charset="0"/>
                  <a:ea typeface="微软雅黑" pitchFamily="34" charset="-122"/>
                </a:rPr>
                <a:t>高德地图（SSE）、途牛 CLI（STDIO）、12306（STDIO）统一封装，对外暴露一致的异步调用接口。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71D411F4-57A2-BF0E-0677-B7D179440E0B}"/>
              </a:ext>
            </a:extLst>
          </p:cNvPr>
          <p:cNvGrpSpPr/>
          <p:nvPr/>
        </p:nvGrpSpPr>
        <p:grpSpPr>
          <a:xfrm>
            <a:off x="571500" y="5340966"/>
            <a:ext cx="5486400" cy="1078992"/>
            <a:chOff x="566928" y="4096512"/>
            <a:chExt cx="5486400" cy="1078992"/>
          </a:xfrm>
        </p:grpSpPr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89454745-C3D8-5B5B-A9D3-A47C4947660E}"/>
                </a:ext>
              </a:extLst>
            </p:cNvPr>
            <p:cNvSpPr/>
            <p:nvPr/>
          </p:nvSpPr>
          <p:spPr>
            <a:xfrm>
              <a:off x="566928" y="4096512"/>
              <a:ext cx="5486400" cy="1078992"/>
            </a:xfrm>
            <a:prstGeom prst="roundRect">
              <a:avLst>
                <a:gd name="adj" fmla="val 6780"/>
              </a:avLst>
            </a:prstGeom>
            <a:solidFill>
              <a:schemeClr val="accent3">
                <a:lumMod val="20000"/>
                <a:lumOff val="80000"/>
              </a:schemeClr>
            </a:solidFill>
            <a:ln/>
            <a:effectLst>
              <a:outerShdw blurRad="88900" dist="25400" dir="5400000" algn="bl" rotWithShape="0">
                <a:srgbClr val="9FB3C0">
                  <a:alpha val="18000"/>
                </a:srgbClr>
              </a:outerShdw>
            </a:effectLst>
          </p:spPr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58E707DA-DECB-29CA-45A7-8D1FB13708A9}"/>
                </a:ext>
              </a:extLst>
            </p:cNvPr>
            <p:cNvSpPr/>
            <p:nvPr/>
          </p:nvSpPr>
          <p:spPr>
            <a:xfrm>
              <a:off x="566928" y="4096512"/>
              <a:ext cx="91440" cy="1078992"/>
            </a:xfrm>
            <a:prstGeom prst="rect">
              <a:avLst/>
            </a:prstGeom>
            <a:solidFill>
              <a:schemeClr val="accent1"/>
            </a:solidFill>
            <a:ln/>
          </p:spPr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BE6ADAB9-1E1E-311B-5864-0EDD46694B32}"/>
                </a:ext>
              </a:extLst>
            </p:cNvPr>
            <p:cNvSpPr/>
            <p:nvPr/>
          </p:nvSpPr>
          <p:spPr>
            <a:xfrm>
              <a:off x="822960" y="4224528"/>
              <a:ext cx="5029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chemeClr val="tx2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容错与压缩机制</a:t>
              </a:r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638A898F-6F71-4AEB-A6C8-2D2EF8832ECA}"/>
                </a:ext>
              </a:extLst>
            </p:cNvPr>
            <p:cNvSpPr/>
            <p:nvPr/>
          </p:nvSpPr>
          <p:spPr>
            <a:xfrm>
              <a:off x="822960" y="4572000"/>
              <a:ext cx="513058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12000"/>
                </a:lnSpc>
              </a:pPr>
              <a:r>
                <a:rPr lang="en-US" sz="1400" dirty="0" err="1">
                  <a:latin typeface="微软雅黑" pitchFamily="34" charset="0"/>
                  <a:ea typeface="微软雅黑" pitchFamily="34" charset="-122"/>
                </a:rPr>
                <a:t>客户端层叠加请求重试、熔断保护与字段裁剪归一化，应对超时、限流与冗余字段对上下文窗口的占用</a:t>
              </a:r>
              <a:r>
                <a:rPr lang="en-US" sz="1400" dirty="0">
                  <a:latin typeface="微软雅黑" pitchFamily="34" charset="0"/>
                  <a:ea typeface="微软雅黑" pitchFamily="34" charset="-122"/>
                </a:rPr>
                <a:t>。</a:t>
              </a:r>
            </a:p>
          </p:txBody>
        </p:sp>
      </p:grpSp>
      <p:sp>
        <p:nvSpPr>
          <p:cNvPr id="14" name="Text 15">
            <a:extLst>
              <a:ext uri="{FF2B5EF4-FFF2-40B4-BE49-F238E27FC236}">
                <a16:creationId xmlns:a16="http://schemas.microsoft.com/office/drawing/2014/main" id="{1DD7B690-A5C2-D4B7-A963-B234BA335A9B}"/>
              </a:ext>
            </a:extLst>
          </p:cNvPr>
          <p:cNvSpPr/>
          <p:nvPr/>
        </p:nvSpPr>
        <p:spPr>
          <a:xfrm>
            <a:off x="644652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tx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统一接入示意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E0B8C5EE-E60F-4689-A45C-ED2176B4CE9E}"/>
              </a:ext>
            </a:extLst>
          </p:cNvPr>
          <p:cNvSpPr/>
          <p:nvPr/>
        </p:nvSpPr>
        <p:spPr>
          <a:xfrm>
            <a:off x="6446520" y="2148840"/>
            <a:ext cx="155448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18E1BBBF-80C5-829C-94FB-43A04060B9EE}"/>
              </a:ext>
            </a:extLst>
          </p:cNvPr>
          <p:cNvSpPr/>
          <p:nvPr/>
        </p:nvSpPr>
        <p:spPr>
          <a:xfrm>
            <a:off x="644652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高德地图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50677A6C-A8AF-F201-8ED4-014C631BDC8A}"/>
              </a:ext>
            </a:extLst>
          </p:cNvPr>
          <p:cNvSpPr/>
          <p:nvPr/>
        </p:nvSpPr>
        <p:spPr>
          <a:xfrm>
            <a:off x="644652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45D37F39-4BED-8CB5-9BB8-B674F63669F5}"/>
              </a:ext>
            </a:extLst>
          </p:cNvPr>
          <p:cNvSpPr/>
          <p:nvPr/>
        </p:nvSpPr>
        <p:spPr>
          <a:xfrm>
            <a:off x="7223760" y="2971800"/>
            <a:ext cx="0" cy="502920"/>
          </a:xfrm>
          <a:prstGeom prst="line">
            <a:avLst/>
          </a:prstGeom>
          <a:noFill/>
          <a:ln w="19050">
            <a:solidFill>
              <a:srgbClr val="667584"/>
            </a:solidFill>
            <a:prstDash val="solid"/>
            <a:tailEnd type="triangle"/>
          </a:ln>
        </p:spPr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1B22E8E1-6801-D932-A170-71BC0C785C4B}"/>
              </a:ext>
            </a:extLst>
          </p:cNvPr>
          <p:cNvSpPr/>
          <p:nvPr/>
        </p:nvSpPr>
        <p:spPr>
          <a:xfrm>
            <a:off x="8229600" y="2148840"/>
            <a:ext cx="155448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0BAAC193-9074-3B9A-9194-5879E5B11E74}"/>
              </a:ext>
            </a:extLst>
          </p:cNvPr>
          <p:cNvSpPr/>
          <p:nvPr/>
        </p:nvSpPr>
        <p:spPr>
          <a:xfrm>
            <a:off x="822960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途牛 CLI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22A5F2C8-900E-CFFF-27C5-70D901E47DDC}"/>
              </a:ext>
            </a:extLst>
          </p:cNvPr>
          <p:cNvSpPr/>
          <p:nvPr/>
        </p:nvSpPr>
        <p:spPr>
          <a:xfrm>
            <a:off x="822960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STDIO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C4F43F4E-248B-5C0E-7F75-9CB0A694ADC2}"/>
              </a:ext>
            </a:extLst>
          </p:cNvPr>
          <p:cNvSpPr/>
          <p:nvPr/>
        </p:nvSpPr>
        <p:spPr>
          <a:xfrm>
            <a:off x="9006840" y="2971800"/>
            <a:ext cx="0" cy="502920"/>
          </a:xfrm>
          <a:prstGeom prst="line">
            <a:avLst/>
          </a:prstGeom>
          <a:noFill/>
          <a:ln w="19050">
            <a:solidFill>
              <a:srgbClr val="667584"/>
            </a:solidFill>
            <a:prstDash val="solid"/>
            <a:tailEnd type="triangle"/>
          </a:ln>
        </p:spPr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2BEC3167-D72E-359C-56E7-EEDEC11BD80E}"/>
              </a:ext>
            </a:extLst>
          </p:cNvPr>
          <p:cNvSpPr/>
          <p:nvPr/>
        </p:nvSpPr>
        <p:spPr>
          <a:xfrm>
            <a:off x="10012680" y="2148840"/>
            <a:ext cx="155448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F4817FE5-4A5B-B525-0E1F-9D7499CC7FC3}"/>
              </a:ext>
            </a:extLst>
          </p:cNvPr>
          <p:cNvSpPr/>
          <p:nvPr/>
        </p:nvSpPr>
        <p:spPr>
          <a:xfrm>
            <a:off x="1001268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12306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C2A3D297-6EBA-1754-AC92-DC9F04DC5503}"/>
              </a:ext>
            </a:extLst>
          </p:cNvPr>
          <p:cNvSpPr/>
          <p:nvPr/>
        </p:nvSpPr>
        <p:spPr>
          <a:xfrm>
            <a:off x="1001268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STDIO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738157F9-342E-5236-6432-D862A3963F5A}"/>
              </a:ext>
            </a:extLst>
          </p:cNvPr>
          <p:cNvSpPr/>
          <p:nvPr/>
        </p:nvSpPr>
        <p:spPr>
          <a:xfrm>
            <a:off x="10789920" y="2971800"/>
            <a:ext cx="0" cy="502920"/>
          </a:xfrm>
          <a:prstGeom prst="line">
            <a:avLst/>
          </a:prstGeom>
          <a:noFill/>
          <a:ln w="19050">
            <a:solidFill>
              <a:srgbClr val="667584"/>
            </a:solidFill>
            <a:prstDash val="solid"/>
            <a:tailEnd type="triangle"/>
          </a:ln>
        </p:spPr>
      </p:sp>
      <p:sp>
        <p:nvSpPr>
          <p:cNvPr id="58" name="Shape 28">
            <a:extLst>
              <a:ext uri="{FF2B5EF4-FFF2-40B4-BE49-F238E27FC236}">
                <a16:creationId xmlns:a16="http://schemas.microsoft.com/office/drawing/2014/main" id="{DA9CE91D-0931-2DAF-FA6A-A73ECFC7A221}"/>
              </a:ext>
            </a:extLst>
          </p:cNvPr>
          <p:cNvSpPr/>
          <p:nvPr/>
        </p:nvSpPr>
        <p:spPr>
          <a:xfrm>
            <a:off x="6995160" y="3520440"/>
            <a:ext cx="4069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</p:sp>
      <p:sp>
        <p:nvSpPr>
          <p:cNvPr id="59" name="Text 29">
            <a:extLst>
              <a:ext uri="{FF2B5EF4-FFF2-40B4-BE49-F238E27FC236}">
                <a16:creationId xmlns:a16="http://schemas.microsoft.com/office/drawing/2014/main" id="{CBDE2A15-066C-694F-8764-6455BC796F22}"/>
              </a:ext>
            </a:extLst>
          </p:cNvPr>
          <p:cNvSpPr/>
          <p:nvPr/>
        </p:nvSpPr>
        <p:spPr>
          <a:xfrm>
            <a:off x="6995160" y="35204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</a:t>
            </a:r>
            <a:r>
              <a:rPr lang="en-US" sz="14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统一客户端抽象基类</a:t>
            </a:r>
            <a:endParaRPr lang="en-US" sz="1400" b="1" dirty="0">
              <a:solidFill>
                <a:srgbClr val="FFFFFF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</a:t>
            </a:r>
            <a:r>
              <a:rPr lang="en-US" sz="14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重试</a:t>
            </a:r>
            <a:r>
              <a:rPr lang="zh-CN" alt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en-US" sz="14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熔断</a:t>
            </a:r>
            <a:r>
              <a:rPr lang="zh-CN" alt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、</a:t>
            </a:r>
            <a:r>
              <a:rPr lang="en-US" sz="1400" b="1" dirty="0" err="1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字段裁剪</a:t>
            </a: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sz="1400" dirty="0"/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B3F0AF4E-1975-E89B-1A97-197BCC14FFF3}"/>
              </a:ext>
            </a:extLst>
          </p:cNvPr>
          <p:cNvSpPr/>
          <p:nvPr/>
        </p:nvSpPr>
        <p:spPr>
          <a:xfrm>
            <a:off x="9025128" y="4297680"/>
            <a:ext cx="0" cy="411480"/>
          </a:xfrm>
          <a:prstGeom prst="line">
            <a:avLst/>
          </a:prstGeom>
          <a:noFill/>
          <a:ln w="19050">
            <a:solidFill>
              <a:srgbClr val="667584"/>
            </a:solidFill>
            <a:prstDash val="solid"/>
            <a:tailEnd type="triangle"/>
          </a:ln>
        </p:spPr>
      </p:sp>
      <p:sp>
        <p:nvSpPr>
          <p:cNvPr id="61" name="Shape 31">
            <a:extLst>
              <a:ext uri="{FF2B5EF4-FFF2-40B4-BE49-F238E27FC236}">
                <a16:creationId xmlns:a16="http://schemas.microsoft.com/office/drawing/2014/main" id="{D1EF5D9B-8993-C3BF-B0E6-71F50232121F}"/>
              </a:ext>
            </a:extLst>
          </p:cNvPr>
          <p:cNvSpPr/>
          <p:nvPr/>
        </p:nvSpPr>
        <p:spPr>
          <a:xfrm>
            <a:off x="6995160" y="4754880"/>
            <a:ext cx="4069080" cy="640080"/>
          </a:xfrm>
          <a:prstGeom prst="roundRect">
            <a:avLst>
              <a:gd name="adj" fmla="val 11429"/>
            </a:avLst>
          </a:prstGeom>
          <a:solidFill>
            <a:srgbClr val="0F2C4C"/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</p:sp>
      <p:sp>
        <p:nvSpPr>
          <p:cNvPr id="62" name="Text 32">
            <a:extLst>
              <a:ext uri="{FF2B5EF4-FFF2-40B4-BE49-F238E27FC236}">
                <a16:creationId xmlns:a16="http://schemas.microsoft.com/office/drawing/2014/main" id="{69D4D331-D8A1-7341-2709-A99F89B2C478}"/>
              </a:ext>
            </a:extLst>
          </p:cNvPr>
          <p:cNvSpPr/>
          <p:nvPr/>
        </p:nvSpPr>
        <p:spPr>
          <a:xfrm>
            <a:off x="6995160" y="475488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LangGraph 工作流节点调用</a:t>
            </a:r>
            <a:endParaRPr lang="en-US" sz="1400" dirty="0"/>
          </a:p>
        </p:txBody>
      </p:sp>
      <p:sp>
        <p:nvSpPr>
          <p:cNvPr id="63" name="Shape 33">
            <a:extLst>
              <a:ext uri="{FF2B5EF4-FFF2-40B4-BE49-F238E27FC236}">
                <a16:creationId xmlns:a16="http://schemas.microsoft.com/office/drawing/2014/main" id="{AB3E7DB9-D581-C3D3-DFF5-E956131FE190}"/>
              </a:ext>
            </a:extLst>
          </p:cNvPr>
          <p:cNvSpPr/>
          <p:nvPr/>
        </p:nvSpPr>
        <p:spPr>
          <a:xfrm>
            <a:off x="6995160" y="5786119"/>
            <a:ext cx="4706983" cy="920206"/>
          </a:xfrm>
          <a:prstGeom prst="roundRect">
            <a:avLst>
              <a:gd name="adj" fmla="val 11429"/>
            </a:avLst>
          </a:prstGeom>
          <a:solidFill>
            <a:srgbClr val="FFF7DD"/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64" name="Text 34">
            <a:extLst>
              <a:ext uri="{FF2B5EF4-FFF2-40B4-BE49-F238E27FC236}">
                <a16:creationId xmlns:a16="http://schemas.microsoft.com/office/drawing/2014/main" id="{3A22DE95-8C43-A0A1-A577-0CAE40C8FCED}"/>
              </a:ext>
            </a:extLst>
          </p:cNvPr>
          <p:cNvSpPr/>
          <p:nvPr/>
        </p:nvSpPr>
        <p:spPr>
          <a:xfrm>
            <a:off x="7200900" y="5883365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700"/>
              </a:lnSpc>
            </a:pPr>
            <a:r>
              <a:rPr lang="zh-CN" altLang="en-US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经实验验证：</a:t>
            </a:r>
            <a:endParaRPr lang="en-US" b="1" dirty="0"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285750" indent="-2857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MCP 调用成功率 100%　 </a:t>
            </a:r>
          </a:p>
          <a:p>
            <a:pPr marL="285750" indent="-2857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交通住宿信息真实性</a:t>
            </a:r>
            <a:r>
              <a:rPr lang="en-US" sz="1400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16% → 96%</a:t>
            </a:r>
            <a:endParaRPr lang="en-US" sz="1400" dirty="0"/>
          </a:p>
        </p:txBody>
      </p:sp>
      <p:sp>
        <p:nvSpPr>
          <p:cNvPr id="68" name="灯片编号占位符 181">
            <a:extLst>
              <a:ext uri="{FF2B5EF4-FFF2-40B4-BE49-F238E27FC236}">
                <a16:creationId xmlns:a16="http://schemas.microsoft.com/office/drawing/2014/main" id="{FA80BEC7-2DE6-0CE4-1A27-07CF7DD31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10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886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E8B9-8134-660D-719B-6B154D64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0F99DC25-6506-00DB-409D-253E736204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32" name="文本占位符 149">
            <a:extLst>
              <a:ext uri="{FF2B5EF4-FFF2-40B4-BE49-F238E27FC236}">
                <a16:creationId xmlns:a16="http://schemas.microsoft.com/office/drawing/2014/main" id="{EDCEDD4F-47DB-FAAB-946D-84422D9CF65B}"/>
              </a:ext>
            </a:extLst>
          </p:cNvPr>
          <p:cNvSpPr txBox="1">
            <a:spLocks/>
          </p:cNvSpPr>
          <p:nvPr/>
        </p:nvSpPr>
        <p:spPr>
          <a:xfrm>
            <a:off x="0" y="828631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双层</a:t>
            </a: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 RAG </a:t>
            </a:r>
            <a:r>
              <a:rPr lang="en-US" altLang="zh-CN" b="1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知识增强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anose="00020600040101010101" charset="-122"/>
            </a:endParaRPr>
          </a:p>
        </p:txBody>
      </p:sp>
      <p:sp>
        <p:nvSpPr>
          <p:cNvPr id="40" name="文本占位符 33">
            <a:extLst>
              <a:ext uri="{FF2B5EF4-FFF2-40B4-BE49-F238E27FC236}">
                <a16:creationId xmlns:a16="http://schemas.microsoft.com/office/drawing/2014/main" id="{B13E3322-8F1D-70E0-42AA-8CF2EEF88D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1" name="文本占位符 34">
            <a:extLst>
              <a:ext uri="{FF2B5EF4-FFF2-40B4-BE49-F238E27FC236}">
                <a16:creationId xmlns:a16="http://schemas.microsoft.com/office/drawing/2014/main" id="{498E985C-BD91-69AC-AC25-96904F00EB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2" name="文本占位符 35">
            <a:extLst>
              <a:ext uri="{FF2B5EF4-FFF2-40B4-BE49-F238E27FC236}">
                <a16:creationId xmlns:a16="http://schemas.microsoft.com/office/drawing/2014/main" id="{E1B4A999-2982-CCA1-FB2A-62D440D90D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3" name="文本占位符 36">
            <a:extLst>
              <a:ext uri="{FF2B5EF4-FFF2-40B4-BE49-F238E27FC236}">
                <a16:creationId xmlns:a16="http://schemas.microsoft.com/office/drawing/2014/main" id="{F8E10FC3-997A-A0F5-8DA4-BF1838D6EF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4" name="文本占位符 37">
            <a:extLst>
              <a:ext uri="{FF2B5EF4-FFF2-40B4-BE49-F238E27FC236}">
                <a16:creationId xmlns:a16="http://schemas.microsoft.com/office/drawing/2014/main" id="{8946D305-FA87-6634-4431-D4CADA1D45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pic>
        <p:nvPicPr>
          <p:cNvPr id="26" name="Image 0" descr="/tmp/ppt_build/img/image10.png">
            <a:extLst>
              <a:ext uri="{FF2B5EF4-FFF2-40B4-BE49-F238E27FC236}">
                <a16:creationId xmlns:a16="http://schemas.microsoft.com/office/drawing/2014/main" id="{BA6166E4-38D0-8DEE-7F23-EBA7AFEF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38" y="1338880"/>
            <a:ext cx="4710274" cy="5485772"/>
          </a:xfrm>
          <a:prstGeom prst="rect">
            <a:avLst/>
          </a:prstGeom>
        </p:spPr>
      </p:pic>
      <p:sp>
        <p:nvSpPr>
          <p:cNvPr id="29" name="Shape 4">
            <a:extLst>
              <a:ext uri="{FF2B5EF4-FFF2-40B4-BE49-F238E27FC236}">
                <a16:creationId xmlns:a16="http://schemas.microsoft.com/office/drawing/2014/main" id="{8AD577A7-6772-3040-0EE4-DAB16D3EAA9E}"/>
              </a:ext>
            </a:extLst>
          </p:cNvPr>
          <p:cNvSpPr/>
          <p:nvPr/>
        </p:nvSpPr>
        <p:spPr>
          <a:xfrm>
            <a:off x="5239512" y="1601695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816C6590-DD2E-15C6-CAFC-D7958B617576}"/>
              </a:ext>
            </a:extLst>
          </p:cNvPr>
          <p:cNvSpPr/>
          <p:nvPr/>
        </p:nvSpPr>
        <p:spPr>
          <a:xfrm>
            <a:off x="5678424" y="1528543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55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双源知识形态</a:t>
            </a:r>
            <a:endParaRPr lang="en-US" dirty="0">
              <a:solidFill>
                <a:srgbClr val="2E5598"/>
              </a:solidFill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5C1A5DC9-A39F-8C7D-8A8D-C546CAB9ABF4}"/>
              </a:ext>
            </a:extLst>
          </p:cNvPr>
          <p:cNvSpPr/>
          <p:nvPr/>
        </p:nvSpPr>
        <p:spPr>
          <a:xfrm>
            <a:off x="5678424" y="1894303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结构化城市知识库承载高确定性种子 POI </a:t>
            </a:r>
            <a:r>
              <a:rPr lang="en-US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与经典路线</a:t>
            </a: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向量库承载长尾攻略文本，差异化协同复用</a:t>
            </a: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40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0C4E587A-77DA-9DF5-3021-E637E6CABAF6}"/>
              </a:ext>
            </a:extLst>
          </p:cNvPr>
          <p:cNvSpPr/>
          <p:nvPr/>
        </p:nvSpPr>
        <p:spPr>
          <a:xfrm>
            <a:off x="5239512" y="2680687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C4D46C25-66E9-D12C-8050-7035FA9EA7F2}"/>
              </a:ext>
            </a:extLst>
          </p:cNvPr>
          <p:cNvSpPr/>
          <p:nvPr/>
        </p:nvSpPr>
        <p:spPr>
          <a:xfrm>
            <a:off x="5678424" y="2607535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55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检索质量增强</a:t>
            </a:r>
            <a:endParaRPr lang="en-US" dirty="0">
              <a:solidFill>
                <a:srgbClr val="2E5598"/>
              </a:solidFill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7693B56A-35DF-B15E-8390-6B5D6DB43261}"/>
              </a:ext>
            </a:extLst>
          </p:cNvPr>
          <p:cNvSpPr/>
          <p:nvPr/>
        </p:nvSpPr>
        <p:spPr>
          <a:xfrm>
            <a:off x="5678424" y="2973295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引入假设文档嵌入（HyDE）多路查询扩展，缓解查询与文档的语义偏差</a:t>
            </a: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</a:p>
          <a:p>
            <a:pPr marL="285750" indent="-285750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以交叉编码器对候选片段精排</a:t>
            </a: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400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07FD61AB-F69D-C0E8-C7D3-741944952D11}"/>
              </a:ext>
            </a:extLst>
          </p:cNvPr>
          <p:cNvSpPr/>
          <p:nvPr/>
        </p:nvSpPr>
        <p:spPr>
          <a:xfrm>
            <a:off x="5239512" y="3759679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519416C-89FD-BA10-0CA9-73EA5169BB28}"/>
              </a:ext>
            </a:extLst>
          </p:cNvPr>
          <p:cNvSpPr/>
          <p:nvPr/>
        </p:nvSpPr>
        <p:spPr>
          <a:xfrm>
            <a:off x="5678424" y="3686527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55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种子景点桥接</a:t>
            </a:r>
            <a:endParaRPr lang="en-US" dirty="0">
              <a:solidFill>
                <a:srgbClr val="2E5598"/>
              </a:solidFill>
            </a:endParaRPr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214F70AA-4A47-7C09-3DCB-C17405963978}"/>
              </a:ext>
            </a:extLst>
          </p:cNvPr>
          <p:cNvSpPr/>
          <p:nvPr/>
        </p:nvSpPr>
        <p:spPr>
          <a:xfrm>
            <a:off x="5678424" y="4052287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以结构化库召回的 POI 为锚点驱动向量库语义补全，显著提升未收录城市的召回效果。</a:t>
            </a:r>
            <a:endParaRPr lang="en-US" sz="1400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406FE6FC-F32B-6643-26CB-2952729C3495}"/>
              </a:ext>
            </a:extLst>
          </p:cNvPr>
          <p:cNvSpPr/>
          <p:nvPr/>
        </p:nvSpPr>
        <p:spPr>
          <a:xfrm>
            <a:off x="5239512" y="4838671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D006AAC8-38D9-E8D5-8531-A36DD9971448}"/>
              </a:ext>
            </a:extLst>
          </p:cNvPr>
          <p:cNvSpPr/>
          <p:nvPr/>
        </p:nvSpPr>
        <p:spPr>
          <a:xfrm>
            <a:off x="5678424" y="4765519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55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一次检索多处复用</a:t>
            </a:r>
            <a:endParaRPr lang="en-US" dirty="0">
              <a:solidFill>
                <a:srgbClr val="2E5598"/>
              </a:solidFill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658F1993-043B-5F73-3348-02D36B84C60A}"/>
              </a:ext>
            </a:extLst>
          </p:cNvPr>
          <p:cNvSpPr/>
          <p:nvPr/>
        </p:nvSpPr>
        <p:spPr>
          <a:xfrm>
            <a:off x="5678424" y="5131279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上下文容器在 POI 召回、行程编排、响应渲染多节点复用，生成经验提示与避坑提示两个展示区块。</a:t>
            </a:r>
            <a:endParaRPr lang="en-US" sz="1400" dirty="0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BA6C622D-1349-D420-30CD-F4469C8FB9AF}"/>
              </a:ext>
            </a:extLst>
          </p:cNvPr>
          <p:cNvSpPr/>
          <p:nvPr/>
        </p:nvSpPr>
        <p:spPr>
          <a:xfrm>
            <a:off x="5239512" y="5862799"/>
            <a:ext cx="6766560" cy="713232"/>
          </a:xfrm>
          <a:prstGeom prst="roundRect">
            <a:avLst>
              <a:gd name="adj" fmla="val 12903"/>
            </a:avLst>
          </a:prstGeom>
          <a:solidFill>
            <a:srgbClr val="FFF7DD"/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781F14B0-58CD-F233-3586-FA8853DAF807}"/>
              </a:ext>
            </a:extLst>
          </p:cNvPr>
          <p:cNvSpPr/>
          <p:nvPr/>
        </p:nvSpPr>
        <p:spPr>
          <a:xfrm>
            <a:off x="5412419" y="5945095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消融验证：</a:t>
            </a: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关闭双层 RAG 后，POI </a:t>
            </a:r>
            <a:r>
              <a:rPr lang="en-US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幻觉数由</a:t>
            </a:r>
            <a:r>
              <a:rPr lang="en-US" sz="1400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0.1 </a:t>
            </a:r>
            <a:r>
              <a:rPr lang="en-US" altLang="zh-CN" sz="1400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</a:t>
            </a:r>
            <a:r>
              <a:rPr lang="en-US" sz="1400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1.9</a:t>
            </a: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个/</a:t>
            </a:r>
            <a:r>
              <a:rPr lang="en-US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方案，长尾城市召回由</a:t>
            </a: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400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8.2</a:t>
            </a:r>
            <a:r>
              <a:rPr lang="en-US" altLang="zh-CN" sz="1400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</a:t>
            </a:r>
            <a:r>
              <a:rPr lang="en-US" sz="1400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3.4 </a:t>
            </a:r>
            <a:r>
              <a:rPr lang="zh-CN" altLang="en-US" sz="1400" b="1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</a:t>
            </a:r>
            <a:endParaRPr lang="en-US" sz="1400" b="1" dirty="0"/>
          </a:p>
        </p:txBody>
      </p:sp>
      <p:sp>
        <p:nvSpPr>
          <p:cNvPr id="49" name="灯片编号占位符 181">
            <a:extLst>
              <a:ext uri="{FF2B5EF4-FFF2-40B4-BE49-F238E27FC236}">
                <a16:creationId xmlns:a16="http://schemas.microsoft.com/office/drawing/2014/main" id="{F478F14E-E108-1BDE-44F3-790037B5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11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7777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94E8991-35AF-DEF8-D68B-4A12342D39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221822-BD44-CDB8-275C-E012F028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9A92-4EDF-46AE-8BC5-DFCEA23344BC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D9176E4-A3C3-2A45-26B2-B74F27E641D0}"/>
              </a:ext>
            </a:extLst>
          </p:cNvPr>
          <p:cNvSpPr/>
          <p:nvPr/>
        </p:nvSpPr>
        <p:spPr>
          <a:xfrm>
            <a:off x="2225041" y="1357086"/>
            <a:ext cx="9550271" cy="2566106"/>
          </a:xfrm>
          <a:prstGeom prst="roundRect">
            <a:avLst>
              <a:gd name="adj" fmla="val 1458"/>
            </a:avLst>
          </a:prstGeom>
          <a:solidFill>
            <a:schemeClr val="bg1"/>
          </a:solidFill>
          <a:ln>
            <a:solidFill>
              <a:schemeClr val="accent1"/>
            </a:solidFill>
            <a:prstDash val="sysDash"/>
          </a:ln>
          <a:effectLst>
            <a:outerShdw blurRad="3937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EA6E29C-8E06-6D3E-F6BB-55517DD3CF5D}"/>
              </a:ext>
            </a:extLst>
          </p:cNvPr>
          <p:cNvSpPr/>
          <p:nvPr/>
        </p:nvSpPr>
        <p:spPr>
          <a:xfrm>
            <a:off x="5180764" y="3227293"/>
            <a:ext cx="1183152" cy="496083"/>
          </a:xfrm>
          <a:prstGeom prst="roundRect">
            <a:avLst>
              <a:gd name="adj" fmla="val 5856"/>
            </a:avLst>
          </a:prstGeom>
          <a:solidFill>
            <a:srgbClr val="E1F7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4C21DA4-45E7-544C-5FEF-9E7EC60B58A5}"/>
              </a:ext>
            </a:extLst>
          </p:cNvPr>
          <p:cNvGrpSpPr/>
          <p:nvPr/>
        </p:nvGrpSpPr>
        <p:grpSpPr>
          <a:xfrm>
            <a:off x="360858" y="3135875"/>
            <a:ext cx="1359085" cy="1174998"/>
            <a:chOff x="1254362" y="1493563"/>
            <a:chExt cx="1397499" cy="2315029"/>
          </a:xfrm>
          <a:solidFill>
            <a:srgbClr val="FFEAD5"/>
          </a:solidFill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4AA7655-CAD3-FD72-5F19-08151DC6B7EB}"/>
                </a:ext>
              </a:extLst>
            </p:cNvPr>
            <p:cNvSpPr/>
            <p:nvPr/>
          </p:nvSpPr>
          <p:spPr>
            <a:xfrm>
              <a:off x="1264132" y="1493563"/>
              <a:ext cx="1377958" cy="2315029"/>
            </a:xfrm>
            <a:prstGeom prst="roundRect">
              <a:avLst>
                <a:gd name="adj" fmla="val 5856"/>
              </a:avLst>
            </a:prstGeom>
            <a:grp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CB3993E-8162-9BC0-DB27-E1FE1FBAD9D8}"/>
                </a:ext>
              </a:extLst>
            </p:cNvPr>
            <p:cNvSpPr txBox="1"/>
            <p:nvPr/>
          </p:nvSpPr>
          <p:spPr>
            <a:xfrm>
              <a:off x="1254362" y="1621438"/>
              <a:ext cx="1397499" cy="894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P2</a:t>
              </a:r>
              <a:r>
                <a:rPr lang="zh-CN" altLang="en-US" sz="1300" b="1" dirty="0">
                  <a:latin typeface="+mj-ea"/>
                  <a:ea typeface="+mj-ea"/>
                </a:rPr>
                <a:t> 并行编排</a:t>
              </a:r>
              <a:r>
                <a:rPr lang="en-US" altLang="zh-CN" sz="1300" b="1" dirty="0">
                  <a:latin typeface="+mj-ea"/>
                  <a:ea typeface="+mj-ea"/>
                </a:rPr>
                <a:t> </a:t>
              </a:r>
              <a:r>
                <a:rPr lang="en-US" altLang="zh-CN" sz="1050" dirty="0" err="1">
                  <a:latin typeface="+mj-ea"/>
                  <a:ea typeface="+mj-ea"/>
                </a:rPr>
                <a:t>Orchestrate_node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B2FDD23-4462-1CDA-4710-C403EE5A3BE1}"/>
              </a:ext>
            </a:extLst>
          </p:cNvPr>
          <p:cNvGrpSpPr/>
          <p:nvPr/>
        </p:nvGrpSpPr>
        <p:grpSpPr>
          <a:xfrm>
            <a:off x="379864" y="1967541"/>
            <a:ext cx="1340080" cy="493373"/>
            <a:chOff x="1157947" y="1719942"/>
            <a:chExt cx="1460066" cy="2315029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3E40DB5A-EE86-220A-B670-F2E2F1C35098}"/>
                </a:ext>
              </a:extLst>
            </p:cNvPr>
            <p:cNvSpPr/>
            <p:nvPr/>
          </p:nvSpPr>
          <p:spPr>
            <a:xfrm>
              <a:off x="1157947" y="1719942"/>
              <a:ext cx="1460066" cy="2315029"/>
            </a:xfrm>
            <a:prstGeom prst="roundRect">
              <a:avLst>
                <a:gd name="adj" fmla="val 5856"/>
              </a:avLst>
            </a:prstGeom>
            <a:solidFill>
              <a:srgbClr val="E1F7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8698CD9-896B-53F0-3788-A0E6C376DE82}"/>
                </a:ext>
              </a:extLst>
            </p:cNvPr>
            <p:cNvSpPr txBox="1"/>
            <p:nvPr/>
          </p:nvSpPr>
          <p:spPr>
            <a:xfrm>
              <a:off x="1280195" y="1748691"/>
              <a:ext cx="1215571" cy="2166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P1</a:t>
              </a:r>
              <a:r>
                <a:rPr lang="zh-CN" altLang="en-US" sz="1300" b="1" dirty="0">
                  <a:latin typeface="+mj-ea"/>
                  <a:ea typeface="+mj-ea"/>
                </a:rPr>
                <a:t> 意图识别</a:t>
              </a:r>
              <a:endParaRPr lang="en-US" altLang="zh-CN" sz="1300" b="1" dirty="0">
                <a:latin typeface="+mj-ea"/>
                <a:ea typeface="+mj-ea"/>
              </a:endParaRPr>
            </a:p>
            <a:p>
              <a:pPr algn="ctr"/>
              <a:r>
                <a:rPr lang="en-US" altLang="zh-CN" sz="1100" dirty="0" err="1">
                  <a:latin typeface="+mj-ea"/>
                  <a:ea typeface="+mj-ea"/>
                </a:rPr>
                <a:t>intent_node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7CC88E6-2513-6F36-6603-AF4BB1DBC954}"/>
              </a:ext>
            </a:extLst>
          </p:cNvPr>
          <p:cNvGrpSpPr/>
          <p:nvPr/>
        </p:nvGrpSpPr>
        <p:grpSpPr>
          <a:xfrm>
            <a:off x="379863" y="2501476"/>
            <a:ext cx="1340080" cy="624976"/>
            <a:chOff x="1199002" y="1719942"/>
            <a:chExt cx="1419011" cy="2453785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DAC4188C-4DE5-19E6-F0E7-F5382FF72FDA}"/>
                </a:ext>
              </a:extLst>
            </p:cNvPr>
            <p:cNvSpPr/>
            <p:nvPr/>
          </p:nvSpPr>
          <p:spPr>
            <a:xfrm>
              <a:off x="1199002" y="1719942"/>
              <a:ext cx="1419011" cy="2315029"/>
            </a:xfrm>
            <a:prstGeom prst="roundRect">
              <a:avLst>
                <a:gd name="adj" fmla="val 5856"/>
              </a:avLst>
            </a:prstGeom>
            <a:solidFill>
              <a:schemeClr val="bg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47D2B8F-A792-AE96-C078-578140F09827}"/>
                </a:ext>
              </a:extLst>
            </p:cNvPr>
            <p:cNvSpPr txBox="1"/>
            <p:nvPr/>
          </p:nvSpPr>
          <p:spPr>
            <a:xfrm>
              <a:off x="1199002" y="1756939"/>
              <a:ext cx="1377956" cy="2416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P1.5</a:t>
              </a:r>
              <a:r>
                <a:rPr lang="zh-CN" altLang="en-US" sz="1300" b="1" dirty="0">
                  <a:latin typeface="+mj-ea"/>
                  <a:ea typeface="+mj-ea"/>
                </a:rPr>
                <a:t> 约束检验</a:t>
              </a:r>
              <a:endParaRPr lang="en-US" altLang="zh-CN" sz="1300" b="1" dirty="0">
                <a:latin typeface="+mj-ea"/>
                <a:ea typeface="+mj-ea"/>
              </a:endParaRPr>
            </a:p>
            <a:p>
              <a:pPr algn="ctr"/>
              <a:r>
                <a:rPr lang="en-US" altLang="zh-CN" sz="1050" dirty="0">
                  <a:latin typeface="+mj-ea"/>
                  <a:ea typeface="+mj-ea"/>
                </a:rPr>
                <a:t>Validation_</a:t>
              </a:r>
            </a:p>
            <a:p>
              <a:pPr algn="ctr"/>
              <a:r>
                <a:rPr lang="en-US" altLang="zh-CN" sz="1050" dirty="0">
                  <a:latin typeface="+mj-ea"/>
                  <a:ea typeface="+mj-ea"/>
                </a:rPr>
                <a:t>constrain</a:t>
              </a:r>
              <a:endParaRPr lang="en-US" altLang="zh-CN" sz="1000" dirty="0">
                <a:latin typeface="+mj-ea"/>
                <a:ea typeface="+mj-ea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E15AA35-5EAB-931C-4648-8C341AEC5282}"/>
              </a:ext>
            </a:extLst>
          </p:cNvPr>
          <p:cNvGrpSpPr/>
          <p:nvPr/>
        </p:nvGrpSpPr>
        <p:grpSpPr>
          <a:xfrm>
            <a:off x="337579" y="4375776"/>
            <a:ext cx="1405639" cy="518807"/>
            <a:chOff x="1111548" y="1685934"/>
            <a:chExt cx="1542433" cy="2349037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5C9F8E40-E327-6EE9-F72E-3AD940D269D3}"/>
                </a:ext>
              </a:extLst>
            </p:cNvPr>
            <p:cNvSpPr/>
            <p:nvPr/>
          </p:nvSpPr>
          <p:spPr>
            <a:xfrm>
              <a:off x="1157947" y="1719942"/>
              <a:ext cx="1460066" cy="2315029"/>
            </a:xfrm>
            <a:prstGeom prst="roundRect">
              <a:avLst>
                <a:gd name="adj" fmla="val 5856"/>
              </a:avLst>
            </a:prstGeom>
            <a:solidFill>
              <a:srgbClr val="E1F7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CEC118F-45E3-17F8-2E3C-84A811321744}"/>
                </a:ext>
              </a:extLst>
            </p:cNvPr>
            <p:cNvSpPr txBox="1"/>
            <p:nvPr/>
          </p:nvSpPr>
          <p:spPr>
            <a:xfrm>
              <a:off x="1111548" y="1685934"/>
              <a:ext cx="1542433" cy="2090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P3</a:t>
              </a:r>
              <a:r>
                <a:rPr lang="zh-CN" altLang="en-US" sz="1300" b="1" dirty="0">
                  <a:latin typeface="+mj-ea"/>
                  <a:ea typeface="+mj-ea"/>
                </a:rPr>
                <a:t> 行程规划</a:t>
              </a:r>
              <a:r>
                <a:rPr lang="en-US" altLang="zh-CN" sz="1100" dirty="0" err="1">
                  <a:latin typeface="+mj-ea"/>
                  <a:ea typeface="+mj-ea"/>
                </a:rPr>
                <a:t>itinerary_planning</a:t>
              </a:r>
              <a:endParaRPr lang="en-US" altLang="zh-CN" sz="1100" dirty="0">
                <a:latin typeface="+mj-ea"/>
                <a:ea typeface="+mj-ea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52F350A-F88B-49C5-A08F-F0993CBC5B9A}"/>
              </a:ext>
            </a:extLst>
          </p:cNvPr>
          <p:cNvGrpSpPr/>
          <p:nvPr/>
        </p:nvGrpSpPr>
        <p:grpSpPr>
          <a:xfrm>
            <a:off x="370359" y="4978777"/>
            <a:ext cx="1377022" cy="492443"/>
            <a:chOff x="1141934" y="1719942"/>
            <a:chExt cx="1516769" cy="2320443"/>
          </a:xfrm>
        </p:grpSpPr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D0F3BEAE-3AAD-7012-58CA-5344DE5678CC}"/>
                </a:ext>
              </a:extLst>
            </p:cNvPr>
            <p:cNvSpPr/>
            <p:nvPr/>
          </p:nvSpPr>
          <p:spPr>
            <a:xfrm>
              <a:off x="1157947" y="1719942"/>
              <a:ext cx="1460066" cy="2315029"/>
            </a:xfrm>
            <a:prstGeom prst="roundRect">
              <a:avLst>
                <a:gd name="adj" fmla="val 5856"/>
              </a:avLst>
            </a:prstGeom>
            <a:solidFill>
              <a:srgbClr val="FFEAD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6770800-739F-16A4-E1EB-94CB8CAF2ED9}"/>
                </a:ext>
              </a:extLst>
            </p:cNvPr>
            <p:cNvSpPr txBox="1"/>
            <p:nvPr/>
          </p:nvSpPr>
          <p:spPr>
            <a:xfrm>
              <a:off x="1141934" y="1719942"/>
              <a:ext cx="1516769" cy="2320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P3.5</a:t>
              </a:r>
              <a:r>
                <a:rPr lang="zh-CN" altLang="en-US" sz="1300" b="1" dirty="0">
                  <a:latin typeface="+mj-ea"/>
                  <a:ea typeface="+mj-ea"/>
                </a:rPr>
                <a:t> 后置增强 </a:t>
              </a:r>
              <a:endParaRPr lang="en-US" altLang="zh-CN" sz="1300" b="1" dirty="0">
                <a:latin typeface="+mj-ea"/>
                <a:ea typeface="+mj-ea"/>
              </a:endParaRPr>
            </a:p>
            <a:p>
              <a:pPr algn="ctr"/>
              <a:r>
                <a:rPr lang="en-US" altLang="zh-CN" sz="1300" dirty="0">
                  <a:latin typeface="+mj-ea"/>
                  <a:ea typeface="+mj-ea"/>
                </a:rPr>
                <a:t>(</a:t>
              </a:r>
              <a:r>
                <a:rPr lang="en-US" altLang="zh-CN" sz="1100" dirty="0" err="1">
                  <a:latin typeface="+mj-ea"/>
                  <a:ea typeface="+mj-ea"/>
                </a:rPr>
                <a:t>POI_enrich_node</a:t>
              </a:r>
              <a:r>
                <a:rPr lang="en-US" altLang="zh-CN" sz="1100" dirty="0">
                  <a:latin typeface="+mj-ea"/>
                  <a:ea typeface="+mj-ea"/>
                </a:rPr>
                <a:t>)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12B4475-8A37-8D7C-D6DA-D5BDB3DC8195}"/>
              </a:ext>
            </a:extLst>
          </p:cNvPr>
          <p:cNvGrpSpPr/>
          <p:nvPr/>
        </p:nvGrpSpPr>
        <p:grpSpPr>
          <a:xfrm>
            <a:off x="360860" y="5515069"/>
            <a:ext cx="1349583" cy="661720"/>
            <a:chOff x="1149986" y="1615637"/>
            <a:chExt cx="743273" cy="1586466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12ADB9DA-0921-9DAB-1ABE-B9B1E6EB2F9D}"/>
                </a:ext>
              </a:extLst>
            </p:cNvPr>
            <p:cNvSpPr/>
            <p:nvPr/>
          </p:nvSpPr>
          <p:spPr>
            <a:xfrm>
              <a:off x="1160452" y="1636315"/>
              <a:ext cx="732806" cy="1434686"/>
            </a:xfrm>
            <a:prstGeom prst="roundRect">
              <a:avLst>
                <a:gd name="adj" fmla="val 5856"/>
              </a:avLst>
            </a:prstGeom>
            <a:solidFill>
              <a:srgbClr val="E1F7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FFFBBB0-5260-7CA5-BA8F-EB58EBBE1A43}"/>
                </a:ext>
              </a:extLst>
            </p:cNvPr>
            <p:cNvSpPr txBox="1"/>
            <p:nvPr/>
          </p:nvSpPr>
          <p:spPr>
            <a:xfrm>
              <a:off x="1149986" y="1615637"/>
              <a:ext cx="743273" cy="15864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P4</a:t>
              </a:r>
              <a:r>
                <a:rPr lang="zh-CN" altLang="en-US" sz="1300" b="1" dirty="0">
                  <a:latin typeface="+mj-ea"/>
                  <a:ea typeface="+mj-ea"/>
                </a:rPr>
                <a:t> 住宿推荐 </a:t>
              </a:r>
              <a:endParaRPr lang="en-US" altLang="zh-CN" sz="1300" b="1" dirty="0">
                <a:latin typeface="+mj-ea"/>
                <a:ea typeface="+mj-ea"/>
              </a:endParaRPr>
            </a:p>
            <a:p>
              <a:pPr algn="ctr"/>
              <a:r>
                <a:rPr lang="en-US" altLang="zh-CN" sz="1300" dirty="0">
                  <a:latin typeface="+mj-ea"/>
                  <a:ea typeface="+mj-ea"/>
                </a:rPr>
                <a:t>(</a:t>
              </a:r>
              <a:r>
                <a:rPr lang="en-US" altLang="zh-CN" sz="1100" dirty="0">
                  <a:latin typeface="+mj-ea"/>
                  <a:ea typeface="+mj-ea"/>
                </a:rPr>
                <a:t>Accommodation </a:t>
              </a:r>
            </a:p>
            <a:p>
              <a:pPr algn="ctr"/>
              <a:r>
                <a:rPr lang="en-US" altLang="zh-CN" sz="1100" dirty="0">
                  <a:latin typeface="+mj-ea"/>
                  <a:ea typeface="+mj-ea"/>
                </a:rPr>
                <a:t>node)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5DAE032-48BB-5991-A56B-A4D5D894F4A0}"/>
              </a:ext>
            </a:extLst>
          </p:cNvPr>
          <p:cNvGrpSpPr/>
          <p:nvPr/>
        </p:nvGrpSpPr>
        <p:grpSpPr>
          <a:xfrm>
            <a:off x="370359" y="6130731"/>
            <a:ext cx="1349584" cy="492443"/>
            <a:chOff x="1140684" y="2105326"/>
            <a:chExt cx="1470421" cy="2308194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8FB4CDA8-C3CE-4B46-C50A-BF924E62F79E}"/>
                </a:ext>
              </a:extLst>
            </p:cNvPr>
            <p:cNvSpPr/>
            <p:nvPr/>
          </p:nvSpPr>
          <p:spPr>
            <a:xfrm>
              <a:off x="1151039" y="2225567"/>
              <a:ext cx="1460066" cy="2178517"/>
            </a:xfrm>
            <a:prstGeom prst="roundRect">
              <a:avLst>
                <a:gd name="adj" fmla="val 11106"/>
              </a:avLst>
            </a:prstGeom>
            <a:solidFill>
              <a:srgbClr val="E1F7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3C128DB-CEA8-C4BF-A52B-209E490F020A}"/>
                </a:ext>
              </a:extLst>
            </p:cNvPr>
            <p:cNvSpPr txBox="1"/>
            <p:nvPr/>
          </p:nvSpPr>
          <p:spPr>
            <a:xfrm>
              <a:off x="1140684" y="2105326"/>
              <a:ext cx="1428704" cy="2308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+mj-ea"/>
                  <a:ea typeface="+mj-ea"/>
                </a:rPr>
                <a:t>P5</a:t>
              </a:r>
              <a:r>
                <a:rPr lang="zh-CN" altLang="en-US" sz="1300" b="1" dirty="0">
                  <a:latin typeface="+mj-ea"/>
                  <a:ea typeface="+mj-ea"/>
                </a:rPr>
                <a:t> 最终回复 </a:t>
              </a:r>
              <a:r>
                <a:rPr lang="en-US" altLang="zh-CN" sz="1300" dirty="0">
                  <a:latin typeface="+mj-ea"/>
                  <a:ea typeface="+mj-ea"/>
                </a:rPr>
                <a:t>(</a:t>
              </a:r>
              <a:r>
                <a:rPr lang="en-US" altLang="zh-CN" sz="1100" dirty="0" err="1">
                  <a:latin typeface="+mj-ea"/>
                  <a:ea typeface="+mj-ea"/>
                </a:rPr>
                <a:t>response_node</a:t>
              </a:r>
              <a:r>
                <a:rPr lang="en-US" altLang="zh-CN" sz="1100" dirty="0">
                  <a:latin typeface="+mj-ea"/>
                  <a:ea typeface="+mj-ea"/>
                </a:rPr>
                <a:t>)</a:t>
              </a:r>
            </a:p>
          </p:txBody>
        </p:sp>
      </p:grp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3D689F3-DB2D-EEB3-A5A1-F25E0B30F9A5}"/>
              </a:ext>
            </a:extLst>
          </p:cNvPr>
          <p:cNvSpPr/>
          <p:nvPr/>
        </p:nvSpPr>
        <p:spPr>
          <a:xfrm>
            <a:off x="442686" y="3673075"/>
            <a:ext cx="1201057" cy="200562"/>
          </a:xfrm>
          <a:prstGeom prst="roundRect">
            <a:avLst/>
          </a:prstGeom>
          <a:solidFill>
            <a:srgbClr val="FFCB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RAG_risk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F55AA6A-5A0A-ED8D-44D8-2275D3BF4BE4}"/>
              </a:ext>
            </a:extLst>
          </p:cNvPr>
          <p:cNvSpPr/>
          <p:nvPr/>
        </p:nvSpPr>
        <p:spPr>
          <a:xfrm>
            <a:off x="442686" y="3923192"/>
            <a:ext cx="1201057" cy="200562"/>
          </a:xfrm>
          <a:prstGeom prst="roundRect">
            <a:avLst/>
          </a:prstGeom>
          <a:solidFill>
            <a:srgbClr val="FFCB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RAG_experience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5" name="圆角矩形 1">
            <a:extLst>
              <a:ext uri="{FF2B5EF4-FFF2-40B4-BE49-F238E27FC236}">
                <a16:creationId xmlns:a16="http://schemas.microsoft.com/office/drawing/2014/main" id="{A14148F3-B0EB-F9B5-6ADA-0D7DAF9554A8}"/>
              </a:ext>
            </a:extLst>
          </p:cNvPr>
          <p:cNvSpPr/>
          <p:nvPr/>
        </p:nvSpPr>
        <p:spPr>
          <a:xfrm>
            <a:off x="200260" y="1434100"/>
            <a:ext cx="1717220" cy="389255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整体定位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13AC55C-B2AE-B49E-D77A-C77503D932F0}"/>
              </a:ext>
            </a:extLst>
          </p:cNvPr>
          <p:cNvSpPr/>
          <p:nvPr/>
        </p:nvSpPr>
        <p:spPr>
          <a:xfrm>
            <a:off x="275770" y="3118187"/>
            <a:ext cx="1531259" cy="1240059"/>
          </a:xfrm>
          <a:prstGeom prst="roundRect">
            <a:avLst>
              <a:gd name="adj" fmla="val 4296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CFA66B9-C6C2-1E75-AE77-DB5D9BCC1AF7}"/>
              </a:ext>
            </a:extLst>
          </p:cNvPr>
          <p:cNvSpPr/>
          <p:nvPr/>
        </p:nvSpPr>
        <p:spPr>
          <a:xfrm>
            <a:off x="275770" y="4931563"/>
            <a:ext cx="1531259" cy="557854"/>
          </a:xfrm>
          <a:prstGeom prst="roundRect">
            <a:avLst>
              <a:gd name="adj" fmla="val 4296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39AAD37-CC13-53CB-E923-A03CB6A64FAB}"/>
              </a:ext>
            </a:extLst>
          </p:cNvPr>
          <p:cNvSpPr/>
          <p:nvPr/>
        </p:nvSpPr>
        <p:spPr>
          <a:xfrm>
            <a:off x="2225041" y="4123754"/>
            <a:ext cx="4756330" cy="2588760"/>
          </a:xfrm>
          <a:prstGeom prst="roundRect">
            <a:avLst>
              <a:gd name="adj" fmla="val 1458"/>
            </a:avLst>
          </a:prstGeom>
          <a:solidFill>
            <a:schemeClr val="bg1"/>
          </a:solidFill>
          <a:ln>
            <a:solidFill>
              <a:schemeClr val="accent1"/>
            </a:solidFill>
            <a:prstDash val="sysDash"/>
          </a:ln>
          <a:effectLst>
            <a:outerShdw blurRad="3937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39" name="圆角矩形 1">
            <a:extLst>
              <a:ext uri="{FF2B5EF4-FFF2-40B4-BE49-F238E27FC236}">
                <a16:creationId xmlns:a16="http://schemas.microsoft.com/office/drawing/2014/main" id="{2342C804-BF1D-2B76-8D72-50E9ED225DB4}"/>
              </a:ext>
            </a:extLst>
          </p:cNvPr>
          <p:cNvSpPr/>
          <p:nvPr/>
        </p:nvSpPr>
        <p:spPr>
          <a:xfrm>
            <a:off x="2335490" y="1434100"/>
            <a:ext cx="3608110" cy="389255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知识库构建与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chunking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策略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8ABBD90-961C-2D42-26D3-D6338570FC8C}"/>
              </a:ext>
            </a:extLst>
          </p:cNvPr>
          <p:cNvSpPr/>
          <p:nvPr/>
        </p:nvSpPr>
        <p:spPr>
          <a:xfrm>
            <a:off x="7169266" y="4118937"/>
            <a:ext cx="4606047" cy="2524572"/>
          </a:xfrm>
          <a:prstGeom prst="roundRect">
            <a:avLst>
              <a:gd name="adj" fmla="val 1458"/>
            </a:avLst>
          </a:prstGeom>
          <a:solidFill>
            <a:schemeClr val="bg1"/>
          </a:solidFill>
          <a:ln>
            <a:solidFill>
              <a:schemeClr val="accent1"/>
            </a:solidFill>
            <a:prstDash val="sysDash"/>
          </a:ln>
          <a:effectLst>
            <a:outerShdw blurRad="3937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B93F9D-5205-3F19-D9A2-04BFEB868A58}"/>
              </a:ext>
            </a:extLst>
          </p:cNvPr>
          <p:cNvSpPr txBox="1"/>
          <p:nvPr/>
        </p:nvSpPr>
        <p:spPr>
          <a:xfrm>
            <a:off x="2386937" y="1816084"/>
            <a:ext cx="1985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tx2"/>
                </a:solidFill>
                <a:latin typeface="+mj-ea"/>
                <a:ea typeface="+mj-ea"/>
                <a:cs typeface="Times New Roman" panose="02020603050405020304" pitchFamily="18" charset="0"/>
              </a:rPr>
              <a:t>层级感知切分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C484DDF-B9E4-983D-E238-D961232BA0E6}"/>
              </a:ext>
            </a:extLst>
          </p:cNvPr>
          <p:cNvSpPr txBox="1"/>
          <p:nvPr/>
        </p:nvSpPr>
        <p:spPr>
          <a:xfrm>
            <a:off x="2424326" y="2796293"/>
            <a:ext cx="2139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tx2"/>
                </a:solidFill>
                <a:latin typeface="+mj-ea"/>
                <a:ea typeface="+mj-ea"/>
                <a:cs typeface="Times New Roman" panose="02020603050405020304" pitchFamily="18" charset="0"/>
              </a:rPr>
              <a:t>段落感知切分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A766E952-8B60-29DD-3867-6B208FE01BA8}"/>
              </a:ext>
            </a:extLst>
          </p:cNvPr>
          <p:cNvSpPr/>
          <p:nvPr/>
        </p:nvSpPr>
        <p:spPr>
          <a:xfrm>
            <a:off x="2669180" y="2239398"/>
            <a:ext cx="1759131" cy="496083"/>
          </a:xfrm>
          <a:prstGeom prst="roundRect">
            <a:avLst>
              <a:gd name="adj" fmla="val 5856"/>
            </a:avLst>
          </a:prstGeom>
          <a:solidFill>
            <a:srgbClr val="E1F7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二级结构文档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（</a:t>
            </a:r>
            <a:r>
              <a:rPr lang="en-US" altLang="zh-CN" sz="1400" b="1" dirty="0">
                <a:solidFill>
                  <a:schemeClr val="tx1"/>
                </a:solidFill>
              </a:rPr>
              <a:t>##</a:t>
            </a:r>
            <a:r>
              <a:rPr lang="zh-CN" altLang="en-US" sz="1400" b="1" dirty="0">
                <a:solidFill>
                  <a:schemeClr val="tx1"/>
                </a:solidFill>
              </a:rPr>
              <a:t>城市，</a:t>
            </a:r>
            <a:r>
              <a:rPr lang="en-US" altLang="zh-CN" sz="1400" b="1" dirty="0">
                <a:solidFill>
                  <a:schemeClr val="tx1"/>
                </a:solidFill>
              </a:rPr>
              <a:t>###</a:t>
            </a:r>
            <a:r>
              <a:rPr lang="zh-CN" altLang="en-US" sz="1400" b="1" dirty="0">
                <a:solidFill>
                  <a:schemeClr val="tx1"/>
                </a:solidFill>
              </a:rPr>
              <a:t>章节）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DBC6023-FBE2-F790-4A23-A13DBFDD5DD3}"/>
              </a:ext>
            </a:extLst>
          </p:cNvPr>
          <p:cNvSpPr txBox="1"/>
          <p:nvPr/>
        </p:nvSpPr>
        <p:spPr>
          <a:xfrm>
            <a:off x="4531181" y="2225827"/>
            <a:ext cx="56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层级感知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42D7B05-B35D-8B0A-FBD8-2DCE8E1D3FFC}"/>
              </a:ext>
            </a:extLst>
          </p:cNvPr>
          <p:cNvSpPr/>
          <p:nvPr/>
        </p:nvSpPr>
        <p:spPr>
          <a:xfrm>
            <a:off x="5180766" y="2239398"/>
            <a:ext cx="1637867" cy="496083"/>
          </a:xfrm>
          <a:prstGeom prst="roundRect">
            <a:avLst>
              <a:gd name="adj" fmla="val 5856"/>
            </a:avLst>
          </a:prstGeom>
          <a:solidFill>
            <a:srgbClr val="E1F7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D210670-DD6F-9D41-C1E8-F76F3F550639}"/>
              </a:ext>
            </a:extLst>
          </p:cNvPr>
          <p:cNvSpPr txBox="1"/>
          <p:nvPr/>
        </p:nvSpPr>
        <p:spPr>
          <a:xfrm>
            <a:off x="5239943" y="2225827"/>
            <a:ext cx="1590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/>
              <a:t>[</a:t>
            </a:r>
            <a:r>
              <a:rPr lang="zh-CN" altLang="en-US" sz="1400" b="1" dirty="0"/>
              <a:t>城市</a:t>
            </a:r>
            <a:r>
              <a:rPr lang="en-US" altLang="zh-CN" sz="1400" b="1" dirty="0"/>
              <a:t> – </a:t>
            </a:r>
            <a:r>
              <a:rPr lang="zh-CN" altLang="en-US" sz="1400" b="1" dirty="0"/>
              <a:t>章节</a:t>
            </a:r>
            <a:r>
              <a:rPr lang="en-US" altLang="zh-CN" sz="1400" b="1" dirty="0"/>
              <a:t>]</a:t>
            </a:r>
          </a:p>
          <a:p>
            <a:pPr algn="ctr"/>
            <a:r>
              <a:rPr lang="en-US" altLang="zh-CN" sz="1400" b="1" dirty="0"/>
              <a:t>Breadcrumb</a:t>
            </a:r>
            <a:r>
              <a:rPr lang="zh-CN" altLang="en-US" sz="1400" b="1" dirty="0"/>
              <a:t>注入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FE2170B5-7F08-CF9D-EE1C-43B0ECAC4C6E}"/>
              </a:ext>
            </a:extLst>
          </p:cNvPr>
          <p:cNvSpPr/>
          <p:nvPr/>
        </p:nvSpPr>
        <p:spPr>
          <a:xfrm>
            <a:off x="6974798" y="2239398"/>
            <a:ext cx="1044347" cy="496083"/>
          </a:xfrm>
          <a:prstGeom prst="roundRect">
            <a:avLst>
              <a:gd name="adj" fmla="val 5856"/>
            </a:avLst>
          </a:prstGeom>
          <a:solidFill>
            <a:srgbClr val="E1F7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细粒度</a:t>
            </a:r>
            <a:endParaRPr lang="en-US" altLang="zh-CN" sz="14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chunking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C0F3D7A-9820-8A02-F8E8-26CEB44B2D33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4428311" y="2486125"/>
            <a:ext cx="154305" cy="1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BB47633-2E52-DF69-F484-1A0F5110B4E9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043456" y="2486127"/>
            <a:ext cx="137308" cy="1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CF7BE319-C780-886C-101A-063ECC8F7439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6830205" y="2487439"/>
            <a:ext cx="14459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0B43524-B3FC-2D7B-7DC4-2F767A293E35}"/>
              </a:ext>
            </a:extLst>
          </p:cNvPr>
          <p:cNvSpPr/>
          <p:nvPr/>
        </p:nvSpPr>
        <p:spPr>
          <a:xfrm>
            <a:off x="2656844" y="3227291"/>
            <a:ext cx="1478810" cy="496083"/>
          </a:xfrm>
          <a:prstGeom prst="roundRect">
            <a:avLst>
              <a:gd name="adj" fmla="val 5856"/>
            </a:avLst>
          </a:prstGeom>
          <a:solidFill>
            <a:srgbClr val="E1F7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文本文档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txt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090D174-248E-FE33-BC1C-CDED465004DB}"/>
              </a:ext>
            </a:extLst>
          </p:cNvPr>
          <p:cNvSpPr txBox="1"/>
          <p:nvPr/>
        </p:nvSpPr>
        <p:spPr>
          <a:xfrm>
            <a:off x="4344661" y="3213723"/>
            <a:ext cx="564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段落感知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90E93E9-3A7B-AC38-419D-079D2DED45CA}"/>
              </a:ext>
            </a:extLst>
          </p:cNvPr>
          <p:cNvSpPr txBox="1"/>
          <p:nvPr/>
        </p:nvSpPr>
        <p:spPr>
          <a:xfrm>
            <a:off x="5180764" y="3200154"/>
            <a:ext cx="1183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滑动窗口</a:t>
            </a:r>
            <a:endParaRPr lang="en-US" altLang="zh-CN" sz="1400" b="1" dirty="0"/>
          </a:p>
          <a:p>
            <a:pPr algn="ctr"/>
            <a:r>
              <a:rPr lang="en-US" altLang="zh-CN" sz="1400" b="1" dirty="0"/>
              <a:t>Max = 800</a:t>
            </a:r>
            <a:endParaRPr lang="zh-CN" altLang="en-US" sz="1400" b="1" dirty="0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EFD7CB7-01B4-5CEF-524D-C5DD00AC0F27}"/>
              </a:ext>
            </a:extLst>
          </p:cNvPr>
          <p:cNvSpPr/>
          <p:nvPr/>
        </p:nvSpPr>
        <p:spPr>
          <a:xfrm>
            <a:off x="6981373" y="3212872"/>
            <a:ext cx="1044347" cy="496083"/>
          </a:xfrm>
          <a:prstGeom prst="roundRect">
            <a:avLst>
              <a:gd name="adj" fmla="val 5856"/>
            </a:avLst>
          </a:prstGeom>
          <a:solidFill>
            <a:srgbClr val="E1F7F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细粒度</a:t>
            </a:r>
            <a:endParaRPr lang="en-US" altLang="zh-CN" sz="1400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chunking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E08A9978-DB4B-1BBF-3567-C0A58E4DBBD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>
            <a:off x="4135656" y="3475333"/>
            <a:ext cx="2090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B07E036D-3F6F-16B9-F767-95B23810234D}"/>
              </a:ext>
            </a:extLst>
          </p:cNvPr>
          <p:cNvCxnSpPr>
            <a:cxnSpLocks/>
            <a:stCxn id="52" idx="3"/>
            <a:endCxn id="11" idx="1"/>
          </p:cNvCxnSpPr>
          <p:nvPr/>
        </p:nvCxnSpPr>
        <p:spPr>
          <a:xfrm>
            <a:off x="4908830" y="3475333"/>
            <a:ext cx="271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BD8C36AB-3138-7FA3-B278-E1378DD428AF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 flipV="1">
            <a:off x="6363918" y="3460912"/>
            <a:ext cx="617455" cy="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F0452FBF-2B27-8A2E-9C72-B3993CAD2871}"/>
              </a:ext>
            </a:extLst>
          </p:cNvPr>
          <p:cNvSpPr txBox="1"/>
          <p:nvPr/>
        </p:nvSpPr>
        <p:spPr>
          <a:xfrm>
            <a:off x="8285232" y="1433342"/>
            <a:ext cx="3393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tx2"/>
                </a:solidFill>
              </a:rPr>
              <a:t>富元数据注入 </a:t>
            </a:r>
            <a:r>
              <a:rPr lang="en-US" altLang="zh-CN" b="1" dirty="0">
                <a:solidFill>
                  <a:schemeClr val="tx2"/>
                </a:solidFill>
              </a:rPr>
              <a:t>(Metadata)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A5D6D99-3A78-9A73-E731-4BBDC274C75D}"/>
              </a:ext>
            </a:extLst>
          </p:cNvPr>
          <p:cNvSpPr txBox="1"/>
          <p:nvPr/>
        </p:nvSpPr>
        <p:spPr>
          <a:xfrm>
            <a:off x="8333278" y="1823357"/>
            <a:ext cx="33939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每个 </a:t>
            </a:r>
            <a:r>
              <a:rPr lang="fr-FR" altLang="zh-CN" sz="1400" dirty="0"/>
              <a:t>chunk </a:t>
            </a:r>
            <a:r>
              <a:rPr lang="zh-CN" altLang="en-US" sz="1400" dirty="0"/>
              <a:t>在入库时注入多维 </a:t>
            </a:r>
            <a:r>
              <a:rPr lang="fr-FR" altLang="zh-CN" sz="1400" dirty="0"/>
              <a:t>metadata</a:t>
            </a:r>
            <a:r>
              <a:rPr lang="zh-CN" altLang="fr-FR" sz="1400" dirty="0"/>
              <a:t>。</a:t>
            </a:r>
            <a:r>
              <a:rPr lang="zh-CN" altLang="en-US" sz="1400" dirty="0"/>
              <a:t>其中结构化字段可供下游地图 </a:t>
            </a:r>
            <a:r>
              <a:rPr lang="fr-FR" altLang="zh-CN" sz="1400" dirty="0"/>
              <a:t>MCP </a:t>
            </a:r>
            <a:r>
              <a:rPr lang="zh-CN" altLang="en-US" sz="1400" dirty="0"/>
              <a:t>工具</a:t>
            </a:r>
            <a:r>
              <a:rPr lang="zh-CN" altLang="en-US" sz="1400" b="1" dirty="0"/>
              <a:t>直接提取调用参数</a:t>
            </a:r>
            <a:r>
              <a:rPr lang="zh-CN" altLang="en-US" sz="1400" dirty="0"/>
              <a:t>，避免二次解析。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zh-CN" sz="1400" dirty="0"/>
              <a:t>parent_doc + title + source </a:t>
            </a:r>
            <a:r>
              <a:rPr lang="zh-CN" altLang="en-US" sz="1400" dirty="0"/>
              <a:t>则构成</a:t>
            </a:r>
            <a:r>
              <a:rPr lang="zh-CN" altLang="en-US" sz="1400" b="1" dirty="0"/>
              <a:t>文档溯源链</a:t>
            </a:r>
            <a:r>
              <a:rPr lang="zh-CN" altLang="en-US" sz="1400" dirty="0"/>
              <a:t>，使得每条召回都能追溯到原始文档和章节，回答可验证、可引用。</a:t>
            </a: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B79BC939-9B34-1611-FF51-5B2D965CE774}"/>
              </a:ext>
            </a:extLst>
          </p:cNvPr>
          <p:cNvSpPr/>
          <p:nvPr/>
        </p:nvSpPr>
        <p:spPr>
          <a:xfrm rot="5400000">
            <a:off x="7165663" y="2566525"/>
            <a:ext cx="2239141" cy="45719"/>
          </a:xfrm>
          <a:custGeom>
            <a:avLst/>
            <a:gdLst>
              <a:gd name="connsiteX0" fmla="*/ 0 w 10871200"/>
              <a:gd name="connsiteY0" fmla="*/ 0 h 0"/>
              <a:gd name="connsiteX1" fmla="*/ 10871200 w 108712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871200">
                <a:moveTo>
                  <a:pt x="0" y="0"/>
                </a:moveTo>
                <a:lnTo>
                  <a:pt x="10871200" y="0"/>
                </a:lnTo>
              </a:path>
            </a:pathLst>
          </a:custGeom>
          <a:noFill/>
          <a:ln w="6350" cap="rnd">
            <a:solidFill>
              <a:schemeClr val="accent1">
                <a:alpha val="62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3A162B1-E87C-9BF2-7D48-C4A41021F3AA}"/>
              </a:ext>
            </a:extLst>
          </p:cNvPr>
          <p:cNvSpPr txBox="1"/>
          <p:nvPr/>
        </p:nvSpPr>
        <p:spPr>
          <a:xfrm>
            <a:off x="2335490" y="4791933"/>
            <a:ext cx="47248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+mn-ea"/>
              </a:rPr>
              <a:t>不直接拿用户原始 </a:t>
            </a:r>
            <a:r>
              <a:rPr lang="fr-FR" altLang="zh-CN" sz="1400" dirty="0">
                <a:latin typeface="+mn-ea"/>
              </a:rPr>
              <a:t>query </a:t>
            </a:r>
            <a:r>
              <a:rPr lang="zh-CN" altLang="en-US" sz="1400" dirty="0">
                <a:latin typeface="+mn-ea"/>
              </a:rPr>
              <a:t>做向量检索， LLM 单次推理并行生成</a:t>
            </a:r>
            <a:r>
              <a:rPr lang="zh-CN" altLang="en-US" sz="1400" b="1" dirty="0">
                <a:latin typeface="+mn-ea"/>
              </a:rPr>
              <a:t>通用/经验/风险三路假设文档</a:t>
            </a:r>
            <a:r>
              <a:rPr lang="zh-CN" altLang="en-US" sz="1400" dirty="0">
                <a:latin typeface="+mn-ea"/>
              </a:rPr>
              <a:t>分别发起检索</a:t>
            </a:r>
            <a:endParaRPr lang="zh-CN" altLang="en-US" sz="1400" b="1" dirty="0">
              <a:latin typeface="+mn-ea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23E15E2-7965-3C4C-5674-F51E7F5B9D93}"/>
              </a:ext>
            </a:extLst>
          </p:cNvPr>
          <p:cNvSpPr txBox="1"/>
          <p:nvPr/>
        </p:nvSpPr>
        <p:spPr>
          <a:xfrm>
            <a:off x="2286605" y="4495768"/>
            <a:ext cx="3761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tx2"/>
                </a:solidFill>
                <a:latin typeface="+mj-ea"/>
              </a:rPr>
              <a:t>多路 </a:t>
            </a:r>
            <a:r>
              <a:rPr lang="en-US" altLang="zh-CN" b="1" dirty="0" err="1">
                <a:solidFill>
                  <a:schemeClr val="tx2"/>
                </a:solidFill>
                <a:latin typeface="+mj-ea"/>
              </a:rPr>
              <a:t>HyDE</a:t>
            </a:r>
            <a:r>
              <a:rPr lang="en-US" altLang="zh-CN" b="1" dirty="0">
                <a:solidFill>
                  <a:schemeClr val="tx2"/>
                </a:solidFill>
                <a:latin typeface="+mj-ea"/>
              </a:rPr>
              <a:t> </a:t>
            </a:r>
            <a:r>
              <a:rPr lang="fr-FR" altLang="zh-CN" b="1" dirty="0">
                <a:solidFill>
                  <a:schemeClr val="tx2"/>
                </a:solidFill>
                <a:latin typeface="+mj-ea"/>
              </a:rPr>
              <a:t>查询扩展</a:t>
            </a:r>
            <a:endParaRPr lang="en-US" altLang="zh-CN" b="1" dirty="0">
              <a:solidFill>
                <a:schemeClr val="tx2"/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FCBA3FF-F71F-CBD6-FF4A-A0C8A87530D1}"/>
              </a:ext>
            </a:extLst>
          </p:cNvPr>
          <p:cNvSpPr txBox="1"/>
          <p:nvPr/>
        </p:nvSpPr>
        <p:spPr>
          <a:xfrm>
            <a:off x="2273903" y="5581630"/>
            <a:ext cx="3761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fr-FR" altLang="zh-CN" b="1" dirty="0">
                <a:solidFill>
                  <a:schemeClr val="tx2"/>
                </a:solidFill>
                <a:latin typeface="+mj-ea"/>
              </a:rPr>
              <a:t>跨编码器重排 </a:t>
            </a:r>
            <a:endParaRPr lang="en-US" altLang="zh-CN" b="1" dirty="0">
              <a:solidFill>
                <a:schemeClr val="tx2"/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8090C9E-3BE4-5176-6AA0-E57722683BE2}"/>
              </a:ext>
            </a:extLst>
          </p:cNvPr>
          <p:cNvSpPr txBox="1"/>
          <p:nvPr/>
        </p:nvSpPr>
        <p:spPr>
          <a:xfrm>
            <a:off x="2305823" y="5853161"/>
            <a:ext cx="48713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+mn-ea"/>
              </a:rPr>
              <a:t>元数据</a:t>
            </a:r>
            <a:r>
              <a:rPr lang="zh-CN" altLang="en-US" sz="1400" dirty="0">
                <a:latin typeface="+mn-ea"/>
              </a:rPr>
              <a:t>按</a:t>
            </a:r>
            <a:r>
              <a:rPr lang="zh-CN" altLang="en-US" sz="1400" b="1" dirty="0">
                <a:latin typeface="+mn-ea"/>
              </a:rPr>
              <a:t>城市+章节→仅城市→全库</a:t>
            </a:r>
            <a:r>
              <a:rPr lang="zh-CN" altLang="en-US" sz="1400" dirty="0">
                <a:latin typeface="+mn-ea"/>
              </a:rPr>
              <a:t>三级降级粗排 </a:t>
            </a:r>
            <a:r>
              <a:rPr lang="zh-CN" altLang="en-US" sz="1400" b="1" dirty="0">
                <a:latin typeface="+mn-ea"/>
              </a:rPr>
              <a:t>Top-20</a:t>
            </a:r>
            <a:r>
              <a:rPr lang="zh-CN" altLang="en-US" sz="1400" dirty="0">
                <a:latin typeface="+mn-ea"/>
              </a:rPr>
              <a:t>，再由 </a:t>
            </a:r>
            <a:r>
              <a:rPr lang="zh-CN" altLang="en-US" sz="1400" b="1" dirty="0">
                <a:latin typeface="+mn-ea"/>
              </a:rPr>
              <a:t>bge-reranker-base </a:t>
            </a:r>
            <a:r>
              <a:rPr lang="zh-CN" altLang="en-US" sz="1400" dirty="0">
                <a:latin typeface="+mn-ea"/>
              </a:rPr>
              <a:t>以原始 query 精排取 </a:t>
            </a:r>
            <a:r>
              <a:rPr lang="zh-CN" altLang="en-US" sz="1400" b="1" dirty="0">
                <a:latin typeface="+mn-ea"/>
              </a:rPr>
              <a:t>Top-5</a:t>
            </a:r>
          </a:p>
        </p:txBody>
      </p:sp>
      <p:sp>
        <p:nvSpPr>
          <p:cNvPr id="65" name="圆角矩形 1">
            <a:extLst>
              <a:ext uri="{FF2B5EF4-FFF2-40B4-BE49-F238E27FC236}">
                <a16:creationId xmlns:a16="http://schemas.microsoft.com/office/drawing/2014/main" id="{22CBB558-BF88-32BB-09D1-3BF0001227A9}"/>
              </a:ext>
            </a:extLst>
          </p:cNvPr>
          <p:cNvSpPr/>
          <p:nvPr/>
        </p:nvSpPr>
        <p:spPr>
          <a:xfrm>
            <a:off x="3650668" y="3991693"/>
            <a:ext cx="1863892" cy="446993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检索策略</a:t>
            </a:r>
          </a:p>
        </p:txBody>
      </p:sp>
      <p:sp>
        <p:nvSpPr>
          <p:cNvPr id="66" name="圆角矩形 1">
            <a:extLst>
              <a:ext uri="{FF2B5EF4-FFF2-40B4-BE49-F238E27FC236}">
                <a16:creationId xmlns:a16="http://schemas.microsoft.com/office/drawing/2014/main" id="{92DFE94F-0191-7B04-D3BC-3846DBF52E62}"/>
              </a:ext>
            </a:extLst>
          </p:cNvPr>
          <p:cNvSpPr/>
          <p:nvPr/>
        </p:nvSpPr>
        <p:spPr>
          <a:xfrm>
            <a:off x="8214723" y="4007415"/>
            <a:ext cx="2421322" cy="446993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altLang="zh-CN" b="1" dirty="0">
                <a:latin typeface="+mn-ea"/>
              </a:rPr>
              <a:t>Post-Retrieval </a:t>
            </a:r>
            <a:r>
              <a:rPr lang="zh-CN" altLang="en-US" b="1" dirty="0">
                <a:latin typeface="+mn-ea"/>
              </a:rPr>
              <a:t>处理</a:t>
            </a:r>
            <a:endParaRPr lang="zh-CN" altLang="en-US" b="1" dirty="0">
              <a:solidFill>
                <a:schemeClr val="bg1"/>
              </a:solidFill>
              <a:latin typeface="+mn-ea"/>
              <a:sym typeface="+mn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4A382F6-35AB-D342-D63B-D9B91C6F0CB3}"/>
              </a:ext>
            </a:extLst>
          </p:cNvPr>
          <p:cNvSpPr txBox="1"/>
          <p:nvPr/>
        </p:nvSpPr>
        <p:spPr>
          <a:xfrm>
            <a:off x="7248203" y="4495768"/>
            <a:ext cx="3761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tx2"/>
                </a:solidFill>
                <a:latin typeface="+mj-ea"/>
                <a:ea typeface="+mj-ea"/>
                <a:cs typeface="Times New Roman" panose="02020603050405020304" pitchFamily="18" charset="0"/>
              </a:rPr>
              <a:t>结构化抽取</a:t>
            </a:r>
            <a:endParaRPr lang="en-US" altLang="zh-CN" b="1" dirty="0">
              <a:solidFill>
                <a:schemeClr val="tx2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8C6A7E4-C89E-5F81-D14F-1F1EAB9AA200}"/>
              </a:ext>
            </a:extLst>
          </p:cNvPr>
          <p:cNvSpPr txBox="1"/>
          <p:nvPr/>
        </p:nvSpPr>
        <p:spPr>
          <a:xfrm>
            <a:off x="7223204" y="4831239"/>
            <a:ext cx="45839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+mn-ea"/>
              </a:rPr>
              <a:t>检索到的 </a:t>
            </a:r>
            <a:r>
              <a:rPr lang="fr-FR" altLang="zh-CN" sz="1400" dirty="0">
                <a:latin typeface="+mn-ea"/>
              </a:rPr>
              <a:t>chunk </a:t>
            </a:r>
            <a:r>
              <a:rPr lang="zh-CN" altLang="en-US" sz="1400" dirty="0">
                <a:latin typeface="+mn-ea"/>
              </a:rPr>
              <a:t>经 </a:t>
            </a:r>
            <a:r>
              <a:rPr lang="fr-FR" altLang="zh-CN" sz="1400" dirty="0">
                <a:latin typeface="+mn-ea"/>
              </a:rPr>
              <a:t>LLM </a:t>
            </a:r>
            <a:r>
              <a:rPr lang="zh-CN" altLang="en-US" sz="1400" dirty="0">
                <a:latin typeface="+mn-ea"/>
              </a:rPr>
              <a:t>抽取，定义 </a:t>
            </a:r>
            <a:r>
              <a:rPr lang="fr-FR" altLang="zh-CN" sz="1400" dirty="0">
                <a:latin typeface="+mn-ea"/>
              </a:rPr>
              <a:t>Pydantic schema</a:t>
            </a:r>
            <a:r>
              <a:rPr lang="zh-CN" altLang="en-US" sz="1400" dirty="0">
                <a:latin typeface="+mn-ea"/>
              </a:rPr>
              <a:t>，约束 </a:t>
            </a:r>
            <a:r>
              <a:rPr lang="fr-FR" altLang="zh-CN" sz="1400" dirty="0">
                <a:latin typeface="+mn-ea"/>
              </a:rPr>
              <a:t>LLM </a:t>
            </a:r>
            <a:r>
              <a:rPr lang="zh-CN" altLang="en-US" sz="1400" dirty="0">
                <a:latin typeface="+mn-ea"/>
              </a:rPr>
              <a:t>输出为严格 </a:t>
            </a:r>
            <a:r>
              <a:rPr lang="fr-FR" altLang="zh-CN" sz="1400" dirty="0">
                <a:latin typeface="+mn-ea"/>
              </a:rPr>
              <a:t>JSON</a:t>
            </a:r>
            <a:endParaRPr lang="zh-CN" altLang="en-US" sz="1400" b="1" dirty="0">
              <a:latin typeface="+mn-e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128938C-7B92-6F44-407E-DCEE3D62A9DD}"/>
              </a:ext>
            </a:extLst>
          </p:cNvPr>
          <p:cNvSpPr txBox="1"/>
          <p:nvPr/>
        </p:nvSpPr>
        <p:spPr>
          <a:xfrm>
            <a:off x="7213185" y="5396964"/>
            <a:ext cx="4578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p"/>
            </a:pPr>
            <a:r>
              <a:rPr lang="fr-FR" altLang="zh-CN" b="1" dirty="0">
                <a:solidFill>
                  <a:schemeClr val="tx2"/>
                </a:solidFill>
                <a:latin typeface="+mn-ea"/>
              </a:rPr>
              <a:t>Post-Retrieval Augmentation</a:t>
            </a:r>
            <a:endParaRPr lang="en-US" altLang="zh-CN" b="1" dirty="0">
              <a:solidFill>
                <a:schemeClr val="tx2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F59393A3-834E-A8AD-7FDC-68A9BC170C5C}"/>
              </a:ext>
            </a:extLst>
          </p:cNvPr>
          <p:cNvSpPr txBox="1"/>
          <p:nvPr/>
        </p:nvSpPr>
        <p:spPr>
          <a:xfrm>
            <a:off x="7235333" y="5723806"/>
            <a:ext cx="45839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/>
              <a:t>在得到每日路线后，对每个已确定的 </a:t>
            </a:r>
            <a:r>
              <a:rPr lang="fr-FR" altLang="zh-CN" sz="1400" dirty="0"/>
              <a:t>POI </a:t>
            </a:r>
            <a:r>
              <a:rPr lang="zh-CN" altLang="en-US" sz="1400" dirty="0"/>
              <a:t>再以</a:t>
            </a:r>
            <a:r>
              <a:rPr lang="zh-CN" altLang="en-US" sz="1400" b="1" dirty="0"/>
              <a:t>景点名本身</a:t>
            </a:r>
            <a:r>
              <a:rPr lang="zh-CN" altLang="en-US" sz="1400" dirty="0"/>
              <a:t>做一次检索，用 </a:t>
            </a:r>
            <a:r>
              <a:rPr lang="fr-FR" altLang="zh-CN" sz="1400" dirty="0"/>
              <a:t>LLM </a:t>
            </a:r>
            <a:r>
              <a:rPr lang="zh-CN" altLang="en-US" sz="1400" dirty="0"/>
              <a:t>提炼 </a:t>
            </a:r>
            <a:r>
              <a:rPr lang="en-US" altLang="zh-CN" sz="1400" dirty="0"/>
              <a:t>1-2 </a:t>
            </a:r>
            <a:r>
              <a:rPr lang="zh-CN" altLang="en-US" sz="1400" dirty="0"/>
              <a:t>句核心体验描述作为人性化补充。</a:t>
            </a:r>
            <a:endParaRPr lang="zh-CN" altLang="en-US" sz="1400" b="1" dirty="0">
              <a:latin typeface="+mn-ea"/>
            </a:endParaRPr>
          </a:p>
        </p:txBody>
      </p:sp>
      <p:sp>
        <p:nvSpPr>
          <p:cNvPr id="71" name="文本占位符 149">
            <a:extLst>
              <a:ext uri="{FF2B5EF4-FFF2-40B4-BE49-F238E27FC236}">
                <a16:creationId xmlns:a16="http://schemas.microsoft.com/office/drawing/2014/main" id="{7E7E2640-C45C-D141-6EB5-96BA403DEE49}"/>
              </a:ext>
            </a:extLst>
          </p:cNvPr>
          <p:cNvSpPr txBox="1">
            <a:spLocks/>
          </p:cNvSpPr>
          <p:nvPr/>
        </p:nvSpPr>
        <p:spPr>
          <a:xfrm>
            <a:off x="0" y="828631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双层</a:t>
            </a:r>
            <a:r>
              <a:rPr lang="en-US" altLang="zh-CN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 RAG </a:t>
            </a:r>
            <a:r>
              <a:rPr lang="en-US" altLang="zh-CN" b="1" dirty="0" err="1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知识增强</a:t>
            </a:r>
            <a:endParaRPr lang="zh-CN" altLang="en-US" b="1" dirty="0">
              <a:solidFill>
                <a:schemeClr val="tx2"/>
              </a:solidFill>
              <a:latin typeface="Arial" panose="020B0604020202020204" pitchFamily="34" charset="0"/>
              <a:ea typeface="微软雅黑" panose="020B0503020204020204" pitchFamily="34" charset="-122"/>
              <a:cs typeface="OPPOSans M" panose="00020600040101010101" charset="-122"/>
            </a:endParaRPr>
          </a:p>
        </p:txBody>
      </p:sp>
      <p:sp>
        <p:nvSpPr>
          <p:cNvPr id="77" name="文本占位符 33">
            <a:extLst>
              <a:ext uri="{FF2B5EF4-FFF2-40B4-BE49-F238E27FC236}">
                <a16:creationId xmlns:a16="http://schemas.microsoft.com/office/drawing/2014/main" id="{9FA68CB4-960C-9DE7-C1F0-8D619967E4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78" name="文本占位符 34">
            <a:extLst>
              <a:ext uri="{FF2B5EF4-FFF2-40B4-BE49-F238E27FC236}">
                <a16:creationId xmlns:a16="http://schemas.microsoft.com/office/drawing/2014/main" id="{F05D8BAA-2C16-19F2-65F6-8246EA4356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79" name="文本占位符 35">
            <a:extLst>
              <a:ext uri="{FF2B5EF4-FFF2-40B4-BE49-F238E27FC236}">
                <a16:creationId xmlns:a16="http://schemas.microsoft.com/office/drawing/2014/main" id="{E177AFB8-B2A6-37CE-C304-EACAB82EE3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80" name="文本占位符 36">
            <a:extLst>
              <a:ext uri="{FF2B5EF4-FFF2-40B4-BE49-F238E27FC236}">
                <a16:creationId xmlns:a16="http://schemas.microsoft.com/office/drawing/2014/main" id="{FCEAADBB-7879-E027-15C3-A124E01668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81" name="文本占位符 37">
            <a:extLst>
              <a:ext uri="{FF2B5EF4-FFF2-40B4-BE49-F238E27FC236}">
                <a16:creationId xmlns:a16="http://schemas.microsoft.com/office/drawing/2014/main" id="{ADBEF80D-4A08-FCF3-CD8A-B419F0E2262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</p:spTree>
    <p:extLst>
      <p:ext uri="{BB962C8B-B14F-4D97-AF65-F5344CB8AC3E}">
        <p14:creationId xmlns:p14="http://schemas.microsoft.com/office/powerpoint/2010/main" val="1631786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08023-3C82-28FB-E8C8-4D43897D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0BD75340-7146-DAC6-6926-326FB62B51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32" name="文本占位符 149">
            <a:extLst>
              <a:ext uri="{FF2B5EF4-FFF2-40B4-BE49-F238E27FC236}">
                <a16:creationId xmlns:a16="http://schemas.microsoft.com/office/drawing/2014/main" id="{1CE96641-05B2-4DE5-36EE-01C3993A86BB}"/>
              </a:ext>
            </a:extLst>
          </p:cNvPr>
          <p:cNvSpPr txBox="1">
            <a:spLocks/>
          </p:cNvSpPr>
          <p:nvPr/>
        </p:nvSpPr>
        <p:spPr>
          <a:xfrm>
            <a:off x="0" y="828631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混合启发式行程编排算法</a:t>
            </a:r>
          </a:p>
        </p:txBody>
      </p:sp>
      <p:sp>
        <p:nvSpPr>
          <p:cNvPr id="40" name="文本占位符 33">
            <a:extLst>
              <a:ext uri="{FF2B5EF4-FFF2-40B4-BE49-F238E27FC236}">
                <a16:creationId xmlns:a16="http://schemas.microsoft.com/office/drawing/2014/main" id="{8B75CFB4-C9DA-F9C9-6526-F61B75B55C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1" name="文本占位符 34">
            <a:extLst>
              <a:ext uri="{FF2B5EF4-FFF2-40B4-BE49-F238E27FC236}">
                <a16:creationId xmlns:a16="http://schemas.microsoft.com/office/drawing/2014/main" id="{B8CCD5A4-E9F7-AE61-6855-F75231619B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2" name="文本占位符 35">
            <a:extLst>
              <a:ext uri="{FF2B5EF4-FFF2-40B4-BE49-F238E27FC236}">
                <a16:creationId xmlns:a16="http://schemas.microsoft.com/office/drawing/2014/main" id="{0360A4F5-75CB-2024-2362-D097E9A711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3" name="文本占位符 36">
            <a:extLst>
              <a:ext uri="{FF2B5EF4-FFF2-40B4-BE49-F238E27FC236}">
                <a16:creationId xmlns:a16="http://schemas.microsoft.com/office/drawing/2014/main" id="{8FF2653C-7F21-DE1F-00E2-37812FD38E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4" name="文本占位符 37">
            <a:extLst>
              <a:ext uri="{FF2B5EF4-FFF2-40B4-BE49-F238E27FC236}">
                <a16:creationId xmlns:a16="http://schemas.microsoft.com/office/drawing/2014/main" id="{F93AD55B-9B97-7E8F-25AE-3A39DEBF16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5B0D857C-FC2D-A89A-D296-FFBA85E91737}"/>
              </a:ext>
            </a:extLst>
          </p:cNvPr>
          <p:cNvSpPr/>
          <p:nvPr/>
        </p:nvSpPr>
        <p:spPr>
          <a:xfrm>
            <a:off x="215157" y="2334521"/>
            <a:ext cx="6965541" cy="4208686"/>
          </a:xfrm>
          <a:prstGeom prst="roundRect">
            <a:avLst>
              <a:gd name="adj" fmla="val 3937"/>
            </a:avLst>
          </a:prstGeom>
          <a:solidFill>
            <a:srgbClr val="EAEEF4"/>
          </a:solidFill>
          <a:ln>
            <a:noFill/>
          </a:ln>
          <a:effectLst>
            <a:outerShdw blurRad="3937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0622A982-41F1-EB10-B3D2-ED473A7D0A45}"/>
              </a:ext>
            </a:extLst>
          </p:cNvPr>
          <p:cNvSpPr/>
          <p:nvPr/>
        </p:nvSpPr>
        <p:spPr>
          <a:xfrm>
            <a:off x="7293705" y="1360462"/>
            <a:ext cx="4651684" cy="3218795"/>
          </a:xfrm>
          <a:prstGeom prst="roundRect">
            <a:avLst>
              <a:gd name="adj" fmla="val 478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algn="ctr"/>
            <a:r>
              <a:rPr lang="fr-FR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P3 itinerary_planning_node</a:t>
            </a:r>
            <a:br>
              <a:rPr lang="fr-FR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</a:rPr>
              <a:t>POI 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筛选排序</a:t>
            </a: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    地理聚类    路线优化 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</a:rPr>
              <a:t>· 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餐厅匹配</a:t>
            </a:r>
            <a:b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zh-CN" altLang="en-US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8E42F687-D2CC-CBAB-7486-04840DC89322}"/>
              </a:ext>
            </a:extLst>
          </p:cNvPr>
          <p:cNvSpPr/>
          <p:nvPr/>
        </p:nvSpPr>
        <p:spPr>
          <a:xfrm>
            <a:off x="7293704" y="5497538"/>
            <a:ext cx="4651683" cy="557060"/>
          </a:xfrm>
          <a:prstGeom prst="roundRect">
            <a:avLst>
              <a:gd name="adj" fmla="val 1213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algn="ctr"/>
            <a:r>
              <a:rPr lang="fr-FR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P3.6  </a:t>
            </a:r>
            <a:r>
              <a:rPr lang="en-US" altLang="zh-CN" sz="1600" b="1" dirty="0" err="1">
                <a:solidFill>
                  <a:schemeClr val="tx1"/>
                </a:solidFill>
                <a:latin typeface="Arial" panose="020B0604020202020204" pitchFamily="34" charset="0"/>
              </a:rPr>
              <a:t>itinerary_review</a:t>
            </a:r>
            <a:br>
              <a:rPr lang="fr-FR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行程审查</a:t>
            </a:r>
            <a:b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zh-CN" altLang="en-US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1B0F0265-260A-AC89-77E4-EB51E210EE39}"/>
              </a:ext>
            </a:extLst>
          </p:cNvPr>
          <p:cNvSpPr/>
          <p:nvPr/>
        </p:nvSpPr>
        <p:spPr>
          <a:xfrm>
            <a:off x="7293705" y="4654018"/>
            <a:ext cx="4651683" cy="771901"/>
          </a:xfrm>
          <a:prstGeom prst="roundRect">
            <a:avLst>
              <a:gd name="adj" fmla="val 11134"/>
            </a:avLst>
          </a:prstGeom>
          <a:solidFill>
            <a:srgbClr val="E1F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algn="ctr"/>
            <a:r>
              <a:rPr lang="fr-FR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P3.5  poi_enrich_node</a:t>
            </a:r>
            <a:br>
              <a:rPr lang="fr-FR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fr-FR" altLang="zh-CN" sz="1400" b="1" dirty="0">
                <a:solidFill>
                  <a:schemeClr val="tx1"/>
                </a:solidFill>
                <a:latin typeface="Arial" panose="020B0604020202020204" pitchFamily="34" charset="0"/>
              </a:rPr>
              <a:t>POI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信息富化</a:t>
            </a:r>
            <a:endParaRPr lang="en-US" altLang="zh-CN" sz="14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</a:rPr>
              <a:t>LLM </a:t>
            </a: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</a:rPr>
              <a:t>逐条生成景点体验描述</a:t>
            </a:r>
            <a:endParaRPr lang="zh-CN" altLang="en-US" sz="14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782A5D4E-87E0-865D-88F0-2FD87804D675}"/>
              </a:ext>
            </a:extLst>
          </p:cNvPr>
          <p:cNvSpPr/>
          <p:nvPr/>
        </p:nvSpPr>
        <p:spPr>
          <a:xfrm>
            <a:off x="8490890" y="2507579"/>
            <a:ext cx="2331418" cy="4940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Step 1 </a:t>
            </a:r>
            <a:r>
              <a:rPr lang="fr-FR" altLang="zh-CN" sz="1400" b="1" dirty="0">
                <a:solidFill>
                  <a:schemeClr val="tx1"/>
                </a:solidFill>
                <a:latin typeface="+mn-ea"/>
              </a:rPr>
              <a:t>poi_select_node</a:t>
            </a:r>
          </a:p>
          <a:p>
            <a:pPr algn="ctr"/>
            <a:r>
              <a:rPr lang="en-US" altLang="zh-CN" sz="1400" b="1" dirty="0">
                <a:solidFill>
                  <a:schemeClr val="tx1"/>
                </a:solidFill>
              </a:rPr>
              <a:t>POI</a:t>
            </a:r>
            <a:r>
              <a:rPr lang="zh-CN" altLang="en-US" sz="1400" b="1" dirty="0">
                <a:solidFill>
                  <a:schemeClr val="tx1"/>
                </a:solidFill>
              </a:rPr>
              <a:t>筛选与排序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122D5CE9-FAFD-5327-F5E6-922BCA51F859}"/>
              </a:ext>
            </a:extLst>
          </p:cNvPr>
          <p:cNvSpPr/>
          <p:nvPr/>
        </p:nvSpPr>
        <p:spPr>
          <a:xfrm>
            <a:off x="8172970" y="3188940"/>
            <a:ext cx="2967258" cy="5406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Step 2 </a:t>
            </a:r>
            <a:r>
              <a:rPr lang="fr-FR" altLang="zh-CN" sz="1400" b="1" dirty="0">
                <a:solidFill>
                  <a:schemeClr val="tx1"/>
                </a:solidFill>
                <a:latin typeface="+mn-ea"/>
              </a:rPr>
              <a:t>daily_cluster_node</a:t>
            </a: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景点地理聚类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41E880C-C66F-6F6F-C35C-E13CDB05E337}"/>
              </a:ext>
            </a:extLst>
          </p:cNvPr>
          <p:cNvSpPr/>
          <p:nvPr/>
        </p:nvSpPr>
        <p:spPr>
          <a:xfrm>
            <a:off x="8172970" y="3888751"/>
            <a:ext cx="2967258" cy="54069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+mn-ea"/>
              </a:rPr>
              <a:t>Step 3 </a:t>
            </a:r>
            <a:r>
              <a:rPr lang="fr-FR" altLang="zh-CN" sz="1400" b="1" dirty="0">
                <a:solidFill>
                  <a:schemeClr val="tx1"/>
                </a:solidFill>
                <a:latin typeface="+mn-ea"/>
              </a:rPr>
              <a:t>route_optimize_node</a:t>
            </a: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</a:rPr>
              <a:t>每日路线优化</a:t>
            </a:r>
            <a:endParaRPr lang="zh-CN" altLang="en-US" sz="14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A0D67FF7-F68E-97D6-21C7-1BA85368E0BB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9656599" y="2265844"/>
            <a:ext cx="0" cy="241735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EFA704B5-7EFD-1104-D345-DE997A290719}"/>
              </a:ext>
            </a:extLst>
          </p:cNvPr>
          <p:cNvCxnSpPr>
            <a:cxnSpLocks/>
            <a:stCxn id="57" idx="2"/>
            <a:endCxn id="58" idx="0"/>
          </p:cNvCxnSpPr>
          <p:nvPr/>
        </p:nvCxnSpPr>
        <p:spPr>
          <a:xfrm>
            <a:off x="9656599" y="3729635"/>
            <a:ext cx="0" cy="159116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0602C741-BD49-4353-5096-62B28531F34D}"/>
              </a:ext>
            </a:extLst>
          </p:cNvPr>
          <p:cNvSpPr txBox="1"/>
          <p:nvPr/>
        </p:nvSpPr>
        <p:spPr>
          <a:xfrm>
            <a:off x="7779848" y="2181352"/>
            <a:ext cx="4043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 err="1"/>
              <a:t>candidate_pois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travel_style</a:t>
            </a:r>
            <a:r>
              <a:rPr lang="en-US" altLang="zh-CN" sz="1400" dirty="0"/>
              <a:t>, </a:t>
            </a:r>
            <a:r>
              <a:rPr lang="en-US" altLang="zh-CN" sz="1400" dirty="0" err="1"/>
              <a:t>city_in_kb</a:t>
            </a:r>
            <a:endParaRPr lang="zh-CN" altLang="en-US" sz="140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EE591DA-4926-61F8-4F58-5FA930AD663E}"/>
              </a:ext>
            </a:extLst>
          </p:cNvPr>
          <p:cNvSpPr/>
          <p:nvPr/>
        </p:nvSpPr>
        <p:spPr>
          <a:xfrm>
            <a:off x="7525017" y="2207124"/>
            <a:ext cx="4263163" cy="2292305"/>
          </a:xfrm>
          <a:prstGeom prst="rect">
            <a:avLst/>
          </a:pr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FE6104A1-3EBD-66BB-5B29-FB6BA766E2A1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>
            <a:off x="9656599" y="3001621"/>
            <a:ext cx="0" cy="187319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30F99C19-DF0E-F827-AE14-1F51F8FEC075}"/>
              </a:ext>
            </a:extLst>
          </p:cNvPr>
          <p:cNvSpPr txBox="1"/>
          <p:nvPr/>
        </p:nvSpPr>
        <p:spPr>
          <a:xfrm>
            <a:off x="246611" y="1419589"/>
            <a:ext cx="66181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b="1" dirty="0">
                <a:solidFill>
                  <a:schemeClr val="tx2"/>
                </a:solidFill>
              </a:rPr>
              <a:t>P3 </a:t>
            </a:r>
            <a:r>
              <a:rPr lang="zh-CN" altLang="zh-CN" sz="1600" b="1" dirty="0">
                <a:solidFill>
                  <a:schemeClr val="tx2"/>
                </a:solidFill>
              </a:rPr>
              <a:t>行程规划</a:t>
            </a:r>
            <a:r>
              <a:rPr lang="zh-CN" altLang="en-US" sz="1600" b="1" dirty="0">
                <a:solidFill>
                  <a:schemeClr val="tx2"/>
                </a:solidFill>
              </a:rPr>
              <a:t>节点</a:t>
            </a:r>
            <a:r>
              <a:rPr lang="zh-CN" altLang="en-US" sz="1600" dirty="0">
                <a:solidFill>
                  <a:schemeClr val="tx2"/>
                </a:solidFill>
              </a:rPr>
              <a:t>是</a:t>
            </a:r>
            <a:r>
              <a:rPr lang="en-US" altLang="zh-CN" sz="1600" dirty="0" err="1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</a:t>
            </a:r>
            <a:r>
              <a:rPr lang="zh-CN" altLang="zh-CN" sz="16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</a:rPr>
              <a:t>簇路由（Cluster-First, Route-Second）串行子流水线</a:t>
            </a:r>
            <a:r>
              <a:rPr lang="en-US" altLang="zh-CN" sz="16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altLang="zh-CN" sz="1600" dirty="0" err="1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三个子节点共享同一份中间</a:t>
            </a:r>
            <a:r>
              <a:rPr lang="en-US" altLang="zh-CN" sz="1600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State，上游节点的输出直接作为下游节点的输入</a:t>
            </a:r>
            <a:r>
              <a:rPr lang="en-US" altLang="zh-CN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6198252-EEDF-BFA3-761D-7CB4C400C5AF}"/>
              </a:ext>
            </a:extLst>
          </p:cNvPr>
          <p:cNvSpPr txBox="1"/>
          <p:nvPr/>
        </p:nvSpPr>
        <p:spPr>
          <a:xfrm>
            <a:off x="231431" y="3014686"/>
            <a:ext cx="6873097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zh-CN" b="1" dirty="0"/>
              <a:t>POI 筛选与排序（poi_select_node）</a:t>
            </a:r>
            <a:r>
              <a:rPr lang="zh-CN" altLang="zh-CN" dirty="0"/>
              <a:t>：</a:t>
            </a:r>
            <a:r>
              <a:rPr lang="zh-CN" altLang="zh-CN" sz="1600" dirty="0"/>
              <a:t>知识库内城市优先复用结构化知识库的</a:t>
            </a:r>
            <a:r>
              <a:rPr lang="zh-CN" altLang="en-US" sz="1600" dirty="0"/>
              <a:t>必去景点</a:t>
            </a:r>
            <a:r>
              <a:rPr lang="zh-CN" altLang="zh-CN" sz="1600" dirty="0"/>
              <a:t>清单；知识库外城市由 LLM 生成搜索关键词，经高德检索候选 POI，并按旅行风格（深度 / 亲子 / 情侣 / 打卡等）动态调整排序权重。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endParaRPr lang="en-US" altLang="zh-CN" sz="1600" dirty="0">
              <a:solidFill>
                <a:srgbClr val="141413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zh-CN" b="1" dirty="0"/>
              <a:t>景点分日聚类（daily_cluster_node）</a:t>
            </a:r>
            <a:r>
              <a:rPr lang="zh-CN" altLang="zh-CN" dirty="0"/>
              <a:t>：</a:t>
            </a:r>
            <a:r>
              <a:rPr lang="zh-CN" altLang="zh-CN" sz="1600" dirty="0"/>
              <a:t>以高德真实行程时间矩阵为距离度量，采用带容量约束的均衡 K-Means 将候选 POI 划分为 K 个日簇，通过双边规模参数约束各日景点数均衡，并使各簇地理集中。</a:t>
            </a:r>
            <a:endParaRPr lang="en-US" altLang="zh-CN" sz="1600" dirty="0"/>
          </a:p>
          <a:p>
            <a:pPr marL="342900" indent="-342900">
              <a:buFont typeface="+mj-lt"/>
              <a:buAutoNum type="arabicPeriod"/>
            </a:pPr>
            <a:endParaRPr lang="en-US" altLang="zh-CN" b="1" dirty="0">
              <a:solidFill>
                <a:srgbClr val="141413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zh-CN" b="1" dirty="0"/>
              <a:t>日内路线优化（route_optimize_node）</a:t>
            </a:r>
            <a:r>
              <a:rPr lang="zh-CN" altLang="zh-CN" dirty="0"/>
              <a:t>：</a:t>
            </a:r>
            <a:r>
              <a:rPr lang="zh-CN" altLang="zh-CN" sz="1600" dirty="0"/>
              <a:t>先将每日景点按上午 / 午后弹性 / 夜间三时段分桶，桶内以贪心最近邻构造初始序列并经 2-opt 局部搜索优化访问顺序，从结构上保证时段顺序合法；分日次优性再由跨日 2-opt 事后弥补。（各 POI 的游览时长与到访时段由前置抽取步骤确定，作为输入。）</a:t>
            </a:r>
            <a:endParaRPr lang="en-US" altLang="zh-CN" dirty="0">
              <a:solidFill>
                <a:srgbClr val="141413"/>
              </a:solidFill>
            </a:endParaRPr>
          </a:p>
        </p:txBody>
      </p:sp>
      <p:sp>
        <p:nvSpPr>
          <p:cNvPr id="66" name="圆角矩形 1">
            <a:extLst>
              <a:ext uri="{FF2B5EF4-FFF2-40B4-BE49-F238E27FC236}">
                <a16:creationId xmlns:a16="http://schemas.microsoft.com/office/drawing/2014/main" id="{43B8DA8B-927C-18B4-9543-B9D7C919CCF1}"/>
              </a:ext>
            </a:extLst>
          </p:cNvPr>
          <p:cNvSpPr/>
          <p:nvPr/>
        </p:nvSpPr>
        <p:spPr>
          <a:xfrm>
            <a:off x="409122" y="2443649"/>
            <a:ext cx="2522139" cy="389255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子节点功能与实现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DB6F847-D8FD-D6CD-5AB9-A7A46074705E}"/>
              </a:ext>
            </a:extLst>
          </p:cNvPr>
          <p:cNvSpPr/>
          <p:nvPr/>
        </p:nvSpPr>
        <p:spPr>
          <a:xfrm>
            <a:off x="7293703" y="6126217"/>
            <a:ext cx="4651683" cy="593200"/>
          </a:xfrm>
          <a:prstGeom prst="roundRect">
            <a:avLst>
              <a:gd name="adj" fmla="val 12138"/>
            </a:avLst>
          </a:prstGeom>
          <a:solidFill>
            <a:srgbClr val="E1F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t"/>
          <a:lstStyle/>
          <a:p>
            <a:pPr algn="ctr"/>
            <a:r>
              <a:rPr lang="fr-FR" altLang="zh-CN" sz="1600" b="1" dirty="0">
                <a:solidFill>
                  <a:schemeClr val="tx1"/>
                </a:solidFill>
                <a:latin typeface="Arial" panose="020B0604020202020204" pitchFamily="34" charset="0"/>
              </a:rPr>
              <a:t>P4  accommodation_node</a:t>
            </a:r>
            <a:br>
              <a:rPr lang="fr-FR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餐饮住宿与预算自检</a:t>
            </a:r>
            <a:br>
              <a:rPr lang="zh-CN" altLang="en-US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zh-CN" altLang="en-US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0" name="灯片编号占位符 181">
            <a:extLst>
              <a:ext uri="{FF2B5EF4-FFF2-40B4-BE49-F238E27FC236}">
                <a16:creationId xmlns:a16="http://schemas.microsoft.com/office/drawing/2014/main" id="{CCB60D45-269E-0461-F11E-678594F4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13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4454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8FD68-D3E8-E28B-CE5A-CE6DF44B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CF7A3829-1B8B-F3DB-1E3A-2A70DE15AF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32" name="文本占位符 149">
            <a:extLst>
              <a:ext uri="{FF2B5EF4-FFF2-40B4-BE49-F238E27FC236}">
                <a16:creationId xmlns:a16="http://schemas.microsoft.com/office/drawing/2014/main" id="{C9FB3B0B-28D4-7B2B-97BA-42B5FC56605D}"/>
              </a:ext>
            </a:extLst>
          </p:cNvPr>
          <p:cNvSpPr txBox="1">
            <a:spLocks/>
          </p:cNvSpPr>
          <p:nvPr/>
        </p:nvSpPr>
        <p:spPr>
          <a:xfrm>
            <a:off x="0" y="828631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混合启发式行程编排算法</a:t>
            </a:r>
          </a:p>
        </p:txBody>
      </p:sp>
      <p:sp>
        <p:nvSpPr>
          <p:cNvPr id="40" name="文本占位符 33">
            <a:extLst>
              <a:ext uri="{FF2B5EF4-FFF2-40B4-BE49-F238E27FC236}">
                <a16:creationId xmlns:a16="http://schemas.microsoft.com/office/drawing/2014/main" id="{178A6511-4D2D-433B-ABDD-03EB9EEEA5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1" name="文本占位符 34">
            <a:extLst>
              <a:ext uri="{FF2B5EF4-FFF2-40B4-BE49-F238E27FC236}">
                <a16:creationId xmlns:a16="http://schemas.microsoft.com/office/drawing/2014/main" id="{289F9876-C87D-7540-C8B4-1B4827AC6B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2" name="文本占位符 35">
            <a:extLst>
              <a:ext uri="{FF2B5EF4-FFF2-40B4-BE49-F238E27FC236}">
                <a16:creationId xmlns:a16="http://schemas.microsoft.com/office/drawing/2014/main" id="{705D6185-357C-52D8-48B8-BE6DF8279C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3" name="文本占位符 36">
            <a:extLst>
              <a:ext uri="{FF2B5EF4-FFF2-40B4-BE49-F238E27FC236}">
                <a16:creationId xmlns:a16="http://schemas.microsoft.com/office/drawing/2014/main" id="{8B33AB3E-6EE4-BF21-28F2-48C2341540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4" name="文本占位符 37">
            <a:extLst>
              <a:ext uri="{FF2B5EF4-FFF2-40B4-BE49-F238E27FC236}">
                <a16:creationId xmlns:a16="http://schemas.microsoft.com/office/drawing/2014/main" id="{22B7D3D1-9434-8EE7-5BB1-5299E54963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sp>
        <p:nvSpPr>
          <p:cNvPr id="2" name="box200">
            <a:extLst>
              <a:ext uri="{FF2B5EF4-FFF2-40B4-BE49-F238E27FC236}">
                <a16:creationId xmlns:a16="http://schemas.microsoft.com/office/drawing/2014/main" id="{47B57AA3-E3CE-A9CF-19CA-5EB8B6F62D4C}"/>
              </a:ext>
            </a:extLst>
          </p:cNvPr>
          <p:cNvSpPr/>
          <p:nvPr/>
        </p:nvSpPr>
        <p:spPr>
          <a:xfrm>
            <a:off x="274320" y="1371599"/>
            <a:ext cx="11640312" cy="1596597"/>
          </a:xfrm>
          <a:prstGeom prst="roundRect">
            <a:avLst>
              <a:gd name="adj" fmla="val 1458"/>
            </a:avLst>
          </a:prstGeom>
          <a:solidFill>
            <a:schemeClr val="bg1"/>
          </a:solidFill>
          <a:ln>
            <a:solidFill>
              <a:schemeClr val="accent1"/>
            </a:solidFill>
            <a:prstDash val="sysDash"/>
          </a:ln>
          <a:effectLst>
            <a:outerShdw blurRad="3937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3" name="chip201">
            <a:extLst>
              <a:ext uri="{FF2B5EF4-FFF2-40B4-BE49-F238E27FC236}">
                <a16:creationId xmlns:a16="http://schemas.microsoft.com/office/drawing/2014/main" id="{1A352E9C-BCDB-A86B-FB4E-7079C924B0C6}"/>
              </a:ext>
            </a:extLst>
          </p:cNvPr>
          <p:cNvSpPr/>
          <p:nvPr/>
        </p:nvSpPr>
        <p:spPr>
          <a:xfrm>
            <a:off x="508683" y="1276557"/>
            <a:ext cx="2971800" cy="384048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问题建模与求解路径</a:t>
            </a:r>
          </a:p>
        </p:txBody>
      </p:sp>
      <p:sp>
        <p:nvSpPr>
          <p:cNvPr id="5" name="node203">
            <a:extLst>
              <a:ext uri="{FF2B5EF4-FFF2-40B4-BE49-F238E27FC236}">
                <a16:creationId xmlns:a16="http://schemas.microsoft.com/office/drawing/2014/main" id="{D40B75DA-0EB7-DAC9-DBD2-5B539843D602}"/>
              </a:ext>
            </a:extLst>
          </p:cNvPr>
          <p:cNvSpPr/>
          <p:nvPr/>
        </p:nvSpPr>
        <p:spPr>
          <a:xfrm>
            <a:off x="419069" y="3108960"/>
            <a:ext cx="2606040" cy="640080"/>
          </a:xfrm>
          <a:prstGeom prst="roundRect">
            <a:avLst>
              <a:gd name="adj" fmla="val 8000"/>
            </a:avLst>
          </a:prstGeom>
          <a:solidFill>
            <a:srgbClr val="E1F7FF"/>
          </a:solidFill>
          <a:ln w="12700">
            <a:solidFill>
              <a:schemeClr val="tx1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景点时长抽取</a:t>
            </a: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三级回退估时</a:t>
            </a:r>
          </a:p>
        </p:txBody>
      </p:sp>
      <p:sp>
        <p:nvSpPr>
          <p:cNvPr id="6" name="node204">
            <a:extLst>
              <a:ext uri="{FF2B5EF4-FFF2-40B4-BE49-F238E27FC236}">
                <a16:creationId xmlns:a16="http://schemas.microsoft.com/office/drawing/2014/main" id="{A65783AC-CEE6-E3AF-C67C-22E3A3EE170D}"/>
              </a:ext>
            </a:extLst>
          </p:cNvPr>
          <p:cNvSpPr/>
          <p:nvPr/>
        </p:nvSpPr>
        <p:spPr>
          <a:xfrm>
            <a:off x="3299429" y="3108960"/>
            <a:ext cx="2606040" cy="640080"/>
          </a:xfrm>
          <a:prstGeom prst="roundRect">
            <a:avLst>
              <a:gd name="adj" fmla="val 8000"/>
            </a:avLst>
          </a:prstGeom>
          <a:solidFill>
            <a:srgbClr val="E1F7FF"/>
          </a:solidFill>
          <a:ln w="12700">
            <a:solidFill>
              <a:schemeClr val="tx1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行程时间矩阵 M</a:t>
            </a: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高德 MCP 批量</a:t>
            </a:r>
          </a:p>
        </p:txBody>
      </p:sp>
      <p:sp>
        <p:nvSpPr>
          <p:cNvPr id="7" name="node205">
            <a:extLst>
              <a:ext uri="{FF2B5EF4-FFF2-40B4-BE49-F238E27FC236}">
                <a16:creationId xmlns:a16="http://schemas.microsoft.com/office/drawing/2014/main" id="{C1317276-1700-7234-428B-57C4481BDC5C}"/>
              </a:ext>
            </a:extLst>
          </p:cNvPr>
          <p:cNvSpPr/>
          <p:nvPr/>
        </p:nvSpPr>
        <p:spPr>
          <a:xfrm>
            <a:off x="6179789" y="3108960"/>
            <a:ext cx="2606040" cy="640080"/>
          </a:xfrm>
          <a:prstGeom prst="roundRect">
            <a:avLst>
              <a:gd name="adj" fmla="val 8000"/>
            </a:avLst>
          </a:prstGeom>
          <a:solidFill>
            <a:srgbClr val="E1F7FF"/>
          </a:solidFill>
          <a:ln w="12700">
            <a:solidFill>
              <a:schemeClr val="tx1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均衡 K-Means</a:t>
            </a: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容量约束分日聚类</a:t>
            </a:r>
          </a:p>
        </p:txBody>
      </p:sp>
      <p:sp>
        <p:nvSpPr>
          <p:cNvPr id="8" name="node206">
            <a:extLst>
              <a:ext uri="{FF2B5EF4-FFF2-40B4-BE49-F238E27FC236}">
                <a16:creationId xmlns:a16="http://schemas.microsoft.com/office/drawing/2014/main" id="{3C77FC4A-CEBA-B16C-57A6-EA5801958536}"/>
              </a:ext>
            </a:extLst>
          </p:cNvPr>
          <p:cNvSpPr/>
          <p:nvPr/>
        </p:nvSpPr>
        <p:spPr>
          <a:xfrm>
            <a:off x="9060149" y="3108960"/>
            <a:ext cx="2606040" cy="640080"/>
          </a:xfrm>
          <a:prstGeom prst="roundRect">
            <a:avLst>
              <a:gd name="adj" fmla="val 8000"/>
            </a:avLst>
          </a:prstGeom>
          <a:solidFill>
            <a:srgbClr val="E1F7FF"/>
          </a:solidFill>
          <a:ln w="12700">
            <a:solidFill>
              <a:schemeClr val="tx1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时段分桶</a:t>
            </a: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+mn-ea"/>
              </a:rPr>
              <a:t>桶内 TSP 排序</a:t>
            </a:r>
          </a:p>
        </p:txBody>
      </p:sp>
      <p:cxnSp>
        <p:nvCxnSpPr>
          <p:cNvPr id="9" name="arr207">
            <a:extLst>
              <a:ext uri="{FF2B5EF4-FFF2-40B4-BE49-F238E27FC236}">
                <a16:creationId xmlns:a16="http://schemas.microsoft.com/office/drawing/2014/main" id="{5606BA9B-ABE1-14F8-DB2C-44BB57E0DCDD}"/>
              </a:ext>
            </a:extLst>
          </p:cNvPr>
          <p:cNvCxnSpPr/>
          <p:nvPr/>
        </p:nvCxnSpPr>
        <p:spPr>
          <a:xfrm>
            <a:off x="3043397" y="3429000"/>
            <a:ext cx="2377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arr208">
            <a:extLst>
              <a:ext uri="{FF2B5EF4-FFF2-40B4-BE49-F238E27FC236}">
                <a16:creationId xmlns:a16="http://schemas.microsoft.com/office/drawing/2014/main" id="{86ACDAE6-1116-E9B7-7113-3804FAC67EED}"/>
              </a:ext>
            </a:extLst>
          </p:cNvPr>
          <p:cNvCxnSpPr/>
          <p:nvPr/>
        </p:nvCxnSpPr>
        <p:spPr>
          <a:xfrm>
            <a:off x="5923757" y="3429000"/>
            <a:ext cx="2377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arr209">
            <a:extLst>
              <a:ext uri="{FF2B5EF4-FFF2-40B4-BE49-F238E27FC236}">
                <a16:creationId xmlns:a16="http://schemas.microsoft.com/office/drawing/2014/main" id="{E329E279-9DE7-B247-05C1-BE8A16CAE033}"/>
              </a:ext>
            </a:extLst>
          </p:cNvPr>
          <p:cNvCxnSpPr/>
          <p:nvPr/>
        </p:nvCxnSpPr>
        <p:spPr>
          <a:xfrm>
            <a:off x="8804117" y="3429000"/>
            <a:ext cx="2377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ox210">
            <a:extLst>
              <a:ext uri="{FF2B5EF4-FFF2-40B4-BE49-F238E27FC236}">
                <a16:creationId xmlns:a16="http://schemas.microsoft.com/office/drawing/2014/main" id="{26ABB975-E4B5-336F-A50D-E5D18A33B09B}"/>
              </a:ext>
            </a:extLst>
          </p:cNvPr>
          <p:cNvSpPr/>
          <p:nvPr/>
        </p:nvSpPr>
        <p:spPr>
          <a:xfrm>
            <a:off x="274320" y="4261104"/>
            <a:ext cx="5687568" cy="2322575"/>
          </a:xfrm>
          <a:prstGeom prst="roundRect">
            <a:avLst>
              <a:gd name="adj" fmla="val 1458"/>
            </a:avLst>
          </a:prstGeom>
          <a:solidFill>
            <a:schemeClr val="bg1"/>
          </a:solidFill>
          <a:ln>
            <a:solidFill>
              <a:schemeClr val="accent1"/>
            </a:solidFill>
            <a:prstDash val="sysDash"/>
          </a:ln>
          <a:effectLst>
            <a:outerShdw blurRad="3937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3" name="chip211">
            <a:extLst>
              <a:ext uri="{FF2B5EF4-FFF2-40B4-BE49-F238E27FC236}">
                <a16:creationId xmlns:a16="http://schemas.microsoft.com/office/drawing/2014/main" id="{353FADAD-0736-A623-C0A7-BC4449652939}"/>
              </a:ext>
            </a:extLst>
          </p:cNvPr>
          <p:cNvSpPr/>
          <p:nvPr/>
        </p:nvSpPr>
        <p:spPr>
          <a:xfrm>
            <a:off x="1092708" y="4008992"/>
            <a:ext cx="3794760" cy="384048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均衡 K-Means 分日聚类</a:t>
            </a:r>
          </a:p>
        </p:txBody>
      </p:sp>
      <p:sp>
        <p:nvSpPr>
          <p:cNvPr id="15" name="box213">
            <a:extLst>
              <a:ext uri="{FF2B5EF4-FFF2-40B4-BE49-F238E27FC236}">
                <a16:creationId xmlns:a16="http://schemas.microsoft.com/office/drawing/2014/main" id="{4B21CB91-A65B-4FA4-F8D8-900346077D23}"/>
              </a:ext>
            </a:extLst>
          </p:cNvPr>
          <p:cNvSpPr/>
          <p:nvPr/>
        </p:nvSpPr>
        <p:spPr>
          <a:xfrm>
            <a:off x="6217920" y="4261104"/>
            <a:ext cx="5696712" cy="2322576"/>
          </a:xfrm>
          <a:prstGeom prst="roundRect">
            <a:avLst>
              <a:gd name="adj" fmla="val 1458"/>
            </a:avLst>
          </a:prstGeom>
          <a:solidFill>
            <a:schemeClr val="bg1"/>
          </a:solidFill>
          <a:ln>
            <a:solidFill>
              <a:schemeClr val="accent1"/>
            </a:solidFill>
            <a:prstDash val="sysDash"/>
          </a:ln>
          <a:effectLst>
            <a:outerShdw blurRad="393700" sx="102000" sy="102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16" name="chip214">
            <a:extLst>
              <a:ext uri="{FF2B5EF4-FFF2-40B4-BE49-F238E27FC236}">
                <a16:creationId xmlns:a16="http://schemas.microsoft.com/office/drawing/2014/main" id="{F66B20F2-78FE-D17C-D2CF-94BB96B9DB2B}"/>
              </a:ext>
            </a:extLst>
          </p:cNvPr>
          <p:cNvSpPr/>
          <p:nvPr/>
        </p:nvSpPr>
        <p:spPr>
          <a:xfrm>
            <a:off x="7031736" y="4008992"/>
            <a:ext cx="4069080" cy="384048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时段分桶 + 桶内 TSP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D4F7B7-31C6-BBEA-CBB2-C36CF50B1072}"/>
              </a:ext>
            </a:extLst>
          </p:cNvPr>
          <p:cNvSpPr txBox="1"/>
          <p:nvPr/>
        </p:nvSpPr>
        <p:spPr>
          <a:xfrm>
            <a:off x="419069" y="4463043"/>
            <a:ext cx="5096317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zh-CN" altLang="en-US" sz="1400" dirty="0">
                <a:latin typeface="+mn-ea"/>
              </a:rPr>
              <a:t>簇数严格等于出游天数 </a:t>
            </a:r>
            <a:r>
              <a:rPr lang="zh-CN" altLang="en-US" sz="1400" b="1" dirty="0">
                <a:latin typeface="+mn-ea"/>
              </a:rPr>
              <a:t>K</a:t>
            </a:r>
            <a:r>
              <a:rPr lang="zh-CN" altLang="en-US" sz="1400" dirty="0">
                <a:latin typeface="+mn-ea"/>
              </a:rPr>
              <a:t>；引入 </a:t>
            </a:r>
            <a:r>
              <a:rPr lang="zh-CN" altLang="en-US" sz="1400" b="1" dirty="0">
                <a:latin typeface="+mn-ea"/>
              </a:rPr>
              <a:t>size_min / size_max</a:t>
            </a:r>
            <a:r>
              <a:rPr lang="zh-CN" altLang="en-US" sz="1400" dirty="0">
                <a:latin typeface="+mn-ea"/>
              </a:rPr>
              <a:t> 双边约束，以</a:t>
            </a:r>
            <a:r>
              <a:rPr lang="zh-CN" altLang="en-US" sz="1400" b="1" dirty="0">
                <a:latin typeface="+mn-ea"/>
              </a:rPr>
              <a:t>最小费用流</a:t>
            </a:r>
            <a:r>
              <a:rPr lang="zh-CN" altLang="en-US" sz="1400" dirty="0">
                <a:latin typeface="+mn-ea"/>
              </a:rPr>
              <a:t>求解带容量分配，杜绝空簇与超大簇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zh-CN" altLang="en-US" sz="1400" dirty="0">
                <a:latin typeface="+mn-ea"/>
              </a:rPr>
              <a:t>流程：经纬度均衡聚类，split / joint 提示修正 ，</a:t>
            </a:r>
            <a:r>
              <a:rPr lang="zh-CN" altLang="en-US" sz="1400" b="1" dirty="0">
                <a:latin typeface="+mn-ea"/>
              </a:rPr>
              <a:t>容量裁剪，</a:t>
            </a:r>
            <a:r>
              <a:rPr lang="zh-CN" altLang="en-US" sz="1400" dirty="0">
                <a:latin typeface="+mn-ea"/>
              </a:rPr>
              <a:t>真实时间预算修正 ，缺额回填，</a:t>
            </a:r>
            <a:r>
              <a:rPr lang="zh-CN" altLang="en-US" sz="1400" b="1" dirty="0">
                <a:latin typeface="+mn-ea"/>
              </a:rPr>
              <a:t>跨日 2-opt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zh-CN" altLang="en-US" sz="1400" dirty="0">
                <a:latin typeface="+mn-ea"/>
              </a:rPr>
              <a:t>相较标准 K-Means 与 DBSCAN，更契合簇数已知且规模均衡的场景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zh-CN" altLang="en-US" sz="1400" dirty="0">
                <a:latin typeface="+mn-ea"/>
              </a:rPr>
              <a:t>复杂度 </a:t>
            </a:r>
            <a:r>
              <a:rPr lang="zh-CN" altLang="en-US" sz="1400" b="1" dirty="0">
                <a:latin typeface="+mn-ea"/>
              </a:rPr>
              <a:t>O(N²)</a:t>
            </a:r>
            <a:r>
              <a:rPr lang="zh-CN" altLang="en-US" sz="1400" dirty="0">
                <a:latin typeface="+mn-ea"/>
              </a:rPr>
              <a:t>，N 仅数十量级、求解在毫秒级；以 </a:t>
            </a:r>
            <a:r>
              <a:rPr lang="zh-CN" altLang="en-US" sz="1400" b="1" dirty="0">
                <a:latin typeface="+mn-ea"/>
              </a:rPr>
              <a:t>10 组初始质心</a:t>
            </a:r>
            <a:r>
              <a:rPr lang="zh-CN" altLang="en-US" sz="1400" dirty="0">
                <a:latin typeface="+mn-ea"/>
              </a:rPr>
              <a:t>择优并固定随机种子，兼顾解质量与可复现性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85B2822-42AE-5A1F-8E58-125C9E95ABE5}"/>
              </a:ext>
            </a:extLst>
          </p:cNvPr>
          <p:cNvSpPr txBox="1"/>
          <p:nvPr/>
        </p:nvSpPr>
        <p:spPr>
          <a:xfrm>
            <a:off x="6400782" y="4463043"/>
            <a:ext cx="52121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zh-CN" altLang="en-US" sz="1400" dirty="0">
                <a:latin typeface="+mn-ea"/>
              </a:rPr>
              <a:t>按时段权重 </a:t>
            </a:r>
            <a:r>
              <a:rPr lang="zh-CN" altLang="en-US" sz="1400" b="1" dirty="0">
                <a:latin typeface="+mn-ea"/>
              </a:rPr>
              <a:t>π</a:t>
            </a:r>
            <a:r>
              <a:rPr lang="zh-CN" altLang="en-US" sz="1400" dirty="0">
                <a:latin typeface="+mn-ea"/>
              </a:rPr>
              <a:t> 将单日景点划入</a:t>
            </a:r>
            <a:r>
              <a:rPr lang="zh-CN" altLang="en-US" sz="1400" b="1" dirty="0">
                <a:latin typeface="+mn-ea"/>
              </a:rPr>
              <a:t>上午 / 弹性 / 夜间</a:t>
            </a:r>
            <a:r>
              <a:rPr lang="zh-CN" altLang="en-US" sz="1400" dirty="0">
                <a:latin typeface="+mn-ea"/>
              </a:rPr>
              <a:t>三桶，桶间顺序</a:t>
            </a:r>
            <a:r>
              <a:rPr lang="zh-CN" altLang="en-US" sz="1400" b="1" dirty="0">
                <a:latin typeface="+mn-ea"/>
              </a:rPr>
              <a:t>结构性锁定</a:t>
            </a:r>
            <a:r>
              <a:rPr lang="zh-CN" altLang="en-US" sz="1400" dirty="0">
                <a:latin typeface="+mn-ea"/>
              </a:rPr>
              <a:t>，形式上保证时段合法、规避审查回环</a:t>
            </a:r>
          </a:p>
          <a:p>
            <a:pPr marL="228600" indent="-228600">
              <a:buFont typeface="Arial"/>
              <a:buChar char="•"/>
            </a:pPr>
            <a:r>
              <a:rPr lang="zh-CN" altLang="en-US" sz="1400" dirty="0">
                <a:latin typeface="+mn-ea"/>
              </a:rPr>
              <a:t>桶内独立求解 TSP：桶规模 </a:t>
            </a:r>
            <a:r>
              <a:rPr lang="zh-CN" altLang="en-US" sz="1400" b="1" dirty="0">
                <a:latin typeface="+mn-ea"/>
              </a:rPr>
              <a:t>b ≤ 4 精确枚举</a:t>
            </a:r>
            <a:r>
              <a:rPr lang="zh-CN" altLang="en-US" sz="1400" dirty="0">
                <a:latin typeface="+mn-ea"/>
              </a:rPr>
              <a:t>（≤ 4!），</a:t>
            </a:r>
            <a:r>
              <a:rPr lang="zh-CN" altLang="en-US" sz="1400" b="1" dirty="0">
                <a:latin typeface="+mn-ea"/>
              </a:rPr>
              <a:t>b &gt; 4 最近邻 + 2-opt</a:t>
            </a:r>
            <a:r>
              <a:rPr lang="zh-CN" altLang="en-US" sz="1400" dirty="0">
                <a:latin typeface="+mn-ea"/>
              </a:rPr>
              <a:t> 局部改进</a:t>
            </a:r>
          </a:p>
          <a:p>
            <a:pPr marL="228600" indent="-228600">
              <a:buFont typeface="Arial"/>
              <a:buChar char="•"/>
            </a:pPr>
            <a:r>
              <a:rPr lang="zh-CN" altLang="en-US" sz="1400" dirty="0">
                <a:latin typeface="+mn-ea"/>
              </a:rPr>
              <a:t>分桶将复杂度由 </a:t>
            </a:r>
            <a:r>
              <a:rPr lang="zh-CN" altLang="en-US" sz="1400" b="1" dirty="0">
                <a:latin typeface="+mn-ea"/>
              </a:rPr>
              <a:t>O(n!)</a:t>
            </a:r>
            <a:r>
              <a:rPr lang="zh-CN" altLang="en-US" sz="1400" dirty="0">
                <a:latin typeface="+mn-ea"/>
              </a:rPr>
              <a:t> 降至 </a:t>
            </a:r>
            <a:r>
              <a:rPr lang="zh-CN" altLang="en-US" sz="1400" b="1" dirty="0">
                <a:latin typeface="+mn-ea"/>
              </a:rPr>
              <a:t>O(m!)</a:t>
            </a:r>
            <a:r>
              <a:rPr lang="zh-CN" altLang="en-US" sz="1400" dirty="0">
                <a:latin typeface="+mn-ea"/>
              </a:rPr>
              <a:t>（m ≪ n）；时段顺序作为</a:t>
            </a:r>
            <a:r>
              <a:rPr lang="zh-CN" altLang="en-US" sz="1400" b="1" dirty="0">
                <a:latin typeface="+mn-ea"/>
              </a:rPr>
              <a:t>硬约束</a:t>
            </a:r>
            <a:r>
              <a:rPr lang="zh-CN" altLang="en-US" sz="1400" dirty="0">
                <a:latin typeface="+mn-ea"/>
              </a:rPr>
              <a:t>前置于路径优化</a:t>
            </a:r>
          </a:p>
          <a:p>
            <a:pPr marL="228600" indent="-228600">
              <a:buFont typeface="Arial"/>
              <a:buChar char="•"/>
            </a:pPr>
            <a:r>
              <a:rPr lang="zh-CN" altLang="en-US" sz="1400" dirty="0">
                <a:latin typeface="+mn-ea"/>
              </a:rPr>
              <a:t>行程时间矩阵不可用时</a:t>
            </a:r>
            <a:r>
              <a:rPr lang="zh-CN" altLang="en-US" sz="1400" b="1" dirty="0">
                <a:latin typeface="+mn-ea"/>
              </a:rPr>
              <a:t>降级为欧氏距离</a:t>
            </a:r>
            <a:r>
              <a:rPr lang="zh-CN" altLang="en-US" sz="1400" dirty="0">
                <a:latin typeface="+mn-ea"/>
              </a:rPr>
              <a:t>，分桶机制与阈值切换逻辑完全复用，保证链路稳定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79E0333-216A-4954-4E45-0A9B845207C1}"/>
              </a:ext>
            </a:extLst>
          </p:cNvPr>
          <p:cNvSpPr txBox="1"/>
          <p:nvPr/>
        </p:nvSpPr>
        <p:spPr>
          <a:xfrm>
            <a:off x="417545" y="1746503"/>
            <a:ext cx="1135386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+mn-ea"/>
              </a:rPr>
              <a:t>行程编排在多约束下生成逐日可执行方案，结构类比带容量与时间窗的车辆路径问题（</a:t>
            </a:r>
            <a:r>
              <a:rPr lang="zh-CN" altLang="en-US" sz="1400" b="1" dirty="0">
                <a:latin typeface="+mn-ea"/>
              </a:rPr>
              <a:t>CVRPTW，NP-hard</a:t>
            </a:r>
            <a:r>
              <a:rPr lang="zh-CN" altLang="en-US" sz="1400" dirty="0">
                <a:latin typeface="+mn-ea"/>
              </a:rPr>
              <a:t>）。鉴于交互式时延要求，舍弃超参敏感、时延不可控的元启发式，采用</a:t>
            </a:r>
            <a:r>
              <a:rPr lang="zh-CN" altLang="en-US" sz="1400" b="1" dirty="0">
                <a:latin typeface="+mn-ea"/>
              </a:rPr>
              <a:t>簇优先-路由其次（Cluster-First, Route-Second）</a:t>
            </a:r>
            <a:r>
              <a:rPr lang="zh-CN" altLang="en-US" sz="1400" dirty="0">
                <a:latin typeface="+mn-ea"/>
              </a:rPr>
              <a:t>将问题分解为</a:t>
            </a:r>
            <a:r>
              <a:rPr lang="zh-CN" altLang="en-US" sz="1400" b="1" dirty="0">
                <a:latin typeface="+mn-ea"/>
              </a:rPr>
              <a:t>分日聚类</a:t>
            </a:r>
            <a:r>
              <a:rPr lang="zh-CN" altLang="en-US" sz="1400" dirty="0">
                <a:latin typeface="+mn-ea"/>
              </a:rPr>
              <a:t>与</a:t>
            </a:r>
            <a:r>
              <a:rPr lang="zh-CN" altLang="en-US" sz="1400" b="1" dirty="0">
                <a:latin typeface="+mn-ea"/>
              </a:rPr>
              <a:t>日内排序</a:t>
            </a:r>
            <a:r>
              <a:rPr lang="zh-CN" altLang="en-US" sz="1400" dirty="0">
                <a:latin typeface="+mn-ea"/>
              </a:rPr>
              <a:t>两个子问题串行求解，分解粒度与下游行程审查对齐，支持</a:t>
            </a:r>
            <a:r>
              <a:rPr lang="zh-CN" altLang="en-US" sz="1400" b="1" dirty="0">
                <a:latin typeface="+mn-ea"/>
              </a:rPr>
              <a:t>局部重试</a:t>
            </a:r>
            <a:r>
              <a:rPr lang="zh-CN" altLang="en-US" sz="1400" dirty="0">
                <a:latin typeface="+mn-ea"/>
              </a:rPr>
              <a:t>而非全局重算。</a:t>
            </a:r>
            <a:endParaRPr lang="en-US" altLang="zh-CN" sz="1400" dirty="0">
              <a:latin typeface="+mn-ea"/>
            </a:endParaRPr>
          </a:p>
          <a:p>
            <a:endParaRPr lang="zh-CN" altLang="en-US" sz="1400" dirty="0">
              <a:latin typeface="+mn-ea"/>
            </a:endParaRPr>
          </a:p>
          <a:p>
            <a:r>
              <a:rPr lang="zh-CN" altLang="en-US" sz="1400" b="1" dirty="0">
                <a:latin typeface="+mn-ea"/>
              </a:rPr>
              <a:t>输入</a:t>
            </a:r>
            <a:r>
              <a:rPr lang="zh-CN" altLang="en-US" sz="1400" dirty="0">
                <a:latin typeface="+mn-ea"/>
              </a:rPr>
              <a:t>：候选 POI 集 · 出游天数 K · 旅行风格 φ · 高德 MCP 真实行程时间矩阵 M　|　</a:t>
            </a:r>
            <a:r>
              <a:rPr lang="zh-CN" altLang="en-US" sz="1400" b="1" dirty="0">
                <a:latin typeface="+mn-ea"/>
              </a:rPr>
              <a:t>输出</a:t>
            </a:r>
            <a:r>
              <a:rPr lang="zh-CN" altLang="en-US" sz="1400" dirty="0">
                <a:latin typeface="+mn-ea"/>
              </a:rPr>
              <a:t>：逐日组织、时段合法、移动总代价最小的访问序列</a:t>
            </a:r>
          </a:p>
        </p:txBody>
      </p:sp>
    </p:spTree>
    <p:extLst>
      <p:ext uri="{BB962C8B-B14F-4D97-AF65-F5344CB8AC3E}">
        <p14:creationId xmlns:p14="http://schemas.microsoft.com/office/powerpoint/2010/main" val="338547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D5820-3041-ECBE-32DC-1B45CF8F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C6CD4C3A-5352-63EC-EEFB-C91F1DD654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32" name="文本占位符 149">
            <a:extLst>
              <a:ext uri="{FF2B5EF4-FFF2-40B4-BE49-F238E27FC236}">
                <a16:creationId xmlns:a16="http://schemas.microsoft.com/office/drawing/2014/main" id="{358B9AD6-527A-7058-608A-E0F8D776B6A2}"/>
              </a:ext>
            </a:extLst>
          </p:cNvPr>
          <p:cNvSpPr txBox="1">
            <a:spLocks/>
          </p:cNvSpPr>
          <p:nvPr/>
        </p:nvSpPr>
        <p:spPr>
          <a:xfrm>
            <a:off x="0" y="828631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长短期分离的记忆系统</a:t>
            </a:r>
          </a:p>
        </p:txBody>
      </p:sp>
      <p:sp>
        <p:nvSpPr>
          <p:cNvPr id="40" name="文本占位符 33">
            <a:extLst>
              <a:ext uri="{FF2B5EF4-FFF2-40B4-BE49-F238E27FC236}">
                <a16:creationId xmlns:a16="http://schemas.microsoft.com/office/drawing/2014/main" id="{0F03FFF1-1A12-B3D4-B676-2491A8519B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1" name="文本占位符 34">
            <a:extLst>
              <a:ext uri="{FF2B5EF4-FFF2-40B4-BE49-F238E27FC236}">
                <a16:creationId xmlns:a16="http://schemas.microsoft.com/office/drawing/2014/main" id="{757300A6-3ED9-90B5-B057-D38A56395A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2" name="文本占位符 35">
            <a:extLst>
              <a:ext uri="{FF2B5EF4-FFF2-40B4-BE49-F238E27FC236}">
                <a16:creationId xmlns:a16="http://schemas.microsoft.com/office/drawing/2014/main" id="{1D8297EC-A102-5362-CE71-EB9B9B91B4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3" name="文本占位符 36">
            <a:extLst>
              <a:ext uri="{FF2B5EF4-FFF2-40B4-BE49-F238E27FC236}">
                <a16:creationId xmlns:a16="http://schemas.microsoft.com/office/drawing/2014/main" id="{9E3FF8F2-FC92-BB41-8569-F31EDD3078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4" name="文本占位符 37">
            <a:extLst>
              <a:ext uri="{FF2B5EF4-FFF2-40B4-BE49-F238E27FC236}">
                <a16:creationId xmlns:a16="http://schemas.microsoft.com/office/drawing/2014/main" id="{F0242354-B72F-9550-E7C1-D9018AA943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18C5B5BD-9412-2560-81A8-F61B9407F2A7}"/>
              </a:ext>
            </a:extLst>
          </p:cNvPr>
          <p:cNvSpPr/>
          <p:nvPr/>
        </p:nvSpPr>
        <p:spPr>
          <a:xfrm>
            <a:off x="6492240" y="1874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3000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2126F711-B2D7-6AEA-A20B-5C4D2B9F1589}"/>
              </a:ext>
            </a:extLst>
          </p:cNvPr>
          <p:cNvGrpSpPr/>
          <p:nvPr/>
        </p:nvGrpSpPr>
        <p:grpSpPr>
          <a:xfrm>
            <a:off x="527857" y="4274131"/>
            <a:ext cx="11064240" cy="960120"/>
            <a:chOff x="566928" y="3703320"/>
            <a:chExt cx="11064240" cy="960120"/>
          </a:xfrm>
        </p:grpSpPr>
        <p:sp>
          <p:nvSpPr>
            <p:cNvPr id="14" name="Shape 15">
              <a:extLst>
                <a:ext uri="{FF2B5EF4-FFF2-40B4-BE49-F238E27FC236}">
                  <a16:creationId xmlns:a16="http://schemas.microsoft.com/office/drawing/2014/main" id="{9792C15B-0A5F-F9F0-596D-FB3D0ED65CDA}"/>
                </a:ext>
              </a:extLst>
            </p:cNvPr>
            <p:cNvSpPr/>
            <p:nvPr/>
          </p:nvSpPr>
          <p:spPr>
            <a:xfrm>
              <a:off x="566928" y="3703320"/>
              <a:ext cx="11064240" cy="960120"/>
            </a:xfrm>
            <a:prstGeom prst="roundRect">
              <a:avLst>
                <a:gd name="adj" fmla="val 7619"/>
              </a:avLst>
            </a:prstGeom>
            <a:solidFill>
              <a:schemeClr val="accent3">
                <a:lumMod val="20000"/>
                <a:lumOff val="80000"/>
              </a:schemeClr>
            </a:solidFill>
            <a:ln/>
            <a:effectLst>
              <a:outerShdw blurRad="88900" dist="25400" dir="5400000" algn="bl" rotWithShape="0">
                <a:srgbClr val="9FB3C0">
                  <a:alpha val="18000"/>
                </a:srgbClr>
              </a:outerShdw>
            </a:effec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5" name="Shape 16">
              <a:extLst>
                <a:ext uri="{FF2B5EF4-FFF2-40B4-BE49-F238E27FC236}">
                  <a16:creationId xmlns:a16="http://schemas.microsoft.com/office/drawing/2014/main" id="{B2018A00-0C48-B243-552C-CCDFB4062C5D}"/>
                </a:ext>
              </a:extLst>
            </p:cNvPr>
            <p:cNvSpPr/>
            <p:nvPr/>
          </p:nvSpPr>
          <p:spPr>
            <a:xfrm>
              <a:off x="566928" y="3703320"/>
              <a:ext cx="91440" cy="960120"/>
            </a:xfrm>
            <a:prstGeom prst="rect">
              <a:avLst/>
            </a:prstGeom>
            <a:solidFill>
              <a:schemeClr val="tx2"/>
            </a:solidFill>
            <a:ln/>
          </p:spPr>
        </p:sp>
        <p:sp>
          <p:nvSpPr>
            <p:cNvPr id="16" name="Text 17">
              <a:extLst>
                <a:ext uri="{FF2B5EF4-FFF2-40B4-BE49-F238E27FC236}">
                  <a16:creationId xmlns:a16="http://schemas.microsoft.com/office/drawing/2014/main" id="{0D2FBBE7-13D3-B581-C976-BA59599A5F25}"/>
                </a:ext>
              </a:extLst>
            </p:cNvPr>
            <p:cNvSpPr/>
            <p:nvPr/>
          </p:nvSpPr>
          <p:spPr>
            <a:xfrm>
              <a:off x="868680" y="3822192"/>
              <a:ext cx="10515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C4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偏好抽取合并入意图识别</a:t>
              </a:r>
              <a:endParaRPr lang="en-US" sz="1450" dirty="0"/>
            </a:p>
          </p:txBody>
        </p:sp>
        <p:sp>
          <p:nvSpPr>
            <p:cNvPr id="18" name="Text 18">
              <a:extLst>
                <a:ext uri="{FF2B5EF4-FFF2-40B4-BE49-F238E27FC236}">
                  <a16:creationId xmlns:a16="http://schemas.microsoft.com/office/drawing/2014/main" id="{91494CF4-309C-6F6E-4982-67B0AE717CBD}"/>
                </a:ext>
              </a:extLst>
            </p:cNvPr>
            <p:cNvSpPr/>
            <p:nvPr/>
          </p:nvSpPr>
          <p:spPr>
            <a:xfrm>
              <a:off x="868680" y="4206240"/>
              <a:ext cx="10607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借助同一次大模型推理同时完成</a:t>
              </a:r>
              <a:r>
                <a:rPr lang="en-US" sz="1400" b="1" dirty="0"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意图分类与偏好抽取</a:t>
              </a:r>
              <a:r>
                <a:rPr lang="en-US" sz="1400" dirty="0"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，不引入额外推理调用与链路开销。</a:t>
              </a:r>
              <a:endParaRPr lang="en-US" sz="1400" dirty="0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4C3C4E0D-2D4B-8993-F2A8-33157D2CF677}"/>
              </a:ext>
            </a:extLst>
          </p:cNvPr>
          <p:cNvGrpSpPr/>
          <p:nvPr/>
        </p:nvGrpSpPr>
        <p:grpSpPr>
          <a:xfrm>
            <a:off x="527857" y="5549309"/>
            <a:ext cx="11064240" cy="960120"/>
            <a:chOff x="566928" y="4782312"/>
            <a:chExt cx="11064240" cy="960120"/>
          </a:xfrm>
        </p:grpSpPr>
        <p:sp>
          <p:nvSpPr>
            <p:cNvPr id="19" name="Shape 19">
              <a:extLst>
                <a:ext uri="{FF2B5EF4-FFF2-40B4-BE49-F238E27FC236}">
                  <a16:creationId xmlns:a16="http://schemas.microsoft.com/office/drawing/2014/main" id="{25D22D42-3CA0-205A-1D63-5E8FA3F53548}"/>
                </a:ext>
              </a:extLst>
            </p:cNvPr>
            <p:cNvSpPr/>
            <p:nvPr/>
          </p:nvSpPr>
          <p:spPr>
            <a:xfrm>
              <a:off x="566928" y="4782312"/>
              <a:ext cx="11064240" cy="960120"/>
            </a:xfrm>
            <a:prstGeom prst="roundRect">
              <a:avLst>
                <a:gd name="adj" fmla="val 7619"/>
              </a:avLst>
            </a:prstGeom>
            <a:solidFill>
              <a:schemeClr val="accent3">
                <a:lumMod val="20000"/>
                <a:lumOff val="80000"/>
              </a:schemeClr>
            </a:solidFill>
            <a:ln/>
            <a:effectLst>
              <a:outerShdw blurRad="88900" dist="25400" dir="5400000" algn="bl" rotWithShape="0">
                <a:srgbClr val="9FB3C0">
                  <a:alpha val="18000"/>
                </a:srgbClr>
              </a:outerShdw>
            </a:effectLst>
          </p:spPr>
        </p:sp>
        <p:sp>
          <p:nvSpPr>
            <p:cNvPr id="20" name="Shape 20">
              <a:extLst>
                <a:ext uri="{FF2B5EF4-FFF2-40B4-BE49-F238E27FC236}">
                  <a16:creationId xmlns:a16="http://schemas.microsoft.com/office/drawing/2014/main" id="{C7155FF0-5ECF-A722-94B6-6C0B08C6F270}"/>
                </a:ext>
              </a:extLst>
            </p:cNvPr>
            <p:cNvSpPr/>
            <p:nvPr/>
          </p:nvSpPr>
          <p:spPr>
            <a:xfrm>
              <a:off x="566928" y="4782312"/>
              <a:ext cx="91440" cy="960120"/>
            </a:xfrm>
            <a:prstGeom prst="rect">
              <a:avLst/>
            </a:prstGeom>
            <a:solidFill>
              <a:schemeClr val="tx2"/>
            </a:solidFill>
            <a:ln/>
          </p:spPr>
        </p:sp>
        <p:sp>
          <p:nvSpPr>
            <p:cNvPr id="21" name="Text 21">
              <a:extLst>
                <a:ext uri="{FF2B5EF4-FFF2-40B4-BE49-F238E27FC236}">
                  <a16:creationId xmlns:a16="http://schemas.microsoft.com/office/drawing/2014/main" id="{9BBC9F79-B480-AFD5-A224-3744C50D4170}"/>
                </a:ext>
              </a:extLst>
            </p:cNvPr>
            <p:cNvSpPr/>
            <p:nvPr/>
          </p:nvSpPr>
          <p:spPr>
            <a:xfrm>
              <a:off x="868680" y="4901184"/>
              <a:ext cx="105156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2C4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自动注入与个性化复用</a:t>
              </a:r>
              <a:endParaRPr lang="en-US" sz="1450" dirty="0"/>
            </a:p>
          </p:txBody>
        </p:sp>
        <p:sp>
          <p:nvSpPr>
            <p:cNvPr id="22" name="Text 22">
              <a:extLst>
                <a:ext uri="{FF2B5EF4-FFF2-40B4-BE49-F238E27FC236}">
                  <a16:creationId xmlns:a16="http://schemas.microsoft.com/office/drawing/2014/main" id="{DA2D21E1-90A2-765F-5868-33A9F7F93ADB}"/>
                </a:ext>
              </a:extLst>
            </p:cNvPr>
            <p:cNvSpPr/>
            <p:nvPr/>
          </p:nvSpPr>
          <p:spPr>
            <a:xfrm>
              <a:off x="868680" y="5285232"/>
              <a:ext cx="10607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提取的偏好以</a:t>
              </a:r>
              <a:r>
                <a:rPr lang="en-US" sz="1400" b="1" dirty="0"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系统消息</a:t>
              </a:r>
              <a:r>
                <a:rPr lang="en-US" sz="1400" dirty="0"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形式</a:t>
              </a:r>
              <a:r>
                <a:rPr lang="en-US" sz="1400" b="1" dirty="0"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自动注入后续会话上下文</a:t>
              </a:r>
              <a:r>
                <a:rPr lang="en-US" sz="1400" dirty="0"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，下游节点据此给出</a:t>
              </a:r>
              <a:r>
                <a:rPr lang="en-US" sz="1400" b="1" dirty="0"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个性化推荐</a:t>
              </a:r>
              <a:r>
                <a:rPr lang="en-US" sz="1400" dirty="0"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，无需用户重复说明。</a:t>
              </a:r>
              <a:endParaRPr lang="en-US" sz="14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871EF45-BE7D-6721-C5D5-8E2B5F9E10F5}"/>
              </a:ext>
            </a:extLst>
          </p:cNvPr>
          <p:cNvGrpSpPr/>
          <p:nvPr/>
        </p:nvGrpSpPr>
        <p:grpSpPr>
          <a:xfrm>
            <a:off x="438536" y="1847821"/>
            <a:ext cx="5446922" cy="2101775"/>
            <a:chOff x="410051" y="1482000"/>
            <a:chExt cx="5446922" cy="2101775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7598ACC-E141-0DB3-17D1-D6E53A1EB9FC}"/>
                </a:ext>
              </a:extLst>
            </p:cNvPr>
            <p:cNvGrpSpPr/>
            <p:nvPr/>
          </p:nvGrpSpPr>
          <p:grpSpPr>
            <a:xfrm>
              <a:off x="410051" y="1482000"/>
              <a:ext cx="5446922" cy="2101775"/>
              <a:chOff x="384649" y="1614855"/>
              <a:chExt cx="5446922" cy="2283015"/>
            </a:xfrm>
          </p:grpSpPr>
          <p:sp>
            <p:nvSpPr>
              <p:cNvPr id="24" name="圆角矩形 45">
                <a:extLst>
                  <a:ext uri="{FF2B5EF4-FFF2-40B4-BE49-F238E27FC236}">
                    <a16:creationId xmlns:a16="http://schemas.microsoft.com/office/drawing/2014/main" id="{37B3B9E4-3D4E-EC77-2755-40D33AF1BE5B}"/>
                  </a:ext>
                </a:extLst>
              </p:cNvPr>
              <p:cNvSpPr/>
              <p:nvPr/>
            </p:nvSpPr>
            <p:spPr>
              <a:xfrm>
                <a:off x="384649" y="1614855"/>
                <a:ext cx="5446922" cy="2283015"/>
              </a:xfrm>
              <a:prstGeom prst="roundRect">
                <a:avLst>
                  <a:gd name="adj" fmla="val 5048"/>
                </a:avLst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schemeClr val="accent1">
                    <a:alpha val="21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554D565-F05F-EF18-A3BD-153362F5A17F}"/>
                  </a:ext>
                </a:extLst>
              </p:cNvPr>
              <p:cNvSpPr txBox="1"/>
              <p:nvPr/>
            </p:nvSpPr>
            <p:spPr>
              <a:xfrm>
                <a:off x="1034966" y="2564678"/>
                <a:ext cx="4554077" cy="8991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2000"/>
                  </a:lnSpc>
                </a:pPr>
                <a:r>
                  <a:rPr lang="en-US" altLang="zh-CN" sz="1600" dirty="0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由 </a:t>
                </a:r>
                <a:r>
                  <a:rPr lang="en-US" altLang="zh-CN" sz="1600" dirty="0" err="1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LangGraph</a:t>
                </a:r>
                <a:r>
                  <a:rPr lang="en-US" altLang="zh-CN" sz="1600" dirty="0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 </a:t>
                </a:r>
                <a:r>
                  <a:rPr lang="en-US" altLang="zh-CN" sz="1600" dirty="0" err="1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检查点（Checkpointer）机制承载，基于</a:t>
                </a:r>
                <a:r>
                  <a:rPr lang="en-US" altLang="zh-CN" sz="1600" dirty="0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 </a:t>
                </a:r>
                <a:r>
                  <a:rPr lang="en-US" altLang="zh-CN" sz="1600" dirty="0" err="1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AsyncSqliteSaver</a:t>
                </a:r>
                <a:r>
                  <a:rPr lang="en-US" altLang="zh-CN" sz="1600" dirty="0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 </a:t>
                </a:r>
                <a:r>
                  <a:rPr lang="en-US" altLang="zh-CN" sz="1600" dirty="0" err="1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持久化，支持进程中断恢复与跨会话状态续接</a:t>
                </a:r>
                <a:r>
                  <a:rPr lang="en-US" altLang="zh-CN" sz="1600" dirty="0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。</a:t>
                </a:r>
                <a:endParaRPr lang="en-US" altLang="zh-CN" sz="1600" dirty="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EB8F5FD-3576-3C82-1EB4-06C7C2593182}"/>
                  </a:ext>
                </a:extLst>
              </p:cNvPr>
              <p:cNvSpPr txBox="1"/>
              <p:nvPr/>
            </p:nvSpPr>
            <p:spPr>
              <a:xfrm>
                <a:off x="1418897" y="1805753"/>
                <a:ext cx="3445032" cy="36933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b="1" dirty="0" err="1">
                    <a:solidFill>
                      <a:srgbClr val="0F2C4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短期记忆</a:t>
                </a:r>
                <a:endParaRPr lang="en-US" altLang="zh-CN" dirty="0"/>
              </a:p>
            </p:txBody>
          </p:sp>
          <p:sp>
            <p:nvSpPr>
              <p:cNvPr id="27" name="文本框 47">
                <a:extLst>
                  <a:ext uri="{FF2B5EF4-FFF2-40B4-BE49-F238E27FC236}">
                    <a16:creationId xmlns:a16="http://schemas.microsoft.com/office/drawing/2014/main" id="{FC1DDF39-4C50-17BB-4B39-836D883B1C11}"/>
                  </a:ext>
                </a:extLst>
              </p:cNvPr>
              <p:cNvSpPr txBox="1"/>
              <p:nvPr/>
            </p:nvSpPr>
            <p:spPr>
              <a:xfrm>
                <a:off x="790231" y="1759452"/>
                <a:ext cx="1374329" cy="5847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3200" dirty="0">
                    <a:ln>
                      <a:solidFill>
                        <a:schemeClr val="accent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effectLst/>
                    <a:latin typeface="+mj-ea"/>
                    <a:ea typeface="+mj-ea"/>
                    <a:sym typeface="+mn-ea"/>
                  </a:rPr>
                  <a:t>0</a:t>
                </a:r>
                <a:r>
                  <a:rPr lang="en-US" altLang="zh-CN" sz="3200" dirty="0">
                    <a:ln>
                      <a:solidFill>
                        <a:schemeClr val="accent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  <a:sym typeface="+mn-ea"/>
                  </a:rPr>
                  <a:t>1</a:t>
                </a:r>
                <a:endParaRPr lang="en-US" altLang="zh-CN" sz="3200" dirty="0">
                  <a:ln>
                    <a:solidFill>
                      <a:schemeClr val="accent1"/>
                    </a:solidFill>
                  </a:ln>
                  <a:solidFill>
                    <a:schemeClr val="accent2">
                      <a:lumMod val="20000"/>
                      <a:lumOff val="80000"/>
                    </a:schemeClr>
                  </a:solidFill>
                  <a:effectLst/>
                  <a:latin typeface="+mj-ea"/>
                  <a:ea typeface="+mj-ea"/>
                  <a:sym typeface="+mn-ea"/>
                </a:endParaRPr>
              </a:p>
            </p:txBody>
          </p:sp>
          <p:sp>
            <p:nvSpPr>
              <p:cNvPr id="28" name="圆角矩形 32">
                <a:extLst>
                  <a:ext uri="{FF2B5EF4-FFF2-40B4-BE49-F238E27FC236}">
                    <a16:creationId xmlns:a16="http://schemas.microsoft.com/office/drawing/2014/main" id="{6C52CD5E-0876-139A-FDAE-BAED7FA099B0}"/>
                  </a:ext>
                </a:extLst>
              </p:cNvPr>
              <p:cNvSpPr/>
              <p:nvPr/>
            </p:nvSpPr>
            <p:spPr>
              <a:xfrm rot="5400000">
                <a:off x="-394688" y="2623477"/>
                <a:ext cx="2101428" cy="2461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00000">
                    <a:schemeClr val="bg1">
                      <a:alpha val="0"/>
                    </a:schemeClr>
                  </a:gs>
                  <a:gs pos="57300">
                    <a:schemeClr val="accent2"/>
                  </a:gs>
                  <a:gs pos="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200F07F-E425-BE2D-885A-A2EA2A8F9E2B}"/>
                </a:ext>
              </a:extLst>
            </p:cNvPr>
            <p:cNvSpPr txBox="1"/>
            <p:nvPr/>
          </p:nvSpPr>
          <p:spPr>
            <a:xfrm>
              <a:off x="1465944" y="2006232"/>
              <a:ext cx="108496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 err="1">
                  <a:solidFill>
                    <a:schemeClr val="accent1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会话状态</a:t>
              </a:r>
              <a:endParaRPr lang="zh-CN" altLang="en-US" sz="14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DE7290C-3A7D-9762-ED65-34744DC8E75E}"/>
              </a:ext>
            </a:extLst>
          </p:cNvPr>
          <p:cNvGrpSpPr/>
          <p:nvPr/>
        </p:nvGrpSpPr>
        <p:grpSpPr>
          <a:xfrm>
            <a:off x="6232817" y="1830129"/>
            <a:ext cx="5446922" cy="2101775"/>
            <a:chOff x="6214462" y="1487412"/>
            <a:chExt cx="5446922" cy="2101775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08D398B6-EEA4-BFB1-BFE4-177CC14292CE}"/>
                </a:ext>
              </a:extLst>
            </p:cNvPr>
            <p:cNvGrpSpPr/>
            <p:nvPr/>
          </p:nvGrpSpPr>
          <p:grpSpPr>
            <a:xfrm>
              <a:off x="6214462" y="1487412"/>
              <a:ext cx="5446922" cy="2101775"/>
              <a:chOff x="384649" y="1614855"/>
              <a:chExt cx="5446922" cy="2283015"/>
            </a:xfrm>
          </p:grpSpPr>
          <p:sp>
            <p:nvSpPr>
              <p:cNvPr id="33" name="圆角矩形 45">
                <a:extLst>
                  <a:ext uri="{FF2B5EF4-FFF2-40B4-BE49-F238E27FC236}">
                    <a16:creationId xmlns:a16="http://schemas.microsoft.com/office/drawing/2014/main" id="{64E0C3B6-71ED-61A1-9266-A7AD6D6F4D86}"/>
                  </a:ext>
                </a:extLst>
              </p:cNvPr>
              <p:cNvSpPr/>
              <p:nvPr/>
            </p:nvSpPr>
            <p:spPr>
              <a:xfrm>
                <a:off x="384649" y="1614855"/>
                <a:ext cx="5446922" cy="2283015"/>
              </a:xfrm>
              <a:prstGeom prst="roundRect">
                <a:avLst>
                  <a:gd name="adj" fmla="val 5048"/>
                </a:avLst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50800" dist="38100" dir="5400000" algn="t" rotWithShape="0">
                  <a:schemeClr val="accent1">
                    <a:alpha val="21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CA82C42-B4C4-416D-91DF-7CB2776DC068}"/>
                  </a:ext>
                </a:extLst>
              </p:cNvPr>
              <p:cNvSpPr txBox="1"/>
              <p:nvPr/>
            </p:nvSpPr>
            <p:spPr>
              <a:xfrm>
                <a:off x="1096767" y="2625266"/>
                <a:ext cx="4665517" cy="97481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2000"/>
                  </a:lnSpc>
                </a:pPr>
                <a:r>
                  <a:rPr lang="zh-CN" altLang="en-US" sz="1600" dirty="0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以用户为单位独立持久化为 </a:t>
                </a:r>
                <a:r>
                  <a:rPr lang="en-US" altLang="zh-CN" sz="1600" dirty="0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JSON </a:t>
                </a:r>
                <a:r>
                  <a:rPr lang="zh-CN" altLang="en-US" sz="1600" dirty="0"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文件，与短期状态物理隔离，避免数据漂移与相互污染。</a:t>
                </a:r>
              </a:p>
              <a:p>
                <a:pPr>
                  <a:lnSpc>
                    <a:spcPct val="112000"/>
                  </a:lnSpc>
                </a:pPr>
                <a:endParaRPr lang="en-US" altLang="zh-CN" sz="1600" dirty="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535E765-0514-60AC-27FB-18755386134C}"/>
                  </a:ext>
                </a:extLst>
              </p:cNvPr>
              <p:cNvSpPr txBox="1"/>
              <p:nvPr/>
            </p:nvSpPr>
            <p:spPr>
              <a:xfrm>
                <a:off x="1418897" y="1805753"/>
                <a:ext cx="3445032" cy="4011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1" dirty="0">
                    <a:solidFill>
                      <a:srgbClr val="0F2C4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长</a:t>
                </a:r>
                <a:r>
                  <a:rPr lang="en-US" altLang="zh-CN" b="1" dirty="0" err="1">
                    <a:solidFill>
                      <a:srgbClr val="0F2C4C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期记忆</a:t>
                </a:r>
                <a:endParaRPr lang="en-US" altLang="zh-CN" dirty="0"/>
              </a:p>
            </p:txBody>
          </p:sp>
          <p:sp>
            <p:nvSpPr>
              <p:cNvPr id="36" name="文本框 47">
                <a:extLst>
                  <a:ext uri="{FF2B5EF4-FFF2-40B4-BE49-F238E27FC236}">
                    <a16:creationId xmlns:a16="http://schemas.microsoft.com/office/drawing/2014/main" id="{7E3F4A8A-008C-8049-9CC2-48D9E320ED30}"/>
                  </a:ext>
                </a:extLst>
              </p:cNvPr>
              <p:cNvSpPr txBox="1"/>
              <p:nvPr/>
            </p:nvSpPr>
            <p:spPr>
              <a:xfrm>
                <a:off x="790231" y="1759452"/>
                <a:ext cx="1374329" cy="63520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3200" dirty="0">
                    <a:ln>
                      <a:solidFill>
                        <a:schemeClr val="accent1"/>
                      </a:solidFill>
                    </a:ln>
                    <a:solidFill>
                      <a:schemeClr val="accent2">
                        <a:lumMod val="20000"/>
                        <a:lumOff val="80000"/>
                      </a:schemeClr>
                    </a:solidFill>
                    <a:effectLst/>
                    <a:latin typeface="+mj-ea"/>
                    <a:ea typeface="+mj-ea"/>
                    <a:sym typeface="+mn-ea"/>
                  </a:rPr>
                  <a:t>02</a:t>
                </a:r>
              </a:p>
            </p:txBody>
          </p:sp>
          <p:sp>
            <p:nvSpPr>
              <p:cNvPr id="37" name="圆角矩形 32">
                <a:extLst>
                  <a:ext uri="{FF2B5EF4-FFF2-40B4-BE49-F238E27FC236}">
                    <a16:creationId xmlns:a16="http://schemas.microsoft.com/office/drawing/2014/main" id="{9B54560E-EF2C-C7B6-3558-DE88E46668E5}"/>
                  </a:ext>
                </a:extLst>
              </p:cNvPr>
              <p:cNvSpPr/>
              <p:nvPr/>
            </p:nvSpPr>
            <p:spPr>
              <a:xfrm rot="5400000">
                <a:off x="-394688" y="2623477"/>
                <a:ext cx="2101428" cy="2461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100000">
                    <a:schemeClr val="bg1">
                      <a:alpha val="0"/>
                    </a:schemeClr>
                  </a:gs>
                  <a:gs pos="57300">
                    <a:schemeClr val="accent2"/>
                  </a:gs>
                  <a:gs pos="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6C6E261-1D74-E71B-43AD-E3313B2F405F}"/>
                </a:ext>
              </a:extLst>
            </p:cNvPr>
            <p:cNvSpPr txBox="1"/>
            <p:nvPr/>
          </p:nvSpPr>
          <p:spPr>
            <a:xfrm>
              <a:off x="7266897" y="2034604"/>
              <a:ext cx="108496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chemeClr val="accent1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用户偏好</a:t>
              </a:r>
              <a:endParaRPr lang="zh-CN" altLang="en-US" sz="14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51" name="灯片编号占位符 181">
            <a:extLst>
              <a:ext uri="{FF2B5EF4-FFF2-40B4-BE49-F238E27FC236}">
                <a16:creationId xmlns:a16="http://schemas.microsoft.com/office/drawing/2014/main" id="{D7BD5CD4-A53F-2DED-CD27-A148E098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15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410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F942-FDAF-1E9A-0043-9201D5138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E084FA95-0293-7CB3-B885-4B8BC2499B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3.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研究内容</a:t>
            </a:r>
          </a:p>
        </p:txBody>
      </p:sp>
      <p:sp>
        <p:nvSpPr>
          <p:cNvPr id="40" name="文本占位符 33">
            <a:extLst>
              <a:ext uri="{FF2B5EF4-FFF2-40B4-BE49-F238E27FC236}">
                <a16:creationId xmlns:a16="http://schemas.microsoft.com/office/drawing/2014/main" id="{57A4010A-6038-6CAF-39D9-6A86E89CFE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1" name="文本占位符 34">
            <a:extLst>
              <a:ext uri="{FF2B5EF4-FFF2-40B4-BE49-F238E27FC236}">
                <a16:creationId xmlns:a16="http://schemas.microsoft.com/office/drawing/2014/main" id="{51F878E3-B838-BBEC-8F2C-73BDD702AE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2" name="文本占位符 35">
            <a:extLst>
              <a:ext uri="{FF2B5EF4-FFF2-40B4-BE49-F238E27FC236}">
                <a16:creationId xmlns:a16="http://schemas.microsoft.com/office/drawing/2014/main" id="{253A35F8-B201-864F-CDA3-096E4CE0C4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3" name="文本占位符 36">
            <a:extLst>
              <a:ext uri="{FF2B5EF4-FFF2-40B4-BE49-F238E27FC236}">
                <a16:creationId xmlns:a16="http://schemas.microsoft.com/office/drawing/2014/main" id="{54714CEA-5D4B-0994-18BC-5D832BA8C0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4" name="文本占位符 37">
            <a:extLst>
              <a:ext uri="{FF2B5EF4-FFF2-40B4-BE49-F238E27FC236}">
                <a16:creationId xmlns:a16="http://schemas.microsoft.com/office/drawing/2014/main" id="{5F38DB6E-BC84-7D40-A952-5920D42CB7A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sp>
        <p:nvSpPr>
          <p:cNvPr id="2" name="文本占位符 149">
            <a:extLst>
              <a:ext uri="{FF2B5EF4-FFF2-40B4-BE49-F238E27FC236}">
                <a16:creationId xmlns:a16="http://schemas.microsoft.com/office/drawing/2014/main" id="{25172EDF-71E6-26FB-818D-5060570BA388}"/>
              </a:ext>
            </a:extLst>
          </p:cNvPr>
          <p:cNvSpPr txBox="1">
            <a:spLocks/>
          </p:cNvSpPr>
          <p:nvPr/>
        </p:nvSpPr>
        <p:spPr>
          <a:xfrm>
            <a:off x="-8420" y="803787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系统实现与界面展示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988C7DC7-5F21-E95C-050F-9E92D8A6E88F}"/>
              </a:ext>
            </a:extLst>
          </p:cNvPr>
          <p:cNvSpPr/>
          <p:nvPr/>
        </p:nvSpPr>
        <p:spPr>
          <a:xfrm>
            <a:off x="8758646" y="1759132"/>
            <a:ext cx="2971800" cy="3474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EF177DD5-775C-F6C7-079C-A73823981919}"/>
              </a:ext>
            </a:extLst>
          </p:cNvPr>
          <p:cNvSpPr/>
          <p:nvPr/>
        </p:nvSpPr>
        <p:spPr>
          <a:xfrm>
            <a:off x="8758646" y="2106604"/>
            <a:ext cx="2971800" cy="548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+ Vite，双区域对话式布局，气泡式消息流与行程结果可视化。</a:t>
            </a:r>
            <a:endParaRPr lang="en-US" sz="14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51E2B04D-EF60-DBE6-2585-E17383574F1F}"/>
              </a:ext>
            </a:extLst>
          </p:cNvPr>
          <p:cNvSpPr/>
          <p:nvPr/>
        </p:nvSpPr>
        <p:spPr>
          <a:xfrm>
            <a:off x="8758646" y="2902132"/>
            <a:ext cx="2971800" cy="3474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AC3754A-72EF-A6FB-01C4-F05327BD23D7}"/>
              </a:ext>
            </a:extLst>
          </p:cNvPr>
          <p:cNvSpPr/>
          <p:nvPr/>
        </p:nvSpPr>
        <p:spPr>
          <a:xfrm>
            <a:off x="8758646" y="3249604"/>
            <a:ext cx="2971800" cy="548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+ SSE 流式响应，逐字渲染降低用户主观等待感。</a:t>
            </a:r>
            <a:endParaRPr lang="en-US" sz="1400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9D04E483-E60A-0E72-787A-ED6D2C916382}"/>
              </a:ext>
            </a:extLst>
          </p:cNvPr>
          <p:cNvSpPr/>
          <p:nvPr/>
        </p:nvSpPr>
        <p:spPr>
          <a:xfrm>
            <a:off x="8758646" y="4045132"/>
            <a:ext cx="2971800" cy="3474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12E244D7-5F26-F634-119E-B56036CD7058}"/>
              </a:ext>
            </a:extLst>
          </p:cNvPr>
          <p:cNvSpPr/>
          <p:nvPr/>
        </p:nvSpPr>
        <p:spPr>
          <a:xfrm>
            <a:off x="8758646" y="4392604"/>
            <a:ext cx="2971800" cy="548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调用高德 JS API，逐日景点序列折线连接、颜色编码区分路线。</a:t>
            </a:r>
            <a:endParaRPr lang="en-US" sz="140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D4CFDCA8-4003-5A42-DC63-2565B8845D46}"/>
              </a:ext>
            </a:extLst>
          </p:cNvPr>
          <p:cNvSpPr/>
          <p:nvPr/>
        </p:nvSpPr>
        <p:spPr>
          <a:xfrm>
            <a:off x="8758645" y="5188132"/>
            <a:ext cx="2971799" cy="3474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600" b="1" dirty="0" err="1">
                <a:solidFill>
                  <a:schemeClr val="tx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35A5CB31-4F00-2384-9B20-85BC006C7421}"/>
              </a:ext>
            </a:extLst>
          </p:cNvPr>
          <p:cNvSpPr/>
          <p:nvPr/>
        </p:nvSpPr>
        <p:spPr>
          <a:xfrm>
            <a:off x="8758646" y="5535604"/>
            <a:ext cx="2971800" cy="548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逐日景点、真实交通班次票价、多档住宿、餐饮推荐与预算明细。</a:t>
            </a:r>
            <a:endParaRPr lang="en-US" sz="1400" dirty="0"/>
          </a:p>
        </p:txBody>
      </p:sp>
      <p:sp>
        <p:nvSpPr>
          <p:cNvPr id="13" name="灯片编号占位符 181">
            <a:extLst>
              <a:ext uri="{FF2B5EF4-FFF2-40B4-BE49-F238E27FC236}">
                <a16:creationId xmlns:a16="http://schemas.microsoft.com/office/drawing/2014/main" id="{951903EF-D77F-A958-79D3-76156071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16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" name="演示">
            <a:hlinkClick r:id="" action="ppaction://media"/>
            <a:extLst>
              <a:ext uri="{FF2B5EF4-FFF2-40B4-BE49-F238E27FC236}">
                <a16:creationId xmlns:a16="http://schemas.microsoft.com/office/drawing/2014/main" id="{E4E14AAF-E904-203A-4B9D-72BE05C975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2914" t="12768" r="291" b="239"/>
          <a:stretch>
            <a:fillRect/>
          </a:stretch>
        </p:blipFill>
        <p:spPr>
          <a:xfrm>
            <a:off x="319582" y="1759132"/>
            <a:ext cx="8137075" cy="43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9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70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F0AB-1987-3208-16F8-5B615583E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014AC9F2-618A-F45C-C604-D4EF7410BF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4.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实验分析</a:t>
            </a:r>
            <a:endParaRPr lang="en-US" altLang="zh-CN" b="1" dirty="0">
              <a:latin typeface="Arial" panose="020B0604020202020204" pitchFamily="34" charset="0"/>
              <a:ea typeface="微软雅黑" panose="020B0503020204020204" pitchFamily="34" charset="-122"/>
              <a:cs typeface="OPPOSans M" panose="00020600040101010101" charset="-122"/>
            </a:endParaRPr>
          </a:p>
          <a:p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文本占位符 33">
            <a:extLst>
              <a:ext uri="{FF2B5EF4-FFF2-40B4-BE49-F238E27FC236}">
                <a16:creationId xmlns:a16="http://schemas.microsoft.com/office/drawing/2014/main" id="{DDAA4737-07EF-4287-5FB1-E817134B43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40" name="文本占位符 34">
            <a:extLst>
              <a:ext uri="{FF2B5EF4-FFF2-40B4-BE49-F238E27FC236}">
                <a16:creationId xmlns:a16="http://schemas.microsoft.com/office/drawing/2014/main" id="{C841FE1F-9F56-D880-E234-8A51FA1B48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41" name="文本占位符 35">
            <a:extLst>
              <a:ext uri="{FF2B5EF4-FFF2-40B4-BE49-F238E27FC236}">
                <a16:creationId xmlns:a16="http://schemas.microsoft.com/office/drawing/2014/main" id="{92A0F4B7-10EB-F78A-3C94-2E1F0CA52C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42" name="文本占位符 36">
            <a:extLst>
              <a:ext uri="{FF2B5EF4-FFF2-40B4-BE49-F238E27FC236}">
                <a16:creationId xmlns:a16="http://schemas.microsoft.com/office/drawing/2014/main" id="{88610846-1258-CDAA-9238-A156E0AD1C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3" name="文本占位符 37">
            <a:extLst>
              <a:ext uri="{FF2B5EF4-FFF2-40B4-BE49-F238E27FC236}">
                <a16:creationId xmlns:a16="http://schemas.microsoft.com/office/drawing/2014/main" id="{209FC280-45F9-C304-83BE-9A9A541401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sp>
        <p:nvSpPr>
          <p:cNvPr id="2" name="灯片编号占位符 181">
            <a:extLst>
              <a:ext uri="{FF2B5EF4-FFF2-40B4-BE49-F238E27FC236}">
                <a16:creationId xmlns:a16="http://schemas.microsoft.com/office/drawing/2014/main" id="{9AC9EDD5-E9D7-2392-0701-77C2A2D94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1765" y="6356350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</a:rPr>
              <a:t>17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CAB2C11F-6684-F8CF-550C-9C3DDB6EB989}"/>
              </a:ext>
            </a:extLst>
          </p:cNvPr>
          <p:cNvSpPr/>
          <p:nvPr/>
        </p:nvSpPr>
        <p:spPr>
          <a:xfrm>
            <a:off x="444863" y="1381379"/>
            <a:ext cx="553212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对比实验</a:t>
            </a: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纯 LLM 基线 vs 本系统（12 条评测集，各跑 5 次取均值）</a:t>
            </a:r>
            <a:endParaRPr lang="en-US" sz="1400" dirty="0"/>
          </a:p>
        </p:txBody>
      </p:sp>
      <p:pic>
        <p:nvPicPr>
          <p:cNvPr id="4" name="Image 0" descr="/tmp/ppt_build/cmp_bar.png">
            <a:extLst>
              <a:ext uri="{FF2B5EF4-FFF2-40B4-BE49-F238E27FC236}">
                <a16:creationId xmlns:a16="http://schemas.microsoft.com/office/drawing/2014/main" id="{2497F24D-667A-280D-2131-2BD22C188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63" y="1856867"/>
            <a:ext cx="5532120" cy="2429877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3DA7095D-2C0D-1CC7-8B8E-E1DE080C15D6}"/>
              </a:ext>
            </a:extLst>
          </p:cNvPr>
          <p:cNvSpPr/>
          <p:nvPr/>
        </p:nvSpPr>
        <p:spPr>
          <a:xfrm>
            <a:off x="444863" y="4353179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其余指标</a:t>
            </a:r>
            <a:endParaRPr lang="en-US" sz="12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AE27B2BF-9847-9BA8-22ED-1F68C9F38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01373"/>
              </p:ext>
            </p:extLst>
          </p:nvPr>
        </p:nvGraphicFramePr>
        <p:xfrm>
          <a:off x="444863" y="4691507"/>
          <a:ext cx="5532120" cy="162763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纯 LLM 基线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本系统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POI 幻觉数（个/方案）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时段违规数（个/方案）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1.3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0.05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日均移动耗时（分钟）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156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98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端到端时延（秒）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16.2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6758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88.5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>
            <a:extLst>
              <a:ext uri="{FF2B5EF4-FFF2-40B4-BE49-F238E27FC236}">
                <a16:creationId xmlns:a16="http://schemas.microsoft.com/office/drawing/2014/main" id="{33E57810-7D78-7FF3-B62F-C4B41CFF9318}"/>
              </a:ext>
            </a:extLst>
          </p:cNvPr>
          <p:cNvSpPr/>
          <p:nvPr/>
        </p:nvSpPr>
        <p:spPr>
          <a:xfrm>
            <a:off x="6205583" y="1381379"/>
            <a:ext cx="5486400" cy="38404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消融实验</a:t>
            </a: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单变量替换各核心模块为退化版本</a:t>
            </a:r>
            <a:endParaRPr lang="en-US" sz="14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29C1FE1-503B-7F45-762C-E569E620F717}"/>
              </a:ext>
            </a:extLst>
          </p:cNvPr>
          <p:cNvSpPr/>
          <p:nvPr/>
        </p:nvSpPr>
        <p:spPr>
          <a:xfrm>
            <a:off x="7622903" y="1893443"/>
            <a:ext cx="201168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C6512AC-B154-B61F-C3B7-EB4AC5D1DC83}"/>
              </a:ext>
            </a:extLst>
          </p:cNvPr>
          <p:cNvSpPr/>
          <p:nvPr/>
        </p:nvSpPr>
        <p:spPr>
          <a:xfrm>
            <a:off x="7851503" y="1811147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完整系统</a:t>
            </a:r>
            <a:endParaRPr lang="en-US" sz="10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CA5BAD7-B37E-1FE3-1BD2-5D589CD7B3B4}"/>
              </a:ext>
            </a:extLst>
          </p:cNvPr>
          <p:cNvSpPr/>
          <p:nvPr/>
        </p:nvSpPr>
        <p:spPr>
          <a:xfrm>
            <a:off x="8994503" y="1893443"/>
            <a:ext cx="201168" cy="146304"/>
          </a:xfrm>
          <a:prstGeom prst="rect">
            <a:avLst/>
          </a:prstGeom>
          <a:solidFill>
            <a:srgbClr val="DD8A2E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B0FDF99-8B67-9C27-22EC-AC161F696944}"/>
              </a:ext>
            </a:extLst>
          </p:cNvPr>
          <p:cNvSpPr/>
          <p:nvPr/>
        </p:nvSpPr>
        <p:spPr>
          <a:xfrm>
            <a:off x="9223103" y="1811147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消融退化</a:t>
            </a:r>
            <a:endParaRPr lang="en-US" sz="1050" dirty="0"/>
          </a:p>
        </p:txBody>
      </p:sp>
      <p:pic>
        <p:nvPicPr>
          <p:cNvPr id="14" name="Image 1" descr="/tmp/ppt_build/abl_multi.png">
            <a:extLst>
              <a:ext uri="{FF2B5EF4-FFF2-40B4-BE49-F238E27FC236}">
                <a16:creationId xmlns:a16="http://schemas.microsoft.com/office/drawing/2014/main" id="{BE10DB1B-5A97-176D-2709-F9E9BB615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585" y="2189825"/>
            <a:ext cx="5486400" cy="2096919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7CFAAA11-78ED-4339-AED6-35C9477DA0A8}"/>
              </a:ext>
            </a:extLst>
          </p:cNvPr>
          <p:cNvSpPr/>
          <p:nvPr/>
        </p:nvSpPr>
        <p:spPr>
          <a:xfrm>
            <a:off x="6205583" y="4353179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各模块关键指标退化</a:t>
            </a:r>
            <a:endParaRPr lang="en-US" sz="1200" dirty="0"/>
          </a:p>
        </p:txBody>
      </p:sp>
      <p:graphicFrame>
        <p:nvGraphicFramePr>
          <p:cNvPr id="16" name="Table 1">
            <a:extLst>
              <a:ext uri="{FF2B5EF4-FFF2-40B4-BE49-F238E27FC236}">
                <a16:creationId xmlns:a16="http://schemas.microsoft.com/office/drawing/2014/main" id="{1DBE12E2-0470-1781-7877-D8EE92CBC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130999"/>
              </p:ext>
            </p:extLst>
          </p:nvPr>
        </p:nvGraphicFramePr>
        <p:xfrm>
          <a:off x="6205583" y="4691507"/>
          <a:ext cx="5486400" cy="160934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模块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关键指标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完整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8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消融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8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A1 双层 RAG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POI 幻觉数（个）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6758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D8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1.9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A2 均衡 K-Means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容量违规率（%）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6758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D8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A3 时段分桶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时段违规数（个）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6758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0.1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D8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1.5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A4 TSP+2-opt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日内移动耗时（min）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6758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98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D8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154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2">
            <a:extLst>
              <a:ext uri="{FF2B5EF4-FFF2-40B4-BE49-F238E27FC236}">
                <a16:creationId xmlns:a16="http://schemas.microsoft.com/office/drawing/2014/main" id="{2FA43A32-1A9B-62FF-A9DB-8D16A277D80A}"/>
              </a:ext>
            </a:extLst>
          </p:cNvPr>
          <p:cNvSpPr/>
          <p:nvPr/>
        </p:nvSpPr>
        <p:spPr>
          <a:xfrm>
            <a:off x="1322930" y="6356350"/>
            <a:ext cx="11247120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</a:t>
            </a:r>
            <a:r>
              <a:rPr lang="en-US" sz="1400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关键质量指标相对纯 LLM 基线呈数量级提升；任一模块缺失均导致对应指标显著退化，验证各组件的独立贡献。</a:t>
            </a:r>
            <a:endParaRPr lang="en-US" sz="1400" dirty="0"/>
          </a:p>
        </p:txBody>
      </p:sp>
      <p:sp>
        <p:nvSpPr>
          <p:cNvPr id="19" name="文本占位符 149">
            <a:extLst>
              <a:ext uri="{FF2B5EF4-FFF2-40B4-BE49-F238E27FC236}">
                <a16:creationId xmlns:a16="http://schemas.microsoft.com/office/drawing/2014/main" id="{C675C3F0-D453-5EE8-2357-A0BD0B3164C1}"/>
              </a:ext>
            </a:extLst>
          </p:cNvPr>
          <p:cNvSpPr txBox="1">
            <a:spLocks/>
          </p:cNvSpPr>
          <p:nvPr/>
        </p:nvSpPr>
        <p:spPr>
          <a:xfrm>
            <a:off x="-8420" y="803787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实验分析：对比实验与消融实验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C79210-8669-2E17-1963-854E69F20DB2}"/>
              </a:ext>
            </a:extLst>
          </p:cNvPr>
          <p:cNvSpPr/>
          <p:nvPr/>
        </p:nvSpPr>
        <p:spPr>
          <a:xfrm>
            <a:off x="1227551" y="6415081"/>
            <a:ext cx="9482336" cy="297433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86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 rot="6673339">
            <a:off x="6418762" y="4056463"/>
            <a:ext cx="9451121" cy="14502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 rot="6673339">
            <a:off x="7204094" y="3678561"/>
            <a:ext cx="9451121" cy="1329648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prstClr val="white"/>
                </a:solidFill>
              </a:ln>
              <a:solidFill>
                <a:srgbClr val="82318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圆角矩形 45"/>
          <p:cNvSpPr/>
          <p:nvPr/>
        </p:nvSpPr>
        <p:spPr>
          <a:xfrm>
            <a:off x="7913641" y="1602744"/>
            <a:ext cx="3983926" cy="2190110"/>
          </a:xfrm>
          <a:prstGeom prst="roundRect">
            <a:avLst>
              <a:gd name="adj" fmla="val 5048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" name="圆角矩形 45"/>
          <p:cNvSpPr/>
          <p:nvPr/>
        </p:nvSpPr>
        <p:spPr>
          <a:xfrm>
            <a:off x="3800024" y="3921439"/>
            <a:ext cx="3983926" cy="2190110"/>
          </a:xfrm>
          <a:prstGeom prst="roundRect">
            <a:avLst>
              <a:gd name="adj" fmla="val 5048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6" name="圆角矩形 45"/>
          <p:cNvSpPr/>
          <p:nvPr/>
        </p:nvSpPr>
        <p:spPr>
          <a:xfrm>
            <a:off x="7913641" y="3921439"/>
            <a:ext cx="3983926" cy="2190110"/>
          </a:xfrm>
          <a:prstGeom prst="roundRect">
            <a:avLst>
              <a:gd name="adj" fmla="val 5048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5.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C9A92-4EDF-46AE-8BC5-DFCEA23344BC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9" name="圆角矩形 45"/>
          <p:cNvSpPr/>
          <p:nvPr/>
        </p:nvSpPr>
        <p:spPr>
          <a:xfrm>
            <a:off x="3800024" y="1602744"/>
            <a:ext cx="3983926" cy="2190110"/>
          </a:xfrm>
          <a:prstGeom prst="roundRect">
            <a:avLst>
              <a:gd name="adj" fmla="val 5048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7" name="圆角矩形 6"/>
          <p:cNvSpPr/>
          <p:nvPr/>
        </p:nvSpPr>
        <p:spPr>
          <a:xfrm>
            <a:off x="329534" y="4842281"/>
            <a:ext cx="3182670" cy="1269268"/>
          </a:xfrm>
          <a:prstGeom prst="roundRect">
            <a:avLst>
              <a:gd name="adj" fmla="val 10929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latin typeface="+mn-ea"/>
              <a:sym typeface="+mn-ea"/>
            </a:endParaRPr>
          </a:p>
        </p:txBody>
      </p:sp>
      <p:sp>
        <p:nvSpPr>
          <p:cNvPr id="28" name="圆角矩形 43"/>
          <p:cNvSpPr/>
          <p:nvPr/>
        </p:nvSpPr>
        <p:spPr>
          <a:xfrm>
            <a:off x="319428" y="1602744"/>
            <a:ext cx="3203556" cy="3681984"/>
          </a:xfrm>
          <a:prstGeom prst="roundRect">
            <a:avLst>
              <a:gd name="adj" fmla="val 5048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schemeClr val="accent1">
                <a:alpha val="2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9" name="文本框 23"/>
          <p:cNvSpPr txBox="1"/>
          <p:nvPr/>
        </p:nvSpPr>
        <p:spPr>
          <a:xfrm>
            <a:off x="556192" y="2307112"/>
            <a:ext cx="2729353" cy="2397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zh-CN" sz="1400" dirty="0"/>
              <a:t>本文以 LangGraph 为编排核心、MCP 统一接入异构工具，结合双层 RAG 与混合启发式算法，实现端到端可执行行程生成；</a:t>
            </a:r>
            <a:endParaRPr lang="en-US" altLang="zh-CN" sz="1400" dirty="0"/>
          </a:p>
          <a:p>
            <a:pPr algn="just">
              <a:lnSpc>
                <a:spcPct val="120000"/>
              </a:lnSpc>
            </a:pPr>
            <a:endParaRPr lang="en-US" altLang="zh-CN" sz="1400" dirty="0"/>
          </a:p>
          <a:p>
            <a:pPr algn="just">
              <a:lnSpc>
                <a:spcPct val="120000"/>
              </a:lnSpc>
            </a:pPr>
            <a:r>
              <a:rPr lang="zh-CN" altLang="zh-CN" sz="1400" dirty="0"/>
              <a:t>在 12 条评测集上，POI 有效率、信息真实性、时段合规等关键指标较纯 LLM 基线呈数量级提升，并支持跨会话个性化。</a:t>
            </a:r>
            <a:endParaRPr lang="zh-CN" altLang="en-US" sz="1400" dirty="0">
              <a:latin typeface="+mn-ea"/>
              <a:cs typeface="OPPOSans M" panose="00020600040101010101" charset="-122"/>
            </a:endParaRPr>
          </a:p>
        </p:txBody>
      </p:sp>
      <p:sp>
        <p:nvSpPr>
          <p:cNvPr id="56" name="文本框 24"/>
          <p:cNvSpPr txBox="1"/>
          <p:nvPr/>
        </p:nvSpPr>
        <p:spPr>
          <a:xfrm>
            <a:off x="589591" y="1870978"/>
            <a:ext cx="2139746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  <a:sym typeface="+mn-ea"/>
              </a:rPr>
              <a:t>论文结论与总结</a:t>
            </a:r>
          </a:p>
        </p:txBody>
      </p:sp>
      <p:sp>
        <p:nvSpPr>
          <p:cNvPr id="31" name="文本框 29"/>
          <p:cNvSpPr txBox="1"/>
          <p:nvPr/>
        </p:nvSpPr>
        <p:spPr>
          <a:xfrm>
            <a:off x="389705" y="5552962"/>
            <a:ext cx="3122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zh-CN" sz="1400" b="1" dirty="0">
                <a:solidFill>
                  <a:schemeClr val="bg1"/>
                </a:solidFill>
              </a:rPr>
              <a:t>旅行规划智能体 / LangGraph / MCP</a:t>
            </a:r>
            <a:endParaRPr lang="zh-CN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3" name="文本框 33"/>
          <p:cNvSpPr txBox="1"/>
          <p:nvPr/>
        </p:nvSpPr>
        <p:spPr>
          <a:xfrm>
            <a:off x="4246563" y="2455083"/>
            <a:ext cx="3334258" cy="1071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6000"/>
              </a:lnSpc>
            </a:pPr>
            <a:r>
              <a:rPr lang="en-US" altLang="zh-CN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</a:t>
            </a:r>
            <a:r>
              <a:rPr lang="en-US" altLang="zh-CN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LangGraph</a:t>
            </a:r>
            <a:r>
              <a:rPr lang="en-US" altLang="zh-CN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altLang="zh-CN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有向回环状态图建模旅行规划，条件路由分支、并行扇出降延迟、局部重试回环就近恢复，提升长链路任务可控性与可观测性</a:t>
            </a:r>
            <a:r>
              <a:rPr lang="en-US" altLang="zh-CN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altLang="zh-CN" sz="1400" dirty="0"/>
          </a:p>
        </p:txBody>
      </p:sp>
      <p:sp>
        <p:nvSpPr>
          <p:cNvPr id="39" name="文本框 34"/>
          <p:cNvSpPr txBox="1"/>
          <p:nvPr/>
        </p:nvSpPr>
        <p:spPr>
          <a:xfrm>
            <a:off x="4836137" y="1887513"/>
            <a:ext cx="2744684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err="1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基于状态图的工作流编排</a:t>
            </a:r>
            <a:endParaRPr lang="en-US" altLang="zh-CN" dirty="0"/>
          </a:p>
        </p:txBody>
      </p:sp>
      <p:sp>
        <p:nvSpPr>
          <p:cNvPr id="40" name="文本框 35"/>
          <p:cNvSpPr txBox="1"/>
          <p:nvPr/>
        </p:nvSpPr>
        <p:spPr>
          <a:xfrm>
            <a:off x="4246563" y="4831849"/>
            <a:ext cx="3334258" cy="1071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6000"/>
              </a:lnSpc>
            </a:pPr>
            <a:r>
              <a:rPr lang="en-US" altLang="zh-CN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大模型负责语义理解、双层</a:t>
            </a:r>
            <a:r>
              <a:rPr lang="en-US" altLang="zh-CN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RAG </a:t>
            </a:r>
            <a:r>
              <a:rPr lang="en-US" altLang="zh-CN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注入领域事实、传统算法完成空间优化、MCP</a:t>
            </a:r>
            <a:r>
              <a:rPr lang="en-US" altLang="zh-CN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altLang="zh-CN" sz="1400" dirty="0" err="1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获取实时数据，使语义理解与精确计算各司其职、相互补充</a:t>
            </a:r>
            <a:r>
              <a:rPr lang="en-US" altLang="zh-CN" sz="14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altLang="zh-CN" sz="1400" dirty="0"/>
          </a:p>
        </p:txBody>
      </p:sp>
      <p:sp>
        <p:nvSpPr>
          <p:cNvPr id="41" name="文本框 36"/>
          <p:cNvSpPr txBox="1"/>
          <p:nvPr/>
        </p:nvSpPr>
        <p:spPr>
          <a:xfrm>
            <a:off x="4836137" y="4264280"/>
            <a:ext cx="2519726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err="1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分层协同的求解架构</a:t>
            </a:r>
            <a:endParaRPr lang="en-US" altLang="zh-CN" dirty="0"/>
          </a:p>
        </p:txBody>
      </p:sp>
      <p:sp>
        <p:nvSpPr>
          <p:cNvPr id="43" name="文本框 40"/>
          <p:cNvSpPr txBox="1"/>
          <p:nvPr/>
        </p:nvSpPr>
        <p:spPr>
          <a:xfrm>
            <a:off x="8369751" y="2486192"/>
            <a:ext cx="3334258" cy="11045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400" dirty="0">
                <a:latin typeface="+mn-ea"/>
                <a:cs typeface="OPPOSans M" panose="00020600040101010101" charset="-122"/>
              </a:rPr>
              <a:t>以模型无关的 </a:t>
            </a:r>
            <a:r>
              <a:rPr lang="en-US" altLang="zh-CN" sz="1400" dirty="0">
                <a:latin typeface="+mn-ea"/>
                <a:cs typeface="OPPOSans M" panose="00020600040101010101" charset="-122"/>
              </a:rPr>
              <a:t>MCP </a:t>
            </a:r>
            <a:r>
              <a:rPr lang="zh-CN" altLang="en-US" sz="1400" dirty="0">
                <a:latin typeface="+mn-ea"/>
                <a:cs typeface="OPPOSans M" panose="00020600040101010101" charset="-122"/>
              </a:rPr>
              <a:t>协议为统一抽象层，适配 </a:t>
            </a:r>
            <a:r>
              <a:rPr lang="en-US" altLang="zh-CN" sz="1400" dirty="0">
                <a:latin typeface="+mn-ea"/>
                <a:cs typeface="OPPOSans M" panose="00020600040101010101" charset="-122"/>
              </a:rPr>
              <a:t>SSE / STDIO </a:t>
            </a:r>
            <a:r>
              <a:rPr lang="zh-CN" altLang="en-US" sz="1400" dirty="0">
                <a:latin typeface="+mn-ea"/>
                <a:cs typeface="OPPOSans M" panose="00020600040101010101" charset="-122"/>
              </a:rPr>
              <a:t>双传输，叠加字段裁剪、请求重试与熔断降级，兼顾实时性与生产环境鲁棒性。</a:t>
            </a:r>
          </a:p>
        </p:txBody>
      </p:sp>
      <p:sp>
        <p:nvSpPr>
          <p:cNvPr id="44" name="文本框 41"/>
          <p:cNvSpPr txBox="1"/>
          <p:nvPr/>
        </p:nvSpPr>
        <p:spPr>
          <a:xfrm>
            <a:off x="9077235" y="1881888"/>
            <a:ext cx="272964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err="1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协议化与容错的工具集成</a:t>
            </a:r>
            <a:endParaRPr lang="en-US" altLang="zh-CN" dirty="0"/>
          </a:p>
        </p:txBody>
      </p:sp>
      <p:sp>
        <p:nvSpPr>
          <p:cNvPr id="45" name="文本框 42"/>
          <p:cNvSpPr txBox="1"/>
          <p:nvPr/>
        </p:nvSpPr>
        <p:spPr>
          <a:xfrm>
            <a:off x="8369751" y="4862959"/>
            <a:ext cx="3334258" cy="11045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en-US" sz="1400" dirty="0">
                <a:latin typeface="+mn-ea"/>
                <a:cs typeface="OPPOSans M" panose="00020600040101010101" charset="-122"/>
              </a:rPr>
              <a:t>结构化必去清单 </a:t>
            </a:r>
            <a:r>
              <a:rPr lang="en-US" altLang="zh-CN" sz="1400" dirty="0">
                <a:latin typeface="+mn-ea"/>
                <a:cs typeface="OPPOSans M" panose="00020600040101010101" charset="-122"/>
              </a:rPr>
              <a:t>+ </a:t>
            </a:r>
            <a:r>
              <a:rPr lang="zh-CN" altLang="en-US" sz="1400" dirty="0">
                <a:latin typeface="+mn-ea"/>
                <a:cs typeface="OPPOSans M" panose="00020600040101010101" charset="-122"/>
              </a:rPr>
              <a:t>长尾攻略双层检索并辅以种子桥接；短长期记忆分离，偏好抽取合并入意图识别，零额外调用实现跨会话个性化。</a:t>
            </a:r>
          </a:p>
        </p:txBody>
      </p:sp>
      <p:sp>
        <p:nvSpPr>
          <p:cNvPr id="46" name="文本框 44"/>
          <p:cNvSpPr txBox="1"/>
          <p:nvPr/>
        </p:nvSpPr>
        <p:spPr>
          <a:xfrm>
            <a:off x="9066290" y="4261108"/>
            <a:ext cx="2793516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 err="1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领域知识增强与偏好管理</a:t>
            </a:r>
            <a:endParaRPr lang="en-US" altLang="zh-CN" dirty="0"/>
          </a:p>
        </p:txBody>
      </p:sp>
      <p:sp>
        <p:nvSpPr>
          <p:cNvPr id="47" name="文本框 47"/>
          <p:cNvSpPr txBox="1"/>
          <p:nvPr/>
        </p:nvSpPr>
        <p:spPr>
          <a:xfrm>
            <a:off x="4205607" y="1747341"/>
            <a:ext cx="1005196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>
                <a:ln>
                  <a:solidFill>
                    <a:schemeClr val="accent1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+mj-ea"/>
                <a:ea typeface="+mj-ea"/>
                <a:sym typeface="+mn-ea"/>
              </a:rPr>
              <a:t>01</a:t>
            </a:r>
          </a:p>
        </p:txBody>
      </p:sp>
      <p:sp>
        <p:nvSpPr>
          <p:cNvPr id="48" name="文本框 48"/>
          <p:cNvSpPr txBox="1"/>
          <p:nvPr/>
        </p:nvSpPr>
        <p:spPr>
          <a:xfrm>
            <a:off x="8461471" y="1768080"/>
            <a:ext cx="1005196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>
                <a:ln>
                  <a:solidFill>
                    <a:schemeClr val="accent1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+mj-ea"/>
                <a:ea typeface="+mj-ea"/>
                <a:sym typeface="+mn-ea"/>
              </a:rPr>
              <a:t>02</a:t>
            </a:r>
          </a:p>
        </p:txBody>
      </p:sp>
      <p:sp>
        <p:nvSpPr>
          <p:cNvPr id="49" name="文本框 49"/>
          <p:cNvSpPr txBox="1"/>
          <p:nvPr/>
        </p:nvSpPr>
        <p:spPr>
          <a:xfrm>
            <a:off x="4205607" y="4101294"/>
            <a:ext cx="1005196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>
                <a:ln>
                  <a:solidFill>
                    <a:schemeClr val="accent1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+mj-ea"/>
                <a:ea typeface="+mj-ea"/>
                <a:sym typeface="+mn-ea"/>
              </a:rPr>
              <a:t>03</a:t>
            </a:r>
          </a:p>
        </p:txBody>
      </p:sp>
      <p:sp>
        <p:nvSpPr>
          <p:cNvPr id="50" name="文本框 51"/>
          <p:cNvSpPr txBox="1"/>
          <p:nvPr/>
        </p:nvSpPr>
        <p:spPr>
          <a:xfrm>
            <a:off x="8461471" y="4122033"/>
            <a:ext cx="1005196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>
                <a:ln>
                  <a:solidFill>
                    <a:schemeClr val="accent1"/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+mj-ea"/>
                <a:ea typeface="+mj-ea"/>
                <a:sym typeface="+mn-ea"/>
              </a:rPr>
              <a:t>04</a:t>
            </a:r>
          </a:p>
        </p:txBody>
      </p:sp>
      <p:sp>
        <p:nvSpPr>
          <p:cNvPr id="8" name="圆角矩形 31">
            <a:extLst>
              <a:ext uri="{FF2B5EF4-FFF2-40B4-BE49-F238E27FC236}">
                <a16:creationId xmlns:a16="http://schemas.microsoft.com/office/drawing/2014/main" id="{12769EEB-EB2A-2AFE-810A-B43D51B93FBC}"/>
              </a:ext>
            </a:extLst>
          </p:cNvPr>
          <p:cNvSpPr/>
          <p:nvPr/>
        </p:nvSpPr>
        <p:spPr>
          <a:xfrm rot="5400000">
            <a:off x="3084351" y="4936912"/>
            <a:ext cx="1908000" cy="18000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57300">
                <a:schemeClr val="accent2"/>
              </a:gs>
              <a:gs pos="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0" name="圆角矩形 32">
            <a:extLst>
              <a:ext uri="{FF2B5EF4-FFF2-40B4-BE49-F238E27FC236}">
                <a16:creationId xmlns:a16="http://schemas.microsoft.com/office/drawing/2014/main" id="{9B0F1C53-81FB-C993-8CB2-084B77DD502F}"/>
              </a:ext>
            </a:extLst>
          </p:cNvPr>
          <p:cNvSpPr/>
          <p:nvPr/>
        </p:nvSpPr>
        <p:spPr>
          <a:xfrm rot="5400000">
            <a:off x="3084351" y="2547702"/>
            <a:ext cx="1908000" cy="18000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57300">
                <a:schemeClr val="accent2"/>
              </a:gs>
              <a:gs pos="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" name="圆角矩形 38">
            <a:extLst>
              <a:ext uri="{FF2B5EF4-FFF2-40B4-BE49-F238E27FC236}">
                <a16:creationId xmlns:a16="http://schemas.microsoft.com/office/drawing/2014/main" id="{A9AF32B0-913F-DB60-DB26-979C427A8478}"/>
              </a:ext>
            </a:extLst>
          </p:cNvPr>
          <p:cNvSpPr/>
          <p:nvPr/>
        </p:nvSpPr>
        <p:spPr>
          <a:xfrm rot="5400000">
            <a:off x="7207540" y="4968022"/>
            <a:ext cx="1908000" cy="18000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57300">
                <a:schemeClr val="accent2"/>
              </a:gs>
              <a:gs pos="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2" name="圆角矩形 39">
            <a:extLst>
              <a:ext uri="{FF2B5EF4-FFF2-40B4-BE49-F238E27FC236}">
                <a16:creationId xmlns:a16="http://schemas.microsoft.com/office/drawing/2014/main" id="{7BCE78A0-B3B5-1128-E8B8-3BCD7967A79F}"/>
              </a:ext>
            </a:extLst>
          </p:cNvPr>
          <p:cNvSpPr/>
          <p:nvPr/>
        </p:nvSpPr>
        <p:spPr>
          <a:xfrm rot="5400000">
            <a:off x="7207540" y="2578811"/>
            <a:ext cx="1908000" cy="18000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>
                  <a:alpha val="0"/>
                </a:schemeClr>
              </a:gs>
              <a:gs pos="57300">
                <a:schemeClr val="accent2"/>
              </a:gs>
              <a:gs pos="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5" name="文本占位符 33">
            <a:extLst>
              <a:ext uri="{FF2B5EF4-FFF2-40B4-BE49-F238E27FC236}">
                <a16:creationId xmlns:a16="http://schemas.microsoft.com/office/drawing/2014/main" id="{6B09E932-E2F8-F0E3-F2E6-8EF698EF98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26" name="文本占位符 34">
            <a:extLst>
              <a:ext uri="{FF2B5EF4-FFF2-40B4-BE49-F238E27FC236}">
                <a16:creationId xmlns:a16="http://schemas.microsoft.com/office/drawing/2014/main" id="{909404FE-B53F-45A1-F778-2BEC3B4937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30" name="文本占位符 35">
            <a:extLst>
              <a:ext uri="{FF2B5EF4-FFF2-40B4-BE49-F238E27FC236}">
                <a16:creationId xmlns:a16="http://schemas.microsoft.com/office/drawing/2014/main" id="{AEE2923E-56C3-4FDB-80F1-03A920C392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32" name="文本占位符 36">
            <a:extLst>
              <a:ext uri="{FF2B5EF4-FFF2-40B4-BE49-F238E27FC236}">
                <a16:creationId xmlns:a16="http://schemas.microsoft.com/office/drawing/2014/main" id="{A58D8B11-4A5D-426D-F507-319754059D9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2" name="文本占位符 37">
            <a:extLst>
              <a:ext uri="{FF2B5EF4-FFF2-40B4-BE49-F238E27FC236}">
                <a16:creationId xmlns:a16="http://schemas.microsoft.com/office/drawing/2014/main" id="{44FB4B33-5160-9219-6AC5-70D239333B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sp>
        <p:nvSpPr>
          <p:cNvPr id="54" name="文本占位符 149">
            <a:extLst>
              <a:ext uri="{FF2B5EF4-FFF2-40B4-BE49-F238E27FC236}">
                <a16:creationId xmlns:a16="http://schemas.microsoft.com/office/drawing/2014/main" id="{D8BF9CBF-B0D9-D3B1-6849-C165B8ACE585}"/>
              </a:ext>
            </a:extLst>
          </p:cNvPr>
          <p:cNvSpPr txBox="1">
            <a:spLocks/>
          </p:cNvSpPr>
          <p:nvPr/>
        </p:nvSpPr>
        <p:spPr>
          <a:xfrm>
            <a:off x="-8420" y="803787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设计特色与创新点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5DC61-B9C5-54DD-0930-A6C320D8C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4B4A7493-E409-0F15-FC4F-A0BF87819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5. 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25" name="文本占位符 33">
            <a:extLst>
              <a:ext uri="{FF2B5EF4-FFF2-40B4-BE49-F238E27FC236}">
                <a16:creationId xmlns:a16="http://schemas.microsoft.com/office/drawing/2014/main" id="{52AD2DAF-F1C8-D1C5-D429-F1D8E52FB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35431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背景和意义</a:t>
            </a:r>
          </a:p>
        </p:txBody>
      </p:sp>
      <p:sp>
        <p:nvSpPr>
          <p:cNvPr id="26" name="文本占位符 34">
            <a:extLst>
              <a:ext uri="{FF2B5EF4-FFF2-40B4-BE49-F238E27FC236}">
                <a16:creationId xmlns:a16="http://schemas.microsoft.com/office/drawing/2014/main" id="{BDC7E64C-CBB0-5BAD-C08A-F5A31C29BF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04045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技术基础</a:t>
            </a:r>
          </a:p>
        </p:txBody>
      </p:sp>
      <p:sp>
        <p:nvSpPr>
          <p:cNvPr id="30" name="文本占位符 35">
            <a:extLst>
              <a:ext uri="{FF2B5EF4-FFF2-40B4-BE49-F238E27FC236}">
                <a16:creationId xmlns:a16="http://schemas.microsoft.com/office/drawing/2014/main" id="{63EA50C7-8C59-0F85-3A94-506D9DBC64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72659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研究内容</a:t>
            </a:r>
          </a:p>
        </p:txBody>
      </p:sp>
      <p:sp>
        <p:nvSpPr>
          <p:cNvPr id="32" name="文本占位符 36">
            <a:extLst>
              <a:ext uri="{FF2B5EF4-FFF2-40B4-BE49-F238E27FC236}">
                <a16:creationId xmlns:a16="http://schemas.microsoft.com/office/drawing/2014/main" id="{C6B19F54-0CAE-E36A-0C84-0CE26B2258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41273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实验分析</a:t>
            </a:r>
          </a:p>
        </p:txBody>
      </p:sp>
      <p:sp>
        <p:nvSpPr>
          <p:cNvPr id="42" name="文本占位符 37">
            <a:extLst>
              <a:ext uri="{FF2B5EF4-FFF2-40B4-BE49-F238E27FC236}">
                <a16:creationId xmlns:a16="http://schemas.microsoft.com/office/drawing/2014/main" id="{5BDAB720-1526-04F8-F7DD-193E67934D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709887" y="228798"/>
            <a:ext cx="1194772" cy="356991"/>
          </a:xfrm>
        </p:spPr>
        <p:txBody>
          <a:bodyPr>
            <a:normAutofit/>
          </a:bodyPr>
          <a:lstStyle/>
          <a:p>
            <a:r>
              <a:rPr lang="zh-CN" altLang="en-US" dirty="0"/>
              <a:t>结论与展望</a:t>
            </a:r>
          </a:p>
        </p:txBody>
      </p:sp>
      <p:sp>
        <p:nvSpPr>
          <p:cNvPr id="54" name="文本占位符 149">
            <a:extLst>
              <a:ext uri="{FF2B5EF4-FFF2-40B4-BE49-F238E27FC236}">
                <a16:creationId xmlns:a16="http://schemas.microsoft.com/office/drawing/2014/main" id="{8F564408-B99A-B27A-1B36-1C6752DAD54E}"/>
              </a:ext>
            </a:extLst>
          </p:cNvPr>
          <p:cNvSpPr txBox="1">
            <a:spLocks/>
          </p:cNvSpPr>
          <p:nvPr/>
        </p:nvSpPr>
        <p:spPr>
          <a:xfrm>
            <a:off x="-8420" y="803787"/>
            <a:ext cx="11775311" cy="45707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 sz="2800" kern="120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设计特色与创新点</a:t>
            </a: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72B40A92-BD81-145A-4EC4-DDEEBACBC774}"/>
              </a:ext>
            </a:extLst>
          </p:cNvPr>
          <p:cNvSpPr/>
          <p:nvPr/>
        </p:nvSpPr>
        <p:spPr>
          <a:xfrm>
            <a:off x="566928" y="160020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7DBEC6CC-F837-536A-C3D4-7FA484E82A5F}"/>
              </a:ext>
            </a:extLst>
          </p:cNvPr>
          <p:cNvSpPr/>
          <p:nvPr/>
        </p:nvSpPr>
        <p:spPr>
          <a:xfrm>
            <a:off x="777240" y="1847088"/>
            <a:ext cx="603504" cy="60350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C598E46-304B-2553-D171-F8ECBE48368E}"/>
              </a:ext>
            </a:extLst>
          </p:cNvPr>
          <p:cNvSpPr/>
          <p:nvPr/>
        </p:nvSpPr>
        <p:spPr>
          <a:xfrm>
            <a:off x="777240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D8AF3C5-8F62-86F3-EDEC-56B93296698C}"/>
              </a:ext>
            </a:extLst>
          </p:cNvPr>
          <p:cNvSpPr/>
          <p:nvPr/>
        </p:nvSpPr>
        <p:spPr>
          <a:xfrm>
            <a:off x="1554480" y="1746504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数据源覆盖与动态性</a:t>
            </a:r>
            <a:endParaRPr lang="en-US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F2BF856F-E1DB-01C2-490A-4C9EEA15FC13}"/>
              </a:ext>
            </a:extLst>
          </p:cNvPr>
          <p:cNvSpPr/>
          <p:nvPr/>
        </p:nvSpPr>
        <p:spPr>
          <a:xfrm>
            <a:off x="4405745" y="1709928"/>
            <a:ext cx="7069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</a:t>
            </a:r>
            <a:r>
              <a:rPr lang="en-US" sz="1400" b="1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</a:t>
            </a:r>
            <a:r>
              <a:rPr lang="en-US" sz="140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当前以国内服务为主，未覆盖跨境机票、国际酒店与签证政策；缺乏对客流、临时闭馆、天气等分钟级变化的感知。</a:t>
            </a:r>
            <a:endParaRPr lang="en-US" sz="14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2780DFDC-3FD0-D213-FCFE-D5ACCCA6A85C}"/>
              </a:ext>
            </a:extLst>
          </p:cNvPr>
          <p:cNvSpPr/>
          <p:nvPr/>
        </p:nvSpPr>
        <p:spPr>
          <a:xfrm>
            <a:off x="4405745" y="2203704"/>
            <a:ext cx="70699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D8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</a:t>
            </a:r>
            <a:r>
              <a:rPr lang="en-US" sz="1400" b="1" dirty="0">
                <a:solidFill>
                  <a:srgbClr val="DD8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</a:t>
            </a:r>
            <a:r>
              <a:rPr lang="en-US" sz="140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借助 MCP 可插拔特性接入国际化数据源，引入事件触发的行程动态调整机制。</a:t>
            </a:r>
            <a:endParaRPr lang="en-US" sz="14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AC948054-F57C-E65D-D965-A199D11FCDD4}"/>
              </a:ext>
            </a:extLst>
          </p:cNvPr>
          <p:cNvSpPr/>
          <p:nvPr/>
        </p:nvSpPr>
        <p:spPr>
          <a:xfrm>
            <a:off x="566928" y="2825496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0EAAD5A1-B3FC-AEF3-D00D-A67E21D665AB}"/>
              </a:ext>
            </a:extLst>
          </p:cNvPr>
          <p:cNvSpPr/>
          <p:nvPr/>
        </p:nvSpPr>
        <p:spPr>
          <a:xfrm>
            <a:off x="777240" y="3072384"/>
            <a:ext cx="603504" cy="60350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18E1EF79-F3FC-A494-C224-616ABC822C4A}"/>
              </a:ext>
            </a:extLst>
          </p:cNvPr>
          <p:cNvSpPr/>
          <p:nvPr/>
        </p:nvSpPr>
        <p:spPr>
          <a:xfrm>
            <a:off x="777240" y="30723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BC4CBA10-E144-CE16-308D-47A3E2A25A5B}"/>
              </a:ext>
            </a:extLst>
          </p:cNvPr>
          <p:cNvSpPr/>
          <p:nvPr/>
        </p:nvSpPr>
        <p:spPr>
          <a:xfrm>
            <a:off x="1554480" y="2971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交互方式与体验</a:t>
            </a:r>
            <a:endParaRPr lang="en-US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803DBC1E-BAD5-F28A-5429-F0C3BE6BA841}"/>
              </a:ext>
            </a:extLst>
          </p:cNvPr>
          <p:cNvSpPr/>
          <p:nvPr/>
        </p:nvSpPr>
        <p:spPr>
          <a:xfrm>
            <a:off x="4405745" y="2935224"/>
            <a:ext cx="7069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</a:t>
            </a:r>
            <a:r>
              <a:rPr lang="en-US" sz="1400" b="1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</a:t>
            </a:r>
            <a:r>
              <a:rPr lang="en-US" sz="140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目前以文本交互为主，难以适应移动、车载等场景的使用需求。</a:t>
            </a:r>
            <a:endParaRPr lang="en-US" sz="1400" dirty="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63CF9042-A4E9-728C-D225-6C19E1F72677}"/>
              </a:ext>
            </a:extLst>
          </p:cNvPr>
          <p:cNvSpPr/>
          <p:nvPr/>
        </p:nvSpPr>
        <p:spPr>
          <a:xfrm>
            <a:off x="4405745" y="3429000"/>
            <a:ext cx="70699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D8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</a:t>
            </a:r>
            <a:r>
              <a:rPr lang="en-US" sz="1400" b="1" dirty="0">
                <a:solidFill>
                  <a:srgbClr val="DD8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</a:t>
            </a:r>
            <a:r>
              <a:rPr lang="en-US" sz="140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引入多模态大模型，支持图片、语音乃至短视频表达偏好，降低操作成本。</a:t>
            </a:r>
            <a:endParaRPr lang="en-US" sz="14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F6DFD20E-8D14-0C70-2773-DD4EB88983CE}"/>
              </a:ext>
            </a:extLst>
          </p:cNvPr>
          <p:cNvSpPr/>
          <p:nvPr/>
        </p:nvSpPr>
        <p:spPr>
          <a:xfrm>
            <a:off x="566928" y="4050792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C559E8AB-96D0-64C7-A9D5-1E903FF95818}"/>
              </a:ext>
            </a:extLst>
          </p:cNvPr>
          <p:cNvSpPr/>
          <p:nvPr/>
        </p:nvSpPr>
        <p:spPr>
          <a:xfrm>
            <a:off x="777240" y="4297680"/>
            <a:ext cx="603504" cy="60350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2C2CF5A1-791C-0251-9E93-194600AA3790}"/>
              </a:ext>
            </a:extLst>
          </p:cNvPr>
          <p:cNvSpPr/>
          <p:nvPr/>
        </p:nvSpPr>
        <p:spPr>
          <a:xfrm>
            <a:off x="777240" y="42976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40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4114B0B2-F20F-971B-C464-BF4A7F2DCBF1}"/>
              </a:ext>
            </a:extLst>
          </p:cNvPr>
          <p:cNvSpPr/>
          <p:nvPr/>
        </p:nvSpPr>
        <p:spPr>
          <a:xfrm>
            <a:off x="1554480" y="4197096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评测体系与用户研究</a:t>
            </a:r>
            <a:endParaRPr lang="en-US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C6D37BDF-88FD-65A8-C04F-59D6612D20E2}"/>
              </a:ext>
            </a:extLst>
          </p:cNvPr>
          <p:cNvSpPr/>
          <p:nvPr/>
        </p:nvSpPr>
        <p:spPr>
          <a:xfrm>
            <a:off x="4405745" y="4160520"/>
            <a:ext cx="7069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　</a:t>
            </a:r>
            <a:r>
              <a:rPr lang="en-US" sz="160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评测集规模有限，尚未在真实用户群体开展可用性与 A/B 测试。</a:t>
            </a:r>
            <a:endParaRPr lang="en-US" sz="1600" dirty="0"/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4D855D7C-9646-CC3B-1F2C-30879A2EA7D9}"/>
              </a:ext>
            </a:extLst>
          </p:cNvPr>
          <p:cNvSpPr/>
          <p:nvPr/>
        </p:nvSpPr>
        <p:spPr>
          <a:xfrm>
            <a:off x="4405745" y="4654296"/>
            <a:ext cx="70699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D8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</a:t>
            </a:r>
            <a:r>
              <a:rPr lang="en-US" sz="1400" b="1" dirty="0">
                <a:solidFill>
                  <a:srgbClr val="DD8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</a:t>
            </a:r>
            <a:r>
              <a:rPr lang="en-US" sz="140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 TravelPlanner、TripTailor 构建系统评测体系，补充人工满意度评估。</a:t>
            </a:r>
            <a:endParaRPr lang="en-US" sz="1400" dirty="0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1C123B95-3CFC-9144-9C0A-DC131CC01B66}"/>
              </a:ext>
            </a:extLst>
          </p:cNvPr>
          <p:cNvSpPr/>
          <p:nvPr/>
        </p:nvSpPr>
        <p:spPr>
          <a:xfrm>
            <a:off x="566928" y="5276088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88900" dist="25400" dir="5400000" algn="bl" rotWithShape="0">
              <a:srgbClr val="9FB3C0">
                <a:alpha val="18000"/>
              </a:srgbClr>
            </a:outerShdw>
          </a:effectLst>
        </p:spPr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D51F09F1-3DCB-0008-33B6-5920A6C1C9ED}"/>
              </a:ext>
            </a:extLst>
          </p:cNvPr>
          <p:cNvSpPr/>
          <p:nvPr/>
        </p:nvSpPr>
        <p:spPr>
          <a:xfrm>
            <a:off x="777240" y="5522976"/>
            <a:ext cx="603504" cy="60350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BDB55C35-37FE-554E-59C3-DB94815DF5AD}"/>
              </a:ext>
            </a:extLst>
          </p:cNvPr>
          <p:cNvSpPr/>
          <p:nvPr/>
        </p:nvSpPr>
        <p:spPr>
          <a:xfrm>
            <a:off x="777240" y="55229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400" dirty="0"/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4DAF6F8C-BF4A-7118-A076-6DE05C959DF3}"/>
              </a:ext>
            </a:extLst>
          </p:cNvPr>
          <p:cNvSpPr/>
          <p:nvPr/>
        </p:nvSpPr>
        <p:spPr>
          <a:xfrm>
            <a:off x="1554480" y="54223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F2C4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性能与部署形态</a:t>
            </a:r>
            <a:endParaRPr lang="en-US" dirty="0"/>
          </a:p>
        </p:txBody>
      </p:sp>
      <p:sp>
        <p:nvSpPr>
          <p:cNvPr id="59" name="Text 25">
            <a:extLst>
              <a:ext uri="{FF2B5EF4-FFF2-40B4-BE49-F238E27FC236}">
                <a16:creationId xmlns:a16="http://schemas.microsoft.com/office/drawing/2014/main" id="{014B260E-5FCB-F6A5-84D2-927CA5616A09}"/>
              </a:ext>
            </a:extLst>
          </p:cNvPr>
          <p:cNvSpPr/>
          <p:nvPr/>
        </p:nvSpPr>
        <p:spPr>
          <a:xfrm>
            <a:off x="4405745" y="5385816"/>
            <a:ext cx="70699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现状</a:t>
            </a:r>
            <a:r>
              <a:rPr lang="en-US" sz="1400" b="1" dirty="0">
                <a:solidFill>
                  <a:srgbClr val="66758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</a:t>
            </a:r>
            <a:r>
              <a:rPr lang="en-US" sz="140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单机原型、文件存储，难以支撑高并发，约 80s 时延仍有压缩空间。</a:t>
            </a:r>
            <a:endParaRPr lang="en-US" sz="1400" dirty="0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ABB87CFA-A060-E76D-7CA7-2355720FFB3C}"/>
              </a:ext>
            </a:extLst>
          </p:cNvPr>
          <p:cNvSpPr/>
          <p:nvPr/>
        </p:nvSpPr>
        <p:spPr>
          <a:xfrm>
            <a:off x="4405745" y="5879592"/>
            <a:ext cx="70699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D8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</a:t>
            </a:r>
            <a:r>
              <a:rPr lang="en-US" sz="1400" b="1" dirty="0">
                <a:solidFill>
                  <a:srgbClr val="DD8A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</a:t>
            </a:r>
            <a:r>
              <a:rPr lang="en-US" sz="1400" dirty="0">
                <a:solidFill>
                  <a:srgbClr val="1E2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改造为微服务架构，记忆迁移至数据库，引入异步队列与缓存提升吞吐。</a:t>
            </a:r>
            <a:endParaRPr lang="en-US" sz="1400" dirty="0"/>
          </a:p>
        </p:txBody>
      </p:sp>
      <p:sp>
        <p:nvSpPr>
          <p:cNvPr id="63" name="灯片编号占位符 2">
            <a:extLst>
              <a:ext uri="{FF2B5EF4-FFF2-40B4-BE49-F238E27FC236}">
                <a16:creationId xmlns:a16="http://schemas.microsoft.com/office/drawing/2014/main" id="{2C79390E-514D-F77F-DBDD-F3830769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1497" y="6464884"/>
            <a:ext cx="749938" cy="365125"/>
          </a:xfrm>
        </p:spPr>
        <p:txBody>
          <a:bodyPr/>
          <a:lstStyle/>
          <a:p>
            <a:fld id="{9E8C9A92-4EDF-46AE-8BC5-DFCEA23344BC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9162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BEB6A-2F31-4EE0-9F86-A08CDCDEF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D339AFB7-FDB0-34D5-E607-99D06E08769F}"/>
              </a:ext>
            </a:extLst>
          </p:cNvPr>
          <p:cNvGrpSpPr/>
          <p:nvPr/>
        </p:nvGrpSpPr>
        <p:grpSpPr>
          <a:xfrm>
            <a:off x="9980265" y="1718118"/>
            <a:ext cx="1861918" cy="638390"/>
            <a:chOff x="1892307" y="-1206499"/>
            <a:chExt cx="1274197" cy="436880"/>
          </a:xfr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  <a:tileRect/>
          </a:gradFill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9177F8E8-63AE-3713-50E1-A02624B81353}"/>
                </a:ext>
              </a:extLst>
            </p:cNvPr>
            <p:cNvGrpSpPr/>
            <p:nvPr/>
          </p:nvGrpSpPr>
          <p:grpSpPr>
            <a:xfrm>
              <a:off x="1892307" y="-1206499"/>
              <a:ext cx="598336" cy="436880"/>
              <a:chOff x="1892300" y="-1206500"/>
              <a:chExt cx="1320800" cy="964399"/>
            </a:xfrm>
            <a:grpFill/>
          </p:grpSpPr>
          <p:grpSp>
            <p:nvGrpSpPr>
              <p:cNvPr id="1097" name="组合 1096">
                <a:extLst>
                  <a:ext uri="{FF2B5EF4-FFF2-40B4-BE49-F238E27FC236}">
                    <a16:creationId xmlns:a16="http://schemas.microsoft.com/office/drawing/2014/main" id="{031C1D7C-294C-C3DE-08EA-A4003E0BB3CD}"/>
                  </a:ext>
                </a:extLst>
              </p:cNvPr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23" name="椭圆 1122">
                  <a:extLst>
                    <a:ext uri="{FF2B5EF4-FFF2-40B4-BE49-F238E27FC236}">
                      <a16:creationId xmlns:a16="http://schemas.microsoft.com/office/drawing/2014/main" id="{524957CD-E349-57E5-02A5-BB5F6DAEDD69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24" name="椭圆 1123">
                  <a:extLst>
                    <a:ext uri="{FF2B5EF4-FFF2-40B4-BE49-F238E27FC236}">
                      <a16:creationId xmlns:a16="http://schemas.microsoft.com/office/drawing/2014/main" id="{A52F6FB0-3AE3-1BD4-27B1-8DC0E84D57DB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25" name="椭圆 1124">
                  <a:extLst>
                    <a:ext uri="{FF2B5EF4-FFF2-40B4-BE49-F238E27FC236}">
                      <a16:creationId xmlns:a16="http://schemas.microsoft.com/office/drawing/2014/main" id="{B0F113BE-BF81-1C22-728F-47D1AC92CF6A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26" name="椭圆 1125">
                  <a:extLst>
                    <a:ext uri="{FF2B5EF4-FFF2-40B4-BE49-F238E27FC236}">
                      <a16:creationId xmlns:a16="http://schemas.microsoft.com/office/drawing/2014/main" id="{17D85596-3A87-DCC0-D769-2C3BB65956B4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  <p:grpSp>
            <p:nvGrpSpPr>
              <p:cNvPr id="1098" name="组合 1097">
                <a:extLst>
                  <a:ext uri="{FF2B5EF4-FFF2-40B4-BE49-F238E27FC236}">
                    <a16:creationId xmlns:a16="http://schemas.microsoft.com/office/drawing/2014/main" id="{AB392DA7-A64D-71C9-CF39-40FECF981B1C}"/>
                  </a:ext>
                </a:extLst>
              </p:cNvPr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19" name="椭圆 1118">
                  <a:extLst>
                    <a:ext uri="{FF2B5EF4-FFF2-40B4-BE49-F238E27FC236}">
                      <a16:creationId xmlns:a16="http://schemas.microsoft.com/office/drawing/2014/main" id="{D748A9EC-63A5-30BA-D8EE-C0A3838773A6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20" name="椭圆 1119">
                  <a:extLst>
                    <a:ext uri="{FF2B5EF4-FFF2-40B4-BE49-F238E27FC236}">
                      <a16:creationId xmlns:a16="http://schemas.microsoft.com/office/drawing/2014/main" id="{4ED1FDBE-D790-7F28-B60E-090F485A880C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21" name="椭圆 1120">
                  <a:extLst>
                    <a:ext uri="{FF2B5EF4-FFF2-40B4-BE49-F238E27FC236}">
                      <a16:creationId xmlns:a16="http://schemas.microsoft.com/office/drawing/2014/main" id="{0D197471-DA73-0265-8D37-C9AA9609FA34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22" name="椭圆 1121">
                  <a:extLst>
                    <a:ext uri="{FF2B5EF4-FFF2-40B4-BE49-F238E27FC236}">
                      <a16:creationId xmlns:a16="http://schemas.microsoft.com/office/drawing/2014/main" id="{767361CE-D588-D640-8648-D27ACCD53487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  <p:grpSp>
            <p:nvGrpSpPr>
              <p:cNvPr id="1099" name="组合 1098">
                <a:extLst>
                  <a:ext uri="{FF2B5EF4-FFF2-40B4-BE49-F238E27FC236}">
                    <a16:creationId xmlns:a16="http://schemas.microsoft.com/office/drawing/2014/main" id="{7FE15ACD-C250-EFA4-ECC6-8AC12031F108}"/>
                  </a:ext>
                </a:extLst>
              </p:cNvPr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15" name="椭圆 1114">
                  <a:extLst>
                    <a:ext uri="{FF2B5EF4-FFF2-40B4-BE49-F238E27FC236}">
                      <a16:creationId xmlns:a16="http://schemas.microsoft.com/office/drawing/2014/main" id="{BED1E4A9-6814-D2B9-6BE8-05A18BC9C2FE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16" name="椭圆 1115">
                  <a:extLst>
                    <a:ext uri="{FF2B5EF4-FFF2-40B4-BE49-F238E27FC236}">
                      <a16:creationId xmlns:a16="http://schemas.microsoft.com/office/drawing/2014/main" id="{752F62A8-5372-2303-AC3E-C77A4B51634F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17" name="椭圆 1116">
                  <a:extLst>
                    <a:ext uri="{FF2B5EF4-FFF2-40B4-BE49-F238E27FC236}">
                      <a16:creationId xmlns:a16="http://schemas.microsoft.com/office/drawing/2014/main" id="{43DDFB13-C825-BA3A-5B50-D3AE48599F33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18" name="椭圆 1117">
                  <a:extLst>
                    <a:ext uri="{FF2B5EF4-FFF2-40B4-BE49-F238E27FC236}">
                      <a16:creationId xmlns:a16="http://schemas.microsoft.com/office/drawing/2014/main" id="{7D6EEF4A-B62B-6212-C97D-10CFB2570146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  <p:grpSp>
            <p:nvGrpSpPr>
              <p:cNvPr id="1100" name="组合 1099">
                <a:extLst>
                  <a:ext uri="{FF2B5EF4-FFF2-40B4-BE49-F238E27FC236}">
                    <a16:creationId xmlns:a16="http://schemas.microsoft.com/office/drawing/2014/main" id="{294EDBA2-3ECB-F979-FDCE-CE49C6AC4973}"/>
                  </a:ext>
                </a:extLst>
              </p:cNvPr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11" name="椭圆 1110">
                  <a:extLst>
                    <a:ext uri="{FF2B5EF4-FFF2-40B4-BE49-F238E27FC236}">
                      <a16:creationId xmlns:a16="http://schemas.microsoft.com/office/drawing/2014/main" id="{223D0A6C-942D-A7A4-F395-A27C3DA53F11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12" name="椭圆 1111">
                  <a:extLst>
                    <a:ext uri="{FF2B5EF4-FFF2-40B4-BE49-F238E27FC236}">
                      <a16:creationId xmlns:a16="http://schemas.microsoft.com/office/drawing/2014/main" id="{0EE6D5F2-75A8-94BC-C751-646A0EDB420D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13" name="椭圆 1112">
                  <a:extLst>
                    <a:ext uri="{FF2B5EF4-FFF2-40B4-BE49-F238E27FC236}">
                      <a16:creationId xmlns:a16="http://schemas.microsoft.com/office/drawing/2014/main" id="{A0221956-3635-9697-0B0E-5165A5BDC447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14" name="椭圆 1113">
                  <a:extLst>
                    <a:ext uri="{FF2B5EF4-FFF2-40B4-BE49-F238E27FC236}">
                      <a16:creationId xmlns:a16="http://schemas.microsoft.com/office/drawing/2014/main" id="{3F067880-F270-9B15-0624-9140202FA747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  <p:grpSp>
            <p:nvGrpSpPr>
              <p:cNvPr id="1101" name="组合 1100">
                <a:extLst>
                  <a:ext uri="{FF2B5EF4-FFF2-40B4-BE49-F238E27FC236}">
                    <a16:creationId xmlns:a16="http://schemas.microsoft.com/office/drawing/2014/main" id="{048D2B77-086D-0E69-648B-8DD260B13023}"/>
                  </a:ext>
                </a:extLst>
              </p:cNvPr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07" name="椭圆 1106">
                  <a:extLst>
                    <a:ext uri="{FF2B5EF4-FFF2-40B4-BE49-F238E27FC236}">
                      <a16:creationId xmlns:a16="http://schemas.microsoft.com/office/drawing/2014/main" id="{C7BFC437-A591-64EB-7A3D-DCAEE365E0D5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08" name="椭圆 1107">
                  <a:extLst>
                    <a:ext uri="{FF2B5EF4-FFF2-40B4-BE49-F238E27FC236}">
                      <a16:creationId xmlns:a16="http://schemas.microsoft.com/office/drawing/2014/main" id="{825996AE-F89A-4EC1-6710-3CBAF0644406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09" name="椭圆 1108">
                  <a:extLst>
                    <a:ext uri="{FF2B5EF4-FFF2-40B4-BE49-F238E27FC236}">
                      <a16:creationId xmlns:a16="http://schemas.microsoft.com/office/drawing/2014/main" id="{FF0AA4AB-3F73-6AC8-B576-50782188CD52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10" name="椭圆 1109">
                  <a:extLst>
                    <a:ext uri="{FF2B5EF4-FFF2-40B4-BE49-F238E27FC236}">
                      <a16:creationId xmlns:a16="http://schemas.microsoft.com/office/drawing/2014/main" id="{3C2C9DBE-F5AC-4AC6-F382-BBA1567181AE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  <p:grpSp>
            <p:nvGrpSpPr>
              <p:cNvPr id="1102" name="组合 1101">
                <a:extLst>
                  <a:ext uri="{FF2B5EF4-FFF2-40B4-BE49-F238E27FC236}">
                    <a16:creationId xmlns:a16="http://schemas.microsoft.com/office/drawing/2014/main" id="{FF365A21-5BE4-FFA3-26C8-5F880EFD94C4}"/>
                  </a:ext>
                </a:extLst>
              </p:cNvPr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103" name="椭圆 1102">
                  <a:extLst>
                    <a:ext uri="{FF2B5EF4-FFF2-40B4-BE49-F238E27FC236}">
                      <a16:creationId xmlns:a16="http://schemas.microsoft.com/office/drawing/2014/main" id="{F28D66EF-F81F-672B-D60F-2D0AA4506DF2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04" name="椭圆 1103">
                  <a:extLst>
                    <a:ext uri="{FF2B5EF4-FFF2-40B4-BE49-F238E27FC236}">
                      <a16:creationId xmlns:a16="http://schemas.microsoft.com/office/drawing/2014/main" id="{D6EA5103-6323-DCBB-D854-46ED8BC9CB59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05" name="椭圆 1104">
                  <a:extLst>
                    <a:ext uri="{FF2B5EF4-FFF2-40B4-BE49-F238E27FC236}">
                      <a16:creationId xmlns:a16="http://schemas.microsoft.com/office/drawing/2014/main" id="{09EF6210-A128-8BD7-3F1E-B68BAFC334A2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106" name="椭圆 1105">
                  <a:extLst>
                    <a:ext uri="{FF2B5EF4-FFF2-40B4-BE49-F238E27FC236}">
                      <a16:creationId xmlns:a16="http://schemas.microsoft.com/office/drawing/2014/main" id="{425072AE-1CB8-58B2-B40B-B9D800B342F0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48F8FA21-DBE3-5B93-1206-45D2A3E4BCD8}"/>
                </a:ext>
              </a:extLst>
            </p:cNvPr>
            <p:cNvGrpSpPr/>
            <p:nvPr/>
          </p:nvGrpSpPr>
          <p:grpSpPr>
            <a:xfrm>
              <a:off x="2568168" y="-1206499"/>
              <a:ext cx="598336" cy="436880"/>
              <a:chOff x="1892300" y="-1206500"/>
              <a:chExt cx="1320800" cy="964399"/>
            </a:xfrm>
            <a:grpFill/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DA020A90-9A97-D990-3E97-3FC368230043}"/>
                  </a:ext>
                </a:extLst>
              </p:cNvPr>
              <p:cNvGrpSpPr/>
              <p:nvPr/>
            </p:nvGrpSpPr>
            <p:grpSpPr>
              <a:xfrm>
                <a:off x="18923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93" name="椭圆 1092">
                  <a:extLst>
                    <a:ext uri="{FF2B5EF4-FFF2-40B4-BE49-F238E27FC236}">
                      <a16:creationId xmlns:a16="http://schemas.microsoft.com/office/drawing/2014/main" id="{1C2D18C1-4202-D217-0D3D-026BB40A4F75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94" name="椭圆 1093">
                  <a:extLst>
                    <a:ext uri="{FF2B5EF4-FFF2-40B4-BE49-F238E27FC236}">
                      <a16:creationId xmlns:a16="http://schemas.microsoft.com/office/drawing/2014/main" id="{108730BB-0B2C-FC09-3659-C5473C19F420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95" name="椭圆 1094">
                  <a:extLst>
                    <a:ext uri="{FF2B5EF4-FFF2-40B4-BE49-F238E27FC236}">
                      <a16:creationId xmlns:a16="http://schemas.microsoft.com/office/drawing/2014/main" id="{894309BE-9D29-F420-166C-1206C080EBE4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96" name="椭圆 1095">
                  <a:extLst>
                    <a:ext uri="{FF2B5EF4-FFF2-40B4-BE49-F238E27FC236}">
                      <a16:creationId xmlns:a16="http://schemas.microsoft.com/office/drawing/2014/main" id="{EB3A3D4A-F6F0-ADC5-B99A-B3BE4413D1A8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8AEB0F57-DB50-DF2B-9B76-5F5EA6A80297}"/>
                  </a:ext>
                </a:extLst>
              </p:cNvPr>
              <p:cNvGrpSpPr/>
              <p:nvPr/>
            </p:nvGrpSpPr>
            <p:grpSpPr>
              <a:xfrm>
                <a:off x="213614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89" name="椭圆 1088">
                  <a:extLst>
                    <a:ext uri="{FF2B5EF4-FFF2-40B4-BE49-F238E27FC236}">
                      <a16:creationId xmlns:a16="http://schemas.microsoft.com/office/drawing/2014/main" id="{2FF154F2-51B4-4B81-FD2F-D308666A5B3B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90" name="椭圆 1089">
                  <a:extLst>
                    <a:ext uri="{FF2B5EF4-FFF2-40B4-BE49-F238E27FC236}">
                      <a16:creationId xmlns:a16="http://schemas.microsoft.com/office/drawing/2014/main" id="{A51E89E6-3648-40C9-9E2A-854D67E33D3F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91" name="椭圆 1090">
                  <a:extLst>
                    <a:ext uri="{FF2B5EF4-FFF2-40B4-BE49-F238E27FC236}">
                      <a16:creationId xmlns:a16="http://schemas.microsoft.com/office/drawing/2014/main" id="{0262D807-93C1-F46B-D7B2-37B086786CDF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92" name="椭圆 1091">
                  <a:extLst>
                    <a:ext uri="{FF2B5EF4-FFF2-40B4-BE49-F238E27FC236}">
                      <a16:creationId xmlns:a16="http://schemas.microsoft.com/office/drawing/2014/main" id="{C4EBF754-0E2C-5E33-2B9D-31E6A24FF0C2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A21F6221-1108-D3A1-C8DA-E98FC267532F}"/>
                  </a:ext>
                </a:extLst>
              </p:cNvPr>
              <p:cNvGrpSpPr/>
              <p:nvPr/>
            </p:nvGrpSpPr>
            <p:grpSpPr>
              <a:xfrm>
                <a:off x="237998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85" name="椭圆 1084">
                  <a:extLst>
                    <a:ext uri="{FF2B5EF4-FFF2-40B4-BE49-F238E27FC236}">
                      <a16:creationId xmlns:a16="http://schemas.microsoft.com/office/drawing/2014/main" id="{1242919A-F663-55E3-3B9C-A6B140B6A50B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86" name="椭圆 1085">
                  <a:extLst>
                    <a:ext uri="{FF2B5EF4-FFF2-40B4-BE49-F238E27FC236}">
                      <a16:creationId xmlns:a16="http://schemas.microsoft.com/office/drawing/2014/main" id="{36C9BD6B-3099-9B7C-BE13-31E42E73C4DB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87" name="椭圆 1086">
                  <a:extLst>
                    <a:ext uri="{FF2B5EF4-FFF2-40B4-BE49-F238E27FC236}">
                      <a16:creationId xmlns:a16="http://schemas.microsoft.com/office/drawing/2014/main" id="{7AF379B5-3CE8-B283-D3CB-55C183C8AE57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88" name="椭圆 1087">
                  <a:extLst>
                    <a:ext uri="{FF2B5EF4-FFF2-40B4-BE49-F238E27FC236}">
                      <a16:creationId xmlns:a16="http://schemas.microsoft.com/office/drawing/2014/main" id="{5DE269AF-9925-B4DE-FD35-349E95EC3DE2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4B938144-52AB-0FD8-90C1-821DEC7E413C}"/>
                  </a:ext>
                </a:extLst>
              </p:cNvPr>
              <p:cNvGrpSpPr/>
              <p:nvPr/>
            </p:nvGrpSpPr>
            <p:grpSpPr>
              <a:xfrm>
                <a:off x="262382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81" name="椭圆 1080">
                  <a:extLst>
                    <a:ext uri="{FF2B5EF4-FFF2-40B4-BE49-F238E27FC236}">
                      <a16:creationId xmlns:a16="http://schemas.microsoft.com/office/drawing/2014/main" id="{5B616AE2-572D-F8EC-322E-1272FE0E2761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82" name="椭圆 1081">
                  <a:extLst>
                    <a:ext uri="{FF2B5EF4-FFF2-40B4-BE49-F238E27FC236}">
                      <a16:creationId xmlns:a16="http://schemas.microsoft.com/office/drawing/2014/main" id="{2B4BC6BA-D59B-87B1-1460-A4773995A947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83" name="椭圆 1082">
                  <a:extLst>
                    <a:ext uri="{FF2B5EF4-FFF2-40B4-BE49-F238E27FC236}">
                      <a16:creationId xmlns:a16="http://schemas.microsoft.com/office/drawing/2014/main" id="{F593D285-DCDF-A7AD-FB82-EF52CE44E704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84" name="椭圆 1083">
                  <a:extLst>
                    <a:ext uri="{FF2B5EF4-FFF2-40B4-BE49-F238E27FC236}">
                      <a16:creationId xmlns:a16="http://schemas.microsoft.com/office/drawing/2014/main" id="{44308D22-4C24-7653-A170-836EB8C5855A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8F04AB13-DD65-DF39-E545-5B9F9C7A14D3}"/>
                  </a:ext>
                </a:extLst>
              </p:cNvPr>
              <p:cNvGrpSpPr/>
              <p:nvPr/>
            </p:nvGrpSpPr>
            <p:grpSpPr>
              <a:xfrm>
                <a:off x="286766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67" name="椭圆 1066">
                  <a:extLst>
                    <a:ext uri="{FF2B5EF4-FFF2-40B4-BE49-F238E27FC236}">
                      <a16:creationId xmlns:a16="http://schemas.microsoft.com/office/drawing/2014/main" id="{46F552A9-4BCE-8050-62AF-890976BE69C3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68" name="椭圆 1067">
                  <a:extLst>
                    <a:ext uri="{FF2B5EF4-FFF2-40B4-BE49-F238E27FC236}">
                      <a16:creationId xmlns:a16="http://schemas.microsoft.com/office/drawing/2014/main" id="{0CD3A39B-C614-BA7B-EB78-6D91994EEA32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69" name="椭圆 1068">
                  <a:extLst>
                    <a:ext uri="{FF2B5EF4-FFF2-40B4-BE49-F238E27FC236}">
                      <a16:creationId xmlns:a16="http://schemas.microsoft.com/office/drawing/2014/main" id="{C97989CD-D761-0B8D-6C36-E88486D0F372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70" name="椭圆 1069">
                  <a:extLst>
                    <a:ext uri="{FF2B5EF4-FFF2-40B4-BE49-F238E27FC236}">
                      <a16:creationId xmlns:a16="http://schemas.microsoft.com/office/drawing/2014/main" id="{E7151137-4110-1D9F-1800-F8BFC265037E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  <p:grpSp>
            <p:nvGrpSpPr>
              <p:cNvPr id="1026" name="组合 1025">
                <a:extLst>
                  <a:ext uri="{FF2B5EF4-FFF2-40B4-BE49-F238E27FC236}">
                    <a16:creationId xmlns:a16="http://schemas.microsoft.com/office/drawing/2014/main" id="{99478A33-05C4-818E-C2CA-0819C2F4D1EC}"/>
                  </a:ext>
                </a:extLst>
              </p:cNvPr>
              <p:cNvGrpSpPr/>
              <p:nvPr/>
            </p:nvGrpSpPr>
            <p:grpSpPr>
              <a:xfrm>
                <a:off x="3111500" y="-1206500"/>
                <a:ext cx="101600" cy="964399"/>
                <a:chOff x="1892300" y="-1206500"/>
                <a:chExt cx="101600" cy="964399"/>
              </a:xfrm>
              <a:grpFill/>
            </p:grpSpPr>
            <p:sp>
              <p:nvSpPr>
                <p:cNvPr id="1028" name="椭圆 1027">
                  <a:extLst>
                    <a:ext uri="{FF2B5EF4-FFF2-40B4-BE49-F238E27FC236}">
                      <a16:creationId xmlns:a16="http://schemas.microsoft.com/office/drawing/2014/main" id="{DA668F34-456B-5AF2-D3CA-49A92F3B5B7B}"/>
                    </a:ext>
                  </a:extLst>
                </p:cNvPr>
                <p:cNvSpPr/>
                <p:nvPr/>
              </p:nvSpPr>
              <p:spPr>
                <a:xfrm>
                  <a:off x="1892300" y="-12065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32" name="椭圆 1031">
                  <a:extLst>
                    <a:ext uri="{FF2B5EF4-FFF2-40B4-BE49-F238E27FC236}">
                      <a16:creationId xmlns:a16="http://schemas.microsoft.com/office/drawing/2014/main" id="{2381A5FF-366B-EBB2-4CB3-42D9CAEAA581}"/>
                    </a:ext>
                  </a:extLst>
                </p:cNvPr>
                <p:cNvSpPr/>
                <p:nvPr/>
              </p:nvSpPr>
              <p:spPr>
                <a:xfrm>
                  <a:off x="1892300" y="-9189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65" name="椭圆 1064">
                  <a:extLst>
                    <a:ext uri="{FF2B5EF4-FFF2-40B4-BE49-F238E27FC236}">
                      <a16:creationId xmlns:a16="http://schemas.microsoft.com/office/drawing/2014/main" id="{A16579BC-DCA8-B2C2-A71A-AE47B71E6580}"/>
                    </a:ext>
                  </a:extLst>
                </p:cNvPr>
                <p:cNvSpPr/>
                <p:nvPr/>
              </p:nvSpPr>
              <p:spPr>
                <a:xfrm>
                  <a:off x="1892300" y="-631300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  <p:sp>
              <p:nvSpPr>
                <p:cNvPr id="1066" name="椭圆 1065">
                  <a:extLst>
                    <a:ext uri="{FF2B5EF4-FFF2-40B4-BE49-F238E27FC236}">
                      <a16:creationId xmlns:a16="http://schemas.microsoft.com/office/drawing/2014/main" id="{BEFB0F55-215F-C219-1800-AFF99C4E849F}"/>
                    </a:ext>
                  </a:extLst>
                </p:cNvPr>
                <p:cNvSpPr/>
                <p:nvPr/>
              </p:nvSpPr>
              <p:spPr>
                <a:xfrm>
                  <a:off x="1892300" y="-343701"/>
                  <a:ext cx="101600" cy="1016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+mn-ea"/>
                  </a:endParaRPr>
                </a:p>
              </p:txBody>
            </p:sp>
          </p:grpSp>
        </p:grpSp>
      </p:grpSp>
      <p:sp>
        <p:nvSpPr>
          <p:cNvPr id="1127" name="矩形 1126">
            <a:extLst>
              <a:ext uri="{FF2B5EF4-FFF2-40B4-BE49-F238E27FC236}">
                <a16:creationId xmlns:a16="http://schemas.microsoft.com/office/drawing/2014/main" id="{831ABFB7-FA49-896A-130A-29A5ABFA5018}"/>
              </a:ext>
            </a:extLst>
          </p:cNvPr>
          <p:cNvSpPr/>
          <p:nvPr/>
        </p:nvSpPr>
        <p:spPr>
          <a:xfrm>
            <a:off x="0" y="6333725"/>
            <a:ext cx="12192000" cy="5242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+mn-ea"/>
              <a:cs typeface="Arial" panose="020B0604020202020204" pitchFamily="34" charset="0"/>
            </a:endParaRPr>
          </a:p>
        </p:txBody>
      </p:sp>
      <p:sp>
        <p:nvSpPr>
          <p:cNvPr id="1131" name="任意多边形: 形状 1130">
            <a:extLst>
              <a:ext uri="{FF2B5EF4-FFF2-40B4-BE49-F238E27FC236}">
                <a16:creationId xmlns:a16="http://schemas.microsoft.com/office/drawing/2014/main" id="{DE0FEB56-F5E9-95BA-4F44-C6CD044584CC}"/>
              </a:ext>
            </a:extLst>
          </p:cNvPr>
          <p:cNvSpPr/>
          <p:nvPr/>
        </p:nvSpPr>
        <p:spPr>
          <a:xfrm>
            <a:off x="-15433" y="1307940"/>
            <a:ext cx="12222866" cy="0"/>
          </a:xfrm>
          <a:custGeom>
            <a:avLst/>
            <a:gdLst>
              <a:gd name="connsiteX0" fmla="*/ 0 w 12222866"/>
              <a:gd name="connsiteY0" fmla="*/ 0 h 0"/>
              <a:gd name="connsiteX1" fmla="*/ 12222866 w 1222286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222866">
                <a:moveTo>
                  <a:pt x="0" y="0"/>
                </a:moveTo>
                <a:lnTo>
                  <a:pt x="12222866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1132" name="任意多边形: 形状 1131">
            <a:extLst>
              <a:ext uri="{FF2B5EF4-FFF2-40B4-BE49-F238E27FC236}">
                <a16:creationId xmlns:a16="http://schemas.microsoft.com/office/drawing/2014/main" id="{90E01CBB-4F7E-92BD-34D2-CD0734742CD9}"/>
              </a:ext>
            </a:extLst>
          </p:cNvPr>
          <p:cNvSpPr/>
          <p:nvPr/>
        </p:nvSpPr>
        <p:spPr>
          <a:xfrm>
            <a:off x="-15433" y="5000262"/>
            <a:ext cx="12222866" cy="0"/>
          </a:xfrm>
          <a:custGeom>
            <a:avLst/>
            <a:gdLst>
              <a:gd name="connsiteX0" fmla="*/ 0 w 12222866"/>
              <a:gd name="connsiteY0" fmla="*/ 0 h 0"/>
              <a:gd name="connsiteX1" fmla="*/ 12222866 w 1222286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222866">
                <a:moveTo>
                  <a:pt x="0" y="0"/>
                </a:moveTo>
                <a:lnTo>
                  <a:pt x="12222866" y="0"/>
                </a:lnTo>
              </a:path>
            </a:pathLst>
          </a:custGeom>
          <a:noFill/>
          <a:ln cap="rnd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4EB5B01-F6FC-2BDA-8C43-367C9A0DA026}"/>
              </a:ext>
            </a:extLst>
          </p:cNvPr>
          <p:cNvGrpSpPr/>
          <p:nvPr/>
        </p:nvGrpSpPr>
        <p:grpSpPr>
          <a:xfrm flipV="1">
            <a:off x="102201" y="136525"/>
            <a:ext cx="1471998" cy="850963"/>
            <a:chOff x="1261" y="1606"/>
            <a:chExt cx="2103" cy="1215"/>
          </a:xfrm>
          <a:solidFill>
            <a:schemeClr val="accent2">
              <a:lumMod val="20000"/>
              <a:lumOff val="80000"/>
              <a:alpha val="40000"/>
            </a:schemeClr>
          </a:solidFill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093FD64-435F-C614-019A-041228979BA0}"/>
                </a:ext>
              </a:extLst>
            </p:cNvPr>
            <p:cNvSpPr/>
            <p:nvPr userDrawn="1"/>
          </p:nvSpPr>
          <p:spPr>
            <a:xfrm flipH="1" flipV="1">
              <a:off x="1699" y="2470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B7BEB66-6411-1461-C9EE-98E27358BDC4}"/>
                </a:ext>
              </a:extLst>
            </p:cNvPr>
            <p:cNvSpPr/>
            <p:nvPr userDrawn="1"/>
          </p:nvSpPr>
          <p:spPr>
            <a:xfrm flipH="1" flipV="1">
              <a:off x="1261" y="2470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62B39D5-1693-4BCD-D9C7-E8902F69292B}"/>
                </a:ext>
              </a:extLst>
            </p:cNvPr>
            <p:cNvSpPr/>
            <p:nvPr userDrawn="1"/>
          </p:nvSpPr>
          <p:spPr>
            <a:xfrm flipH="1" flipV="1">
              <a:off x="1699" y="2042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844FC2A-2485-017A-3FCD-B1903E671086}"/>
                </a:ext>
              </a:extLst>
            </p:cNvPr>
            <p:cNvSpPr/>
            <p:nvPr userDrawn="1"/>
          </p:nvSpPr>
          <p:spPr>
            <a:xfrm flipH="1" flipV="1">
              <a:off x="1261" y="2042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CEDA99C-7C50-5A3C-9D61-55CFCC54BC57}"/>
                </a:ext>
              </a:extLst>
            </p:cNvPr>
            <p:cNvSpPr/>
            <p:nvPr userDrawn="1"/>
          </p:nvSpPr>
          <p:spPr>
            <a:xfrm flipH="1" flipV="1">
              <a:off x="3015" y="2470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5107721-F052-6303-E906-CF1662EA6373}"/>
                </a:ext>
              </a:extLst>
            </p:cNvPr>
            <p:cNvSpPr/>
            <p:nvPr userDrawn="1"/>
          </p:nvSpPr>
          <p:spPr>
            <a:xfrm flipH="1" flipV="1">
              <a:off x="2578" y="2470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1E3F937-9926-C2EA-AA6E-96856A408791}"/>
                </a:ext>
              </a:extLst>
            </p:cNvPr>
            <p:cNvSpPr/>
            <p:nvPr userDrawn="1"/>
          </p:nvSpPr>
          <p:spPr>
            <a:xfrm flipH="1" flipV="1">
              <a:off x="2140" y="2470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31E0497-AD67-3C18-4A75-F36F07F03B19}"/>
                </a:ext>
              </a:extLst>
            </p:cNvPr>
            <p:cNvSpPr/>
            <p:nvPr userDrawn="1"/>
          </p:nvSpPr>
          <p:spPr>
            <a:xfrm flipH="1" flipV="1">
              <a:off x="2578" y="2042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9688274-22F2-F94E-5500-DF75196F2D1F}"/>
                </a:ext>
              </a:extLst>
            </p:cNvPr>
            <p:cNvSpPr/>
            <p:nvPr userDrawn="1"/>
          </p:nvSpPr>
          <p:spPr>
            <a:xfrm flipH="1" flipV="1">
              <a:off x="2140" y="2042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4930958-6913-A5CD-4ED6-F2F1108E98F4}"/>
                </a:ext>
              </a:extLst>
            </p:cNvPr>
            <p:cNvSpPr/>
            <p:nvPr userDrawn="1"/>
          </p:nvSpPr>
          <p:spPr>
            <a:xfrm flipH="1" flipV="1">
              <a:off x="1261" y="1606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972B3A4-33B8-121B-E2BF-99D6797F9366}"/>
                </a:ext>
              </a:extLst>
            </p:cNvPr>
            <p:cNvSpPr/>
            <p:nvPr userDrawn="1"/>
          </p:nvSpPr>
          <p:spPr>
            <a:xfrm flipH="1" flipV="1">
              <a:off x="2140" y="1606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E5BB4C1-7909-BAE2-1555-65CA32930D9E}"/>
                </a:ext>
              </a:extLst>
            </p:cNvPr>
            <p:cNvSpPr/>
            <p:nvPr userDrawn="1"/>
          </p:nvSpPr>
          <p:spPr>
            <a:xfrm flipH="1" flipV="1">
              <a:off x="1702" y="1606"/>
              <a:ext cx="349" cy="3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+mn-ea"/>
              </a:endParaRPr>
            </a:p>
          </p:txBody>
        </p:sp>
      </p:grp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3DDC8B15-CD5C-C577-D428-E792E61A4C93}"/>
              </a:ext>
            </a:extLst>
          </p:cNvPr>
          <p:cNvSpPr txBox="1"/>
          <p:nvPr/>
        </p:nvSpPr>
        <p:spPr>
          <a:xfrm>
            <a:off x="3140438" y="2489943"/>
            <a:ext cx="59885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b="1" dirty="0">
                <a:latin typeface="Arial" panose="020B0604020202020204" pitchFamily="34" charset="0"/>
                <a:ea typeface="微软雅黑" panose="020B0503020204020204" pitchFamily="34" charset="-122"/>
              </a:rPr>
              <a:t>恳请老师批评指正</a:t>
            </a:r>
            <a:r>
              <a:rPr lang="zh-CN" altLang="en-US" sz="5400" b="1" dirty="0">
                <a:latin typeface="Arial" panose="020B0604020202020204" pitchFamily="34" charset="0"/>
                <a:ea typeface="微软雅黑" panose="020B0503020204020204" pitchFamily="34" charset="-122"/>
                <a:cs typeface="OPPOSans M" panose="00020600040101010101" charset="-122"/>
              </a:rPr>
              <a:t>！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925060E-699D-5573-DC57-7AEB5B88FE26}"/>
              </a:ext>
            </a:extLst>
          </p:cNvPr>
          <p:cNvSpPr txBox="1"/>
          <p:nvPr/>
        </p:nvSpPr>
        <p:spPr>
          <a:xfrm>
            <a:off x="5200014" y="5918945"/>
            <a:ext cx="176110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2026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年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月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11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91960975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GX高校蓝">
      <a:dk1>
        <a:sysClr val="windowText" lastClr="000000"/>
      </a:dk1>
      <a:lt1>
        <a:sysClr val="window" lastClr="FFFFFF"/>
      </a:lt1>
      <a:dk2>
        <a:srgbClr val="2E5598"/>
      </a:dk2>
      <a:lt2>
        <a:srgbClr val="E7E6E6"/>
      </a:lt2>
      <a:accent1>
        <a:srgbClr val="2E5598"/>
      </a:accent1>
      <a:accent2>
        <a:srgbClr val="4473C5"/>
      </a:accent2>
      <a:accent3>
        <a:srgbClr val="99B0E2"/>
      </a:accent3>
      <a:accent4>
        <a:srgbClr val="75BD42"/>
      </a:accent4>
      <a:accent5>
        <a:srgbClr val="30C0B4"/>
      </a:accent5>
      <a:accent6>
        <a:srgbClr val="E54C5E"/>
      </a:accent6>
      <a:hlink>
        <a:srgbClr val="8496B0"/>
      </a:hlink>
      <a:folHlink>
        <a:srgbClr val="7F7F7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OPPOSans M"/>
        <a:font script="Hebr" typeface="OPPOSans M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POSans M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OPPOSans M"/>
        <a:font script="Hebr" typeface="OPPOSans M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POSans M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5971</TotalTime>
  <Words>5069</Words>
  <Application>Microsoft Office PowerPoint</Application>
  <PresentationFormat>宽屏</PresentationFormat>
  <Paragraphs>641</Paragraphs>
  <Slides>20</Slides>
  <Notes>20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微软雅黑</vt:lpstr>
      <vt:lpstr>Wingdings</vt:lpstr>
      <vt:lpstr>Georgia</vt:lpstr>
      <vt:lpstr>微软雅黑</vt:lpstr>
      <vt:lpstr>Arial</vt:lpstr>
      <vt:lpstr>OPPOSans M</vt:lpstr>
      <vt:lpstr>ui-sans-serif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18379781093</dc:creator>
  <cp:lastModifiedBy>TOMTOM2023</cp:lastModifiedBy>
  <cp:revision>188</cp:revision>
  <dcterms:created xsi:type="dcterms:W3CDTF">2023-08-09T12:44:00Z</dcterms:created>
  <dcterms:modified xsi:type="dcterms:W3CDTF">2026-10-01T15:08:49Z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2052-12.1.0.22215</vt:lpwstr>
  </property>
</Properties>
</file>